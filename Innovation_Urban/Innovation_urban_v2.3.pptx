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71" r:id="rId4"/>
    <p:sldId id="269" r:id="rId5"/>
    <p:sldId id="264" r:id="rId6"/>
    <p:sldId id="258" r:id="rId7"/>
    <p:sldId id="272" r:id="rId8"/>
    <p:sldId id="267" r:id="rId9"/>
    <p:sldId id="268"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245A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showGuides="1">
      <p:cViewPr>
        <p:scale>
          <a:sx n="66" d="100"/>
          <a:sy n="66" d="100"/>
        </p:scale>
        <p:origin x="1050" y="42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CB7E08-442D-7537-3BB8-05A070F422C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2833787-21F9-A7F5-F31C-4B3AC3CBB1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2E18EFC-89D2-ED18-58B4-E6E331E7BBBF}"/>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7418B04B-7286-9177-9161-A37F596848D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4A3DD75-EF64-37C0-D647-EAEE8E641AA3}"/>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1060775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AEEC35-F089-AA04-17FB-0E6189FFB92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B6FB732-1946-351E-5081-5322A0417A7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AD4744D-DE1B-21C6-4675-2F7208A7546A}"/>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B4886D13-FEAA-CBF8-C161-8E3F0474AED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0D9B545-62CB-04CC-6001-2FEC56AEB77D}"/>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4291082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0089C0-9986-5EFD-AF08-8ABB64B39E5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A6F522D-C131-5088-FC81-0CE680D47B8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A219858-DC77-F4B3-1482-64176643E0D1}"/>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51F12131-45A5-F112-EACB-0F1C68ED513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FDC198D-9589-887D-34C6-1AF50E47B80A}"/>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3413355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7A0D93-FCE3-C6F3-139C-C1E0BC43C77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C764C12-F622-53E7-1341-AEBDBE190AC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5C7DF23-3164-F5A8-87AE-12650ABB176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7B8D20F-85E6-D4EB-57BB-65A7D7427CE5}"/>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6" name="页脚占位符 5">
            <a:extLst>
              <a:ext uri="{FF2B5EF4-FFF2-40B4-BE49-F238E27FC236}">
                <a16:creationId xmlns:a16="http://schemas.microsoft.com/office/drawing/2014/main" id="{3EABD7D6-23A7-BB35-2F3B-CE1819F604A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3CFBEBC-AF66-FE08-1EE7-32149A1CEC3F}"/>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880178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E1EE4E-5EC0-78BB-22EC-5796D50C03A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E28205D-DA2D-DF3F-5870-54378DF95D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8C010DD2-327D-5069-236F-99E4235954C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D535DE7-809F-C0BD-FF1B-016497AECB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705FC93-71F2-00DF-008E-F421364B2BA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4C9EAEE-1C3B-BA83-DD99-BE364B6672E6}"/>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8" name="页脚占位符 7">
            <a:extLst>
              <a:ext uri="{FF2B5EF4-FFF2-40B4-BE49-F238E27FC236}">
                <a16:creationId xmlns:a16="http://schemas.microsoft.com/office/drawing/2014/main" id="{319F4AF3-973B-4362-160E-689440E3AD96}"/>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0797EEF-9F51-94E4-8D2D-06B49F07E7C2}"/>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2420067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33FFF9-436B-1FBF-98FB-5CF5C71FB5E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6A92861-6E28-5860-D353-26C6DC742CAC}"/>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4" name="页脚占位符 3">
            <a:extLst>
              <a:ext uri="{FF2B5EF4-FFF2-40B4-BE49-F238E27FC236}">
                <a16:creationId xmlns:a16="http://schemas.microsoft.com/office/drawing/2014/main" id="{A2266A49-8C52-A474-AD2B-D53F984C053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30D2BAC-FBCF-F218-CC26-667BF048A8C6}"/>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3272777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4D5C4E3-C4DA-8CD3-A827-FE482DA8383A}"/>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3" name="页脚占位符 2">
            <a:extLst>
              <a:ext uri="{FF2B5EF4-FFF2-40B4-BE49-F238E27FC236}">
                <a16:creationId xmlns:a16="http://schemas.microsoft.com/office/drawing/2014/main" id="{7E5C7A1D-DD41-F951-E64E-5FEA6885C73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444D3C0-7EDF-7A3C-B133-8B3DACCCBB95}"/>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2212828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88BA60-021F-2AAB-4189-47D708D2309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17A12A7-108F-EBEE-E5C7-85DD366B83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E54675E-954D-07B6-9E8F-D94AE7157E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0C2704B-0B1C-E425-AC48-5C0CE459ECB7}"/>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6" name="页脚占位符 5">
            <a:extLst>
              <a:ext uri="{FF2B5EF4-FFF2-40B4-BE49-F238E27FC236}">
                <a16:creationId xmlns:a16="http://schemas.microsoft.com/office/drawing/2014/main" id="{0AAD5301-04CC-F9C5-DF54-70BFD5FE784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7FC37CD-D408-A413-967C-8003D3772B93}"/>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1878304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3A16E5-9060-04A3-6151-A4DB8ED17E8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DD524BF-3D86-71CF-E8E4-2D0667F2707A}"/>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3424768-6262-42A1-2ACE-40B3981E1A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3971BF7-5436-812C-0197-B784DFD8049B}"/>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6" name="页脚占位符 5">
            <a:extLst>
              <a:ext uri="{FF2B5EF4-FFF2-40B4-BE49-F238E27FC236}">
                <a16:creationId xmlns:a16="http://schemas.microsoft.com/office/drawing/2014/main" id="{6AB8BFBF-258D-ACBE-D279-40FE85F2501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2DAAD80-946E-F09C-93D9-6ED45738B848}"/>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7088238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B2910D-B9B1-82CC-55A6-6514EEE2674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8ED1190-5FD9-11A2-EA9A-B80B1E1D4C1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CE30AB3-9035-45D6-E1BA-0AA79C30AF89}"/>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D560D189-67E1-96B1-43FC-A6E1623CC9C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32D5793-839C-CF07-FC68-AA8CA7412336}"/>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1757121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D7D2D02-D59D-A506-833A-BFFE2C395818}"/>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0B083D9-530C-A428-7DA4-8EAD708BF814}"/>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B7A19C5-09F7-C14C-6A36-85AE2760D9BA}"/>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AB037A4F-FD94-065C-FA46-0589538CEFE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5507972-9ECB-AAF9-1568-8D02176DA3A6}"/>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800197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7607E11-537A-A5AC-7849-1A6CA3A92A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54232E7-0F2A-467E-C680-76F6FDA904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AD83F14-E303-F266-B76B-7EA87431D0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364F5D62-24DC-D3C7-253E-FAFC2F684B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610959D6-57CF-5D7B-56A1-87EFBBB87A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30827218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u_hero.jpeg"/><Relationship Id="rId3" Type="http://schemas.openxmlformats.org/officeDocument/2006/relationships/image" Target="../media/iu_cover.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u_bg_infra.jpeg"/><Relationship Id="rId3" Type="http://schemas.openxmlformats.org/officeDocument/2006/relationships/image" Target="../media/iu_bg_tech.jpeg"/><Relationship Id="rId4" Type="http://schemas.openxmlformats.org/officeDocument/2006/relationships/image" Target="../media/iu_bg_climate.jpeg"/><Relationship Id="rId5" Type="http://schemas.openxmlformats.org/officeDocument/2006/relationships/image" Target="../media/iu_bg_crisis.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u_intl_w.png"/><Relationship Id="rId3" Type="http://schemas.openxmlformats.org/officeDocument/2006/relationships/image" Target="../media/iu_inter_w.png"/><Relationship Id="rId4" Type="http://schemas.openxmlformats.org/officeDocument/2006/relationships/image" Target="../media/iu_gen_w.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eic_image1.png"/><Relationship Id="rId3" Type="http://schemas.openxmlformats.org/officeDocument/2006/relationships/image" Target="../media/eic_b4ab8d3901.jpeg"/><Relationship Id="rId4" Type="http://schemas.openxmlformats.org/officeDocument/2006/relationships/image" Target="../media/me_b4479571d5.jpeg"/><Relationship Id="rId5" Type="http://schemas.openxmlformats.org/officeDocument/2006/relationships/image" Target="../media/me_image2.jpeg"/><Relationship Id="rId6" Type="http://schemas.openxmlformats.org/officeDocument/2006/relationships/image" Target="../media/me_10c0b0ea3a.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mb_1_image1.png"/><Relationship Id="rId3" Type="http://schemas.openxmlformats.org/officeDocument/2006/relationships/image" Target="../media/mb_1_394b9e1c87.jpeg"/><Relationship Id="rId4" Type="http://schemas.openxmlformats.org/officeDocument/2006/relationships/image" Target="../media/mb_1_506657d6e9.jpeg"/><Relationship Id="rId5" Type="http://schemas.openxmlformats.org/officeDocument/2006/relationships/image" Target="../media/mb_1_eeda5aff35.jpeg"/><Relationship Id="rId6" Type="http://schemas.openxmlformats.org/officeDocument/2006/relationships/image" Target="../media/mb_1_554c17e3a7.jpeg"/><Relationship Id="rId7" Type="http://schemas.openxmlformats.org/officeDocument/2006/relationships/image" Target="../media/mb_1_576b5dcc5c.jpeg"/><Relationship Id="rId8" Type="http://schemas.openxmlformats.org/officeDocument/2006/relationships/image" Target="../media/mb_1_4088245ecf.jpeg"/><Relationship Id="rId9" Type="http://schemas.openxmlformats.org/officeDocument/2006/relationships/image" Target="../media/mb_1_image8.jpeg"/><Relationship Id="rId10" Type="http://schemas.openxmlformats.org/officeDocument/2006/relationships/image" Target="../media/mb_1_d44aea9f6b.jpeg"/><Relationship Id="rId11" Type="http://schemas.openxmlformats.org/officeDocument/2006/relationships/image" Target="../media/mb_1_fb55ccae96.jpeg"/><Relationship Id="rId12" Type="http://schemas.openxmlformats.org/officeDocument/2006/relationships/image" Target="../media/mb_2_0bbef288de.jpeg"/><Relationship Id="rId13" Type="http://schemas.openxmlformats.org/officeDocument/2006/relationships/image" Target="../media/mb_2_image12.jpeg"/><Relationship Id="rId14" Type="http://schemas.openxmlformats.org/officeDocument/2006/relationships/image" Target="../media/mb_2_0fff2ee817.jpeg"/><Relationship Id="rId15" Type="http://schemas.openxmlformats.org/officeDocument/2006/relationships/image" Target="../media/mb_2_8572bb9ce7.jpeg"/><Relationship Id="rId16" Type="http://schemas.openxmlformats.org/officeDocument/2006/relationships/image" Target="../media/mb_2_daa90111ee.jpeg"/><Relationship Id="rId17" Type="http://schemas.openxmlformats.org/officeDocument/2006/relationships/image" Target="../media/mb_2_2d1823e67b.jpeg"/><Relationship Id="rId18" Type="http://schemas.openxmlformats.org/officeDocument/2006/relationships/image" Target="../media/mb_2_79fd6e2d0c.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net_4f96ad8ee0.jpeg"/><Relationship Id="rId3" Type="http://schemas.openxmlformats.org/officeDocument/2006/relationships/image" Target="../media/net_image4.jpeg"/><Relationship Id="rId4" Type="http://schemas.openxmlformats.org/officeDocument/2006/relationships/image" Target="../media/net_image5.jpeg"/><Relationship Id="rId5" Type="http://schemas.openxmlformats.org/officeDocument/2006/relationships/image" Target="../media/net_image8.png"/><Relationship Id="rId6" Type="http://schemas.openxmlformats.org/officeDocument/2006/relationships/image" Target="../media/net_0f30b36190.jpeg"/><Relationship Id="rId7" Type="http://schemas.openxmlformats.org/officeDocument/2006/relationships/image" Target="../media/net_image6.png"/><Relationship Id="rId8" Type="http://schemas.openxmlformats.org/officeDocument/2006/relationships/image" Target="../media/net_80d2a19573.jpeg"/><Relationship Id="rId9" Type="http://schemas.openxmlformats.org/officeDocument/2006/relationships/image" Target="../media/net_image7.png"/><Relationship Id="rId10" Type="http://schemas.openxmlformats.org/officeDocument/2006/relationships/image" Target="../media/net_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3"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4" name="Nav Background"/>
          <p:cNvSpPr/>
          <p:nvPr/>
        </p:nvSpPr>
        <p:spPr>
          <a:xfrm>
            <a:off x="4693615" y="109728"/>
            <a:ext cx="11887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Background</a:t>
            </a:r>
          </a:p>
        </p:txBody>
      </p:sp>
      <p:sp>
        <p:nvSpPr>
          <p:cNvPr id="5" name="Nav Vision"/>
          <p:cNvSpPr/>
          <p:nvPr/>
        </p:nvSpPr>
        <p:spPr>
          <a:xfrm>
            <a:off x="588233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Vision</a:t>
            </a:r>
          </a:p>
        </p:txBody>
      </p:sp>
      <p:sp>
        <p:nvSpPr>
          <p:cNvPr id="6" name="Nav Mission"/>
          <p:cNvSpPr/>
          <p:nvPr/>
        </p:nvSpPr>
        <p:spPr>
          <a:xfrm>
            <a:off x="6659575" y="109728"/>
            <a:ext cx="86868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Mission</a:t>
            </a:r>
          </a:p>
        </p:txBody>
      </p:sp>
      <p:sp>
        <p:nvSpPr>
          <p:cNvPr id="7" name="Nav Topics"/>
          <p:cNvSpPr/>
          <p:nvPr/>
        </p:nvSpPr>
        <p:spPr>
          <a:xfrm>
            <a:off x="752825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Topics</a:t>
            </a:r>
          </a:p>
        </p:txBody>
      </p:sp>
      <p:sp>
        <p:nvSpPr>
          <p:cNvPr id="8" name="Nav Editorial Board"/>
          <p:cNvSpPr/>
          <p:nvPr/>
        </p:nvSpPr>
        <p:spPr>
          <a:xfrm>
            <a:off x="8305495" y="109728"/>
            <a:ext cx="14173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Editorial Board</a:t>
            </a:r>
          </a:p>
        </p:txBody>
      </p:sp>
      <p:sp>
        <p:nvSpPr>
          <p:cNvPr id="9" name="Nav Networks"/>
          <p:cNvSpPr/>
          <p:nvPr/>
        </p:nvSpPr>
        <p:spPr>
          <a:xfrm>
            <a:off x="9722815" y="109728"/>
            <a:ext cx="10058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Networks</a:t>
            </a:r>
          </a:p>
        </p:txBody>
      </p:sp>
      <p:sp>
        <p:nvSpPr>
          <p:cNvPr id="10" name="Nav Timeline"/>
          <p:cNvSpPr/>
          <p:nvPr/>
        </p:nvSpPr>
        <p:spPr>
          <a:xfrm>
            <a:off x="10728655" y="109728"/>
            <a:ext cx="91440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Timeline</a:t>
            </a:r>
          </a:p>
        </p:txBody>
      </p:sp>
      <p:pic>
        <p:nvPicPr>
          <p:cNvPr id="11" name="Hero skyline" descr="Night skyline of a city under a starry sky"/>
          <p:cNvPicPr>
            <a:picLocks noChangeAspect="1"/>
          </p:cNvPicPr>
          <p:nvPr/>
        </p:nvPicPr>
        <p:blipFill>
          <a:blip r:embed="rId2"/>
          <a:stretch>
            <a:fillRect/>
          </a:stretch>
        </p:blipFill>
        <p:spPr>
          <a:xfrm>
            <a:off x="0" y="822960"/>
            <a:ext cx="12191695" cy="6035040"/>
          </a:xfrm>
          <a:prstGeom prst="rect">
            <a:avLst/>
          </a:prstGeom>
        </p:spPr>
      </p:pic>
      <p:sp>
        <p:nvSpPr>
          <p:cNvPr id="12" name="Hero kicker"/>
          <p:cNvSpPr txBox="1"/>
          <p:nvPr/>
        </p:nvSpPr>
        <p:spPr>
          <a:xfrm>
            <a:off x="548640" y="1691640"/>
            <a:ext cx="7680960" cy="320040"/>
          </a:xfrm>
          <a:prstGeom prst="rect">
            <a:avLst/>
          </a:prstGeom>
          <a:noFill/>
          <a:ln>
            <a:noFill/>
          </a:ln>
        </p:spPr>
        <p:txBody>
          <a:bodyPr wrap="square" lIns="0" tIns="0" rIns="0" bIns="0" anchor="t" rtlCol="0">
            <a:normAutofit/>
          </a:bodyPr>
          <a:lstStyle/>
          <a:p>
            <a:pPr algn="l">
              <a:spcAft>
                <a:spcPts val="0"/>
              </a:spcAft>
              <a:buNone/>
            </a:pPr>
            <a:r>
              <a:rPr lang="en-US" altLang="zh-CN" sz="1200" b="1" i="0" spc="200" dirty="0">
                <a:solidFill>
                  <a:srgbClr val="F6B26B"/>
                </a:solidFill>
                <a:latin typeface="Arial"/>
                <a:ea typeface="Microsoft YaHei"/>
                <a:cs typeface="Arial"/>
              </a:rPr>
              <a:t>SEE THE CITY  ·  CHANGE THE CITY</a:t>
            </a:r>
          </a:p>
        </p:txBody>
      </p:sp>
      <p:sp>
        <p:nvSpPr>
          <p:cNvPr id="13" name="Cover title"/>
          <p:cNvSpPr txBox="1"/>
          <p:nvPr/>
        </p:nvSpPr>
        <p:spPr>
          <a:xfrm>
            <a:off x="548640" y="2057400"/>
            <a:ext cx="7863840" cy="914400"/>
          </a:xfrm>
          <a:prstGeom prst="rect">
            <a:avLst/>
          </a:prstGeom>
          <a:noFill/>
          <a:ln>
            <a:noFill/>
          </a:ln>
        </p:spPr>
        <p:txBody>
          <a:bodyPr wrap="square" lIns="0" tIns="0" rIns="0" bIns="0" anchor="t" rtlCol="0">
            <a:normAutofit/>
          </a:bodyPr>
          <a:lstStyle/>
          <a:p>
            <a:pPr algn="l">
              <a:spcAft>
                <a:spcPts val="0"/>
              </a:spcAft>
              <a:buNone/>
            </a:pPr>
            <a:r>
              <a:rPr lang="en-US" altLang="zh-CN" sz="5000" b="1" i="0" dirty="0">
                <a:solidFill>
                  <a:srgbClr val="FFFFFF"/>
                </a:solidFill>
                <a:latin typeface="Arial"/>
                <a:ea typeface="Microsoft YaHei"/>
                <a:cs typeface="Arial"/>
              </a:rPr>
              <a:t xml:space="preserve">The Innovation </a:t>
            </a:r>
            <a:r>
              <a:rPr lang="en-US" altLang="zh-CN" sz="5000" b="1" i="0" dirty="0">
                <a:solidFill>
                  <a:srgbClr val="F6B26B"/>
                </a:solidFill>
                <a:latin typeface="Arial"/>
                <a:ea typeface="Microsoft YaHei"/>
                <a:cs typeface="Arial"/>
              </a:rPr>
              <a:t>Urban</a:t>
            </a:r>
          </a:p>
        </p:txBody>
      </p:sp>
      <p:sp>
        <p:nvSpPr>
          <p:cNvPr id="14" name="Cover subtitle"/>
          <p:cNvSpPr txBox="1"/>
          <p:nvPr/>
        </p:nvSpPr>
        <p:spPr>
          <a:xfrm>
            <a:off x="548640" y="3017520"/>
            <a:ext cx="8046720" cy="914400"/>
          </a:xfrm>
          <a:prstGeom prst="rect">
            <a:avLst/>
          </a:prstGeom>
          <a:noFill/>
          <a:ln>
            <a:noFill/>
          </a:ln>
        </p:spPr>
        <p:txBody>
          <a:bodyPr wrap="square" lIns="0" tIns="0" rIns="0" bIns="0" anchor="t" rtlCol="0">
            <a:normAutofit/>
          </a:bodyPr>
          <a:lstStyle/>
          <a:p>
            <a:pPr algn="l">
              <a:lnSpc>
                <a:spcPct val="95000"/>
              </a:lnSpc>
              <a:spcAft>
                <a:spcPts val="0"/>
              </a:spcAft>
              <a:buNone/>
            </a:pPr>
            <a:r>
              <a:rPr lang="en-US" altLang="zh-CN" sz="2200" b="0" i="1" dirty="0">
                <a:solidFill>
                  <a:srgbClr val="E6E6F7"/>
                </a:solidFill>
                <a:latin typeface="Times New Roman"/>
                <a:ea typeface="Microsoft YaHei"/>
                <a:cs typeface="Times New Roman"/>
              </a:rPr>
              <a:t>Linking Infrastructure, Technology, Governance, and Climate Action for Sustainable Urban Transition</a:t>
            </a:r>
          </a:p>
        </p:txBody>
      </p:sp>
      <p:sp>
        <p:nvSpPr>
          <p:cNvPr id="15" name="Pillar Infrastructure"/>
          <p:cNvSpPr txBox="1"/>
          <p:nvPr/>
        </p:nvSpPr>
        <p:spPr>
          <a:xfrm>
            <a:off x="548640" y="4297680"/>
            <a:ext cx="1600200" cy="621792"/>
          </a:xfrm>
          <a:prstGeom prst="rect">
            <a:avLst/>
          </a:prstGeom>
          <a:noFill/>
          <a:ln>
            <a:noFill/>
          </a:ln>
        </p:spPr>
        <p:txBody>
          <a:bodyPr wrap="square" lIns="0" tIns="0" rIns="0" bIns="0" anchor="t" rtlCol="0">
            <a:normAutofit/>
          </a:bodyPr>
          <a:lstStyle/>
          <a:p>
            <a:pPr algn="l">
              <a:spcAft>
                <a:spcPts val="0"/>
              </a:spcAft>
              <a:buNone/>
            </a:pPr>
            <a:r>
              <a:rPr lang="en-US" altLang="zh-CN" sz="1800" b="1" i="0" dirty="0">
                <a:solidFill>
                  <a:srgbClr val="FFFFFF"/>
                </a:solidFill>
                <a:latin typeface="Arial"/>
                <a:ea typeface="Microsoft YaHei"/>
                <a:cs typeface="Arial"/>
              </a:rPr>
              <a:t>01</a:t>
            </a:r>
          </a:p>
          <a:p>
            <a:pPr algn="l">
              <a:spcAft>
                <a:spcPts val="0"/>
              </a:spcAft>
              <a:buNone/>
            </a:pPr>
            <a:r>
              <a:rPr lang="en-US" altLang="zh-CN" sz="1200" b="0" i="0" dirty="0">
                <a:solidFill>
                  <a:srgbClr val="D9DAF5"/>
                </a:solidFill>
                <a:latin typeface="Arial"/>
                <a:ea typeface="Microsoft YaHei"/>
                <a:cs typeface="Arial"/>
              </a:rPr>
              <a:t>Infrastructure</a:t>
            </a:r>
          </a:p>
        </p:txBody>
      </p:sp>
      <p:sp>
        <p:nvSpPr>
          <p:cNvPr id="16" name="Pillar divider 1"/>
          <p:cNvSpPr/>
          <p:nvPr/>
        </p:nvSpPr>
        <p:spPr>
          <a:xfrm>
            <a:off x="2313432" y="4315968"/>
            <a:ext cx="18288" cy="566928"/>
          </a:xfrm>
          <a:prstGeom prst="rect">
            <a:avLst/>
          </a:prstGeom>
          <a:solidFill>
            <a:srgbClr val="9FA2E0"/>
          </a:solidFill>
          <a:ln>
            <a:noFill/>
          </a:ln>
        </p:spPr>
        <p:txBody>
          <a:bodyPr wrap="square" lIns="0" tIns="0" rIns="0" bIns="0" anchor="t" rtlCol="0">
            <a:normAutofit/>
          </a:bodyPr>
          <a:lstStyle/>
          <a:p>
            <a:endParaRPr lang="en-US"/>
          </a:p>
        </p:txBody>
      </p:sp>
      <p:sp>
        <p:nvSpPr>
          <p:cNvPr id="17" name="Pillar Technology"/>
          <p:cNvSpPr txBox="1"/>
          <p:nvPr/>
        </p:nvSpPr>
        <p:spPr>
          <a:xfrm>
            <a:off x="2468880" y="4297680"/>
            <a:ext cx="1600200" cy="621792"/>
          </a:xfrm>
          <a:prstGeom prst="rect">
            <a:avLst/>
          </a:prstGeom>
          <a:noFill/>
          <a:ln>
            <a:noFill/>
          </a:ln>
        </p:spPr>
        <p:txBody>
          <a:bodyPr wrap="square" lIns="0" tIns="0" rIns="0" bIns="0" anchor="t" rtlCol="0">
            <a:normAutofit/>
          </a:bodyPr>
          <a:lstStyle/>
          <a:p>
            <a:pPr algn="l">
              <a:spcAft>
                <a:spcPts val="0"/>
              </a:spcAft>
              <a:buNone/>
            </a:pPr>
            <a:r>
              <a:rPr lang="en-US" altLang="zh-CN" sz="1800" b="1" i="0" dirty="0">
                <a:solidFill>
                  <a:srgbClr val="FFFFFF"/>
                </a:solidFill>
                <a:latin typeface="Arial"/>
                <a:ea typeface="Microsoft YaHei"/>
                <a:cs typeface="Arial"/>
              </a:rPr>
              <a:t>02</a:t>
            </a:r>
          </a:p>
          <a:p>
            <a:pPr algn="l">
              <a:spcAft>
                <a:spcPts val="0"/>
              </a:spcAft>
              <a:buNone/>
            </a:pPr>
            <a:r>
              <a:rPr lang="en-US" altLang="zh-CN" sz="1200" b="0" i="0" dirty="0">
                <a:solidFill>
                  <a:srgbClr val="D9DAF5"/>
                </a:solidFill>
                <a:latin typeface="Arial"/>
                <a:ea typeface="Microsoft YaHei"/>
                <a:cs typeface="Arial"/>
              </a:rPr>
              <a:t>Technology</a:t>
            </a:r>
          </a:p>
        </p:txBody>
      </p:sp>
      <p:sp>
        <p:nvSpPr>
          <p:cNvPr id="18" name="Pillar divider 2"/>
          <p:cNvSpPr/>
          <p:nvPr/>
        </p:nvSpPr>
        <p:spPr>
          <a:xfrm>
            <a:off x="4096512" y="4315968"/>
            <a:ext cx="18288" cy="566928"/>
          </a:xfrm>
          <a:prstGeom prst="rect">
            <a:avLst/>
          </a:prstGeom>
          <a:solidFill>
            <a:srgbClr val="9FA2E0"/>
          </a:solidFill>
          <a:ln>
            <a:noFill/>
          </a:ln>
        </p:spPr>
        <p:txBody>
          <a:bodyPr wrap="square" lIns="0" tIns="0" rIns="0" bIns="0" anchor="t" rtlCol="0">
            <a:normAutofit/>
          </a:bodyPr>
          <a:lstStyle/>
          <a:p>
            <a:endParaRPr lang="en-US"/>
          </a:p>
        </p:txBody>
      </p:sp>
      <p:sp>
        <p:nvSpPr>
          <p:cNvPr id="19" name="Pillar Governance"/>
          <p:cNvSpPr txBox="1"/>
          <p:nvPr/>
        </p:nvSpPr>
        <p:spPr>
          <a:xfrm>
            <a:off x="4251960" y="4297680"/>
            <a:ext cx="1600200" cy="621792"/>
          </a:xfrm>
          <a:prstGeom prst="rect">
            <a:avLst/>
          </a:prstGeom>
          <a:noFill/>
          <a:ln>
            <a:noFill/>
          </a:ln>
        </p:spPr>
        <p:txBody>
          <a:bodyPr wrap="square" lIns="0" tIns="0" rIns="0" bIns="0" anchor="t" rtlCol="0">
            <a:normAutofit/>
          </a:bodyPr>
          <a:lstStyle/>
          <a:p>
            <a:pPr algn="l">
              <a:spcAft>
                <a:spcPts val="0"/>
              </a:spcAft>
              <a:buNone/>
            </a:pPr>
            <a:r>
              <a:rPr lang="en-US" altLang="zh-CN" sz="1800" b="1" i="0" dirty="0">
                <a:solidFill>
                  <a:srgbClr val="FFFFFF"/>
                </a:solidFill>
                <a:latin typeface="Arial"/>
                <a:ea typeface="Microsoft YaHei"/>
                <a:cs typeface="Arial"/>
              </a:rPr>
              <a:t>03</a:t>
            </a:r>
          </a:p>
          <a:p>
            <a:pPr algn="l">
              <a:spcAft>
                <a:spcPts val="0"/>
              </a:spcAft>
              <a:buNone/>
            </a:pPr>
            <a:r>
              <a:rPr lang="en-US" altLang="zh-CN" sz="1200" b="0" i="0" dirty="0">
                <a:solidFill>
                  <a:srgbClr val="D9DAF5"/>
                </a:solidFill>
                <a:latin typeface="Arial"/>
                <a:ea typeface="Microsoft YaHei"/>
                <a:cs typeface="Arial"/>
              </a:rPr>
              <a:t>Governance</a:t>
            </a:r>
          </a:p>
        </p:txBody>
      </p:sp>
      <p:sp>
        <p:nvSpPr>
          <p:cNvPr id="20" name="Pillar divider 3"/>
          <p:cNvSpPr/>
          <p:nvPr/>
        </p:nvSpPr>
        <p:spPr>
          <a:xfrm>
            <a:off x="5879592" y="4315968"/>
            <a:ext cx="18288" cy="566928"/>
          </a:xfrm>
          <a:prstGeom prst="rect">
            <a:avLst/>
          </a:prstGeom>
          <a:solidFill>
            <a:srgbClr val="9FA2E0"/>
          </a:solidFill>
          <a:ln>
            <a:noFill/>
          </a:ln>
        </p:spPr>
        <p:txBody>
          <a:bodyPr wrap="square" lIns="0" tIns="0" rIns="0" bIns="0" anchor="t" rtlCol="0">
            <a:normAutofit/>
          </a:bodyPr>
          <a:lstStyle/>
          <a:p>
            <a:endParaRPr lang="en-US"/>
          </a:p>
        </p:txBody>
      </p:sp>
      <p:sp>
        <p:nvSpPr>
          <p:cNvPr id="21" name="Pillar Climate Action"/>
          <p:cNvSpPr txBox="1"/>
          <p:nvPr/>
        </p:nvSpPr>
        <p:spPr>
          <a:xfrm>
            <a:off x="6035040" y="4297680"/>
            <a:ext cx="1600200" cy="621792"/>
          </a:xfrm>
          <a:prstGeom prst="rect">
            <a:avLst/>
          </a:prstGeom>
          <a:noFill/>
          <a:ln>
            <a:noFill/>
          </a:ln>
        </p:spPr>
        <p:txBody>
          <a:bodyPr wrap="square" lIns="0" tIns="0" rIns="0" bIns="0" anchor="t" rtlCol="0">
            <a:normAutofit/>
          </a:bodyPr>
          <a:lstStyle/>
          <a:p>
            <a:pPr algn="l">
              <a:spcAft>
                <a:spcPts val="0"/>
              </a:spcAft>
              <a:buNone/>
            </a:pPr>
            <a:r>
              <a:rPr lang="en-US" altLang="zh-CN" sz="1800" b="1" i="0" dirty="0">
                <a:solidFill>
                  <a:srgbClr val="FFFFFF"/>
                </a:solidFill>
                <a:latin typeface="Arial"/>
                <a:ea typeface="Microsoft YaHei"/>
                <a:cs typeface="Arial"/>
              </a:rPr>
              <a:t>04</a:t>
            </a:r>
          </a:p>
          <a:p>
            <a:pPr algn="l">
              <a:spcAft>
                <a:spcPts val="0"/>
              </a:spcAft>
              <a:buNone/>
            </a:pPr>
            <a:r>
              <a:rPr lang="en-US" altLang="zh-CN" sz="1200" b="0" i="0" dirty="0">
                <a:solidFill>
                  <a:srgbClr val="D9DAF5"/>
                </a:solidFill>
                <a:latin typeface="Arial"/>
                <a:ea typeface="Microsoft YaHei"/>
                <a:cs typeface="Arial"/>
              </a:rPr>
              <a:t>Climate Action</a:t>
            </a:r>
          </a:p>
        </p:txBody>
      </p:sp>
      <p:sp>
        <p:nvSpPr>
          <p:cNvPr id="22" name="Open access chip"/>
          <p:cNvSpPr/>
          <p:nvPr/>
        </p:nvSpPr>
        <p:spPr>
          <a:xfrm>
            <a:off x="548640" y="5349240"/>
            <a:ext cx="1325880" cy="347472"/>
          </a:xfrm>
          <a:prstGeom prst="roundRect">
            <a:avLst>
              <a:gd name="adj" fmla="val 50000"/>
            </a:avLst>
          </a:prstGeom>
          <a:solidFill>
            <a:srgbClr val="4C8C2B"/>
          </a:solidFill>
          <a:ln>
            <a:noFill/>
          </a:ln>
        </p:spPr>
        <p:txBody>
          <a:bodyPr wrap="square" lIns="0" tIns="0" rIns="0" bIns="0" anchor="ctr" rtlCol="0">
            <a:normAutofit/>
          </a:bodyPr>
          <a:lstStyle/>
          <a:p>
            <a:pPr algn="ctr">
              <a:spcAft>
                <a:spcPts val="0"/>
              </a:spcAft>
              <a:buNone/>
            </a:pPr>
            <a:r>
              <a:rPr lang="en-US" altLang="zh-CN" sz="1200" b="1" i="0" dirty="0">
                <a:solidFill>
                  <a:srgbClr val="FFFFFF"/>
                </a:solidFill>
                <a:latin typeface="Arial"/>
                <a:ea typeface="Microsoft YaHei"/>
                <a:cs typeface="Arial"/>
              </a:rPr>
              <a:t>Open access</a:t>
            </a:r>
          </a:p>
        </p:txBody>
      </p:sp>
      <p:sp>
        <p:nvSpPr>
          <p:cNvPr id="23" name="Interdisciplinary note"/>
          <p:cNvSpPr txBox="1"/>
          <p:nvPr/>
        </p:nvSpPr>
        <p:spPr>
          <a:xfrm>
            <a:off x="2011680" y="5349240"/>
            <a:ext cx="5943600" cy="347472"/>
          </a:xfrm>
          <a:prstGeom prst="rect">
            <a:avLst/>
          </a:prstGeom>
          <a:noFill/>
          <a:ln>
            <a:noFill/>
          </a:ln>
        </p:spPr>
        <p:txBody>
          <a:bodyPr wrap="square" lIns="0" tIns="0" rIns="0" bIns="0" anchor="ctr" rtlCol="0">
            <a:normAutofit/>
          </a:bodyPr>
          <a:lstStyle/>
          <a:p>
            <a:pPr algn="l">
              <a:spcAft>
                <a:spcPts val="0"/>
              </a:spcAft>
              <a:buNone/>
            </a:pPr>
            <a:r>
              <a:rPr lang="en-US" altLang="zh-CN" sz="1200" b="0" i="1" dirty="0">
                <a:solidFill>
                  <a:srgbClr val="D9DAF5"/>
                </a:solidFill>
                <a:latin typeface="Arial"/>
                <a:ea typeface="Microsoft YaHei"/>
                <a:cs typeface="Arial"/>
              </a:rPr>
              <a:t>An interdisciplinary journal for scientific innovation in cities</a:t>
            </a:r>
          </a:p>
        </p:txBody>
      </p:sp>
      <p:sp>
        <p:nvSpPr>
          <p:cNvPr id="24" name="Cover frame"/>
          <p:cNvSpPr/>
          <p:nvPr/>
        </p:nvSpPr>
        <p:spPr>
          <a:xfrm>
            <a:off x="8842248" y="1636776"/>
            <a:ext cx="2852928" cy="3767328"/>
          </a:xfrm>
          <a:prstGeom prst="rect">
            <a:avLst/>
          </a:prstGeom>
          <a:solidFill>
            <a:srgbClr val="FFFFFF"/>
          </a:solidFill>
          <a:ln>
            <a:noFill/>
          </a:ln>
          <a:effectLst>
            <a:outerShdw blurRad="190500" dist="38100" dir="5400000" algn="t" rotWithShape="0">
              <a:srgbClr val="000000">
                <a:alpha val="22000"/>
              </a:srgbClr>
            </a:outerShdw>
          </a:effectLst>
        </p:spPr>
        <p:txBody>
          <a:bodyPr wrap="square" lIns="0" tIns="0" rIns="0" bIns="0" anchor="t" rtlCol="0">
            <a:normAutofit/>
          </a:bodyPr>
          <a:lstStyle/>
          <a:p>
            <a:endParaRPr lang="en-US"/>
          </a:p>
        </p:txBody>
      </p:sp>
      <p:pic>
        <p:nvPicPr>
          <p:cNvPr id="25" name="Cover art" descr="Illustrative journal cover"/>
          <p:cNvPicPr>
            <a:picLocks noChangeAspect="1"/>
          </p:cNvPicPr>
          <p:nvPr/>
        </p:nvPicPr>
        <p:blipFill>
          <a:blip r:embed="rId3"/>
          <a:stretch>
            <a:fillRect/>
          </a:stretch>
        </p:blipFill>
        <p:spPr>
          <a:xfrm>
            <a:off x="8897112" y="1691640"/>
            <a:ext cx="2743200" cy="3657600"/>
          </a:xfrm>
          <a:prstGeom prst="rect">
            <a:avLst/>
          </a:prstGeom>
        </p:spPr>
      </p:pic>
      <p:sp>
        <p:nvSpPr>
          <p:cNvPr id="26" name="Cover the"/>
          <p:cNvSpPr txBox="1"/>
          <p:nvPr/>
        </p:nvSpPr>
        <p:spPr>
          <a:xfrm>
            <a:off x="9061704" y="1801368"/>
            <a:ext cx="1828800" cy="228600"/>
          </a:xfrm>
          <a:prstGeom prst="rect">
            <a:avLst/>
          </a:prstGeom>
          <a:noFill/>
          <a:ln>
            <a:noFill/>
          </a:ln>
        </p:spPr>
        <p:txBody>
          <a:bodyPr wrap="square" lIns="0" tIns="0" rIns="0" bIns="0" anchor="t" rtlCol="0">
            <a:normAutofit/>
          </a:bodyPr>
          <a:lstStyle/>
          <a:p>
            <a:pPr algn="l">
              <a:spcAft>
                <a:spcPts val="0"/>
              </a:spcAft>
              <a:buNone/>
            </a:pPr>
            <a:r>
              <a:rPr lang="en-US" altLang="zh-CN" sz="1100" b="1" i="0" dirty="0">
                <a:solidFill>
                  <a:srgbClr val="FFFFFF"/>
                </a:solidFill>
                <a:latin typeface="Arial"/>
                <a:ea typeface="Microsoft YaHei"/>
                <a:cs typeface="Arial"/>
              </a:rPr>
              <a:t>The</a:t>
            </a:r>
          </a:p>
        </p:txBody>
      </p:sp>
      <p:sp>
        <p:nvSpPr>
          <p:cNvPr id="27" name="Cover innovation"/>
          <p:cNvSpPr txBox="1"/>
          <p:nvPr/>
        </p:nvSpPr>
        <p:spPr>
          <a:xfrm>
            <a:off x="9061704" y="1965960"/>
            <a:ext cx="2468880" cy="457200"/>
          </a:xfrm>
          <a:prstGeom prst="rect">
            <a:avLst/>
          </a:prstGeom>
          <a:noFill/>
          <a:ln>
            <a:noFill/>
          </a:ln>
        </p:spPr>
        <p:txBody>
          <a:bodyPr wrap="square" lIns="0" tIns="0" rIns="0" bIns="0" anchor="t" rtlCol="0">
            <a:normAutofit/>
          </a:bodyPr>
          <a:lstStyle/>
          <a:p>
            <a:pPr algn="l">
              <a:spcAft>
                <a:spcPts val="0"/>
              </a:spcAft>
              <a:buNone/>
            </a:pPr>
            <a:r>
              <a:rPr lang="en-US" altLang="zh-CN" sz="2800" b="1" i="0" dirty="0">
                <a:solidFill>
                  <a:srgbClr val="FFFFFF"/>
                </a:solidFill>
                <a:latin typeface="Arial"/>
                <a:ea typeface="Microsoft YaHei"/>
                <a:cs typeface="Arial"/>
              </a:rPr>
              <a:t>Innovation</a:t>
            </a:r>
          </a:p>
        </p:txBody>
      </p:sp>
      <p:sp>
        <p:nvSpPr>
          <p:cNvPr id="28" name="Cover urban"/>
          <p:cNvSpPr txBox="1"/>
          <p:nvPr/>
        </p:nvSpPr>
        <p:spPr>
          <a:xfrm>
            <a:off x="9061704" y="2423160"/>
            <a:ext cx="2468880" cy="292608"/>
          </a:xfrm>
          <a:prstGeom prst="rect">
            <a:avLst/>
          </a:prstGeom>
          <a:noFill/>
          <a:ln>
            <a:noFill/>
          </a:ln>
        </p:spPr>
        <p:txBody>
          <a:bodyPr wrap="square" lIns="0" tIns="0" rIns="0" bIns="0" anchor="t" rtlCol="0">
            <a:normAutofit/>
          </a:bodyPr>
          <a:lstStyle/>
          <a:p>
            <a:pPr algn="l">
              <a:spcAft>
                <a:spcPts val="0"/>
              </a:spcAft>
              <a:buNone/>
            </a:pPr>
            <a:r>
              <a:rPr lang="en-US" altLang="zh-CN" sz="1400" b="1" i="0" spc="600" dirty="0">
                <a:solidFill>
                  <a:srgbClr val="F6B26B"/>
                </a:solidFill>
                <a:latin typeface="Arial"/>
                <a:ea typeface="Microsoft YaHei"/>
                <a:cs typeface="Arial"/>
              </a:rPr>
              <a:t>URBAN</a:t>
            </a:r>
          </a:p>
        </p:txBody>
      </p:sp>
    </p:spTree>
    <p:extLst>
      <p:ext uri="{BB962C8B-B14F-4D97-AF65-F5344CB8AC3E}">
        <p14:creationId xmlns:p14="http://schemas.microsoft.com/office/powerpoint/2010/main" val="519053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3"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4" name="Nav Background"/>
          <p:cNvSpPr/>
          <p:nvPr/>
        </p:nvSpPr>
        <p:spPr>
          <a:xfrm>
            <a:off x="4693615" y="109728"/>
            <a:ext cx="1188720" cy="603504"/>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Background</a:t>
            </a:r>
          </a:p>
        </p:txBody>
      </p:sp>
      <p:sp>
        <p:nvSpPr>
          <p:cNvPr id="5" name="Nav Vision"/>
          <p:cNvSpPr/>
          <p:nvPr/>
        </p:nvSpPr>
        <p:spPr>
          <a:xfrm>
            <a:off x="588233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Vision</a:t>
            </a:r>
          </a:p>
        </p:txBody>
      </p:sp>
      <p:sp>
        <p:nvSpPr>
          <p:cNvPr id="6" name="Nav Mission"/>
          <p:cNvSpPr/>
          <p:nvPr/>
        </p:nvSpPr>
        <p:spPr>
          <a:xfrm>
            <a:off x="6659575" y="109728"/>
            <a:ext cx="86868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Mission</a:t>
            </a:r>
          </a:p>
        </p:txBody>
      </p:sp>
      <p:sp>
        <p:nvSpPr>
          <p:cNvPr id="7" name="Nav Topics"/>
          <p:cNvSpPr/>
          <p:nvPr/>
        </p:nvSpPr>
        <p:spPr>
          <a:xfrm>
            <a:off x="752825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Topics</a:t>
            </a:r>
          </a:p>
        </p:txBody>
      </p:sp>
      <p:sp>
        <p:nvSpPr>
          <p:cNvPr id="8" name="Nav Editorial Board"/>
          <p:cNvSpPr/>
          <p:nvPr/>
        </p:nvSpPr>
        <p:spPr>
          <a:xfrm>
            <a:off x="8305495" y="109728"/>
            <a:ext cx="14173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Editorial Board</a:t>
            </a:r>
          </a:p>
        </p:txBody>
      </p:sp>
      <p:sp>
        <p:nvSpPr>
          <p:cNvPr id="9" name="Nav Networks"/>
          <p:cNvSpPr/>
          <p:nvPr/>
        </p:nvSpPr>
        <p:spPr>
          <a:xfrm>
            <a:off x="9722815" y="109728"/>
            <a:ext cx="10058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Networks</a:t>
            </a:r>
          </a:p>
        </p:txBody>
      </p:sp>
      <p:sp>
        <p:nvSpPr>
          <p:cNvPr id="10" name="Nav Timeline"/>
          <p:cNvSpPr/>
          <p:nvPr/>
        </p:nvSpPr>
        <p:spPr>
          <a:xfrm>
            <a:off x="10728655" y="109728"/>
            <a:ext cx="91440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Timeline</a:t>
            </a:r>
          </a:p>
        </p:txBody>
      </p:sp>
      <p:sp>
        <p:nvSpPr>
          <p:cNvPr id="11" name="Kicker"/>
          <p:cNvSpPr txBox="1"/>
          <p:nvPr/>
        </p:nvSpPr>
        <p:spPr>
          <a:xfrm>
            <a:off x="548640" y="10972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WHY A NEW JOURNAL</a:t>
            </a:r>
          </a:p>
        </p:txBody>
      </p:sp>
      <p:sp>
        <p:nvSpPr>
          <p:cNvPr id="12" name="Title"/>
          <p:cNvSpPr txBox="1"/>
          <p:nvPr/>
        </p:nvSpPr>
        <p:spPr>
          <a:xfrm>
            <a:off x="548640" y="13716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Background</a:t>
            </a:r>
          </a:p>
        </p:txBody>
      </p:sp>
      <p:sp>
        <p:nvSpPr>
          <p:cNvPr id="13" name="Background statement"/>
          <p:cNvSpPr txBox="1"/>
          <p:nvPr/>
        </p:nvSpPr>
        <p:spPr>
          <a:xfrm>
            <a:off x="548640" y="2194560"/>
            <a:ext cx="5394960" cy="3108960"/>
          </a:xfrm>
          <a:prstGeom prst="rect">
            <a:avLst/>
          </a:prstGeom>
          <a:noFill/>
          <a:ln>
            <a:noFill/>
          </a:ln>
        </p:spPr>
        <p:txBody>
          <a:bodyPr wrap="square" lIns="0" tIns="0" rIns="0" bIns="0" anchor="t" rtlCol="0">
            <a:normAutofit/>
          </a:bodyPr>
          <a:lstStyle/>
          <a:p>
            <a:pPr algn="l">
              <a:lnSpc>
                <a:spcPct val="125000"/>
              </a:lnSpc>
              <a:spcAft>
                <a:spcPts val="0"/>
              </a:spcAft>
              <a:buNone/>
            </a:pPr>
            <a:r>
              <a:rPr lang="en-US" altLang="zh-CN" sz="2000" b="1" i="0" dirty="0">
                <a:solidFill>
                  <a:srgbClr val="4245AF"/>
                </a:solidFill>
                <a:latin typeface="Arial"/>
                <a:ea typeface="Microsoft YaHei"/>
                <a:cs typeface="Arial"/>
              </a:rPr>
              <a:t xml:space="preserve">Cities are among humanity’s most complex creations and a critical frontier for scientific and technological innovation, </a:t>
            </a:r>
            <a:r>
              <a:rPr lang="en-US" altLang="zh-CN" sz="2000" b="0" i="0" dirty="0">
                <a:solidFill>
                  <a:srgbClr val="1E1E2E"/>
                </a:solidFill>
                <a:latin typeface="Arial"/>
                <a:ea typeface="Microsoft YaHei"/>
                <a:cs typeface="Arial"/>
              </a:rPr>
              <a:t>yet face the urgent imperative to respond to infrastructure failures, disruptive technologies, climate change, and geopolitical and economic polycrises worldwide.</a:t>
            </a:r>
          </a:p>
        </p:txBody>
      </p:sp>
      <p:sp>
        <p:nvSpPr>
          <p:cNvPr id="14" name="Challenge card 1"/>
          <p:cNvSpPr/>
          <p:nvPr/>
        </p:nvSpPr>
        <p:spPr>
          <a:xfrm>
            <a:off x="6257239" y="2194560"/>
            <a:ext cx="2578608" cy="1947672"/>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pic>
        <p:nvPicPr>
          <p:cNvPr id="15" name="Challenge photo 1" descr="Infrastructure failures"/>
          <p:cNvPicPr>
            <a:picLocks noChangeAspect="1"/>
          </p:cNvPicPr>
          <p:nvPr/>
        </p:nvPicPr>
        <p:blipFill>
          <a:blip r:embed="rId2"/>
          <a:stretch>
            <a:fillRect/>
          </a:stretch>
        </p:blipFill>
        <p:spPr>
          <a:xfrm>
            <a:off x="6366967" y="2304288"/>
            <a:ext cx="2359152" cy="1005840"/>
          </a:xfrm>
          <a:prstGeom prst="roundRect">
            <a:avLst>
              <a:gd name="adj" fmla="val 7000"/>
            </a:avLst>
          </a:prstGeom>
        </p:spPr>
      </p:pic>
      <p:sp>
        <p:nvSpPr>
          <p:cNvPr id="16" name="Challenge title 1"/>
          <p:cNvSpPr txBox="1"/>
          <p:nvPr/>
        </p:nvSpPr>
        <p:spPr>
          <a:xfrm>
            <a:off x="6458407" y="3410712"/>
            <a:ext cx="2212848"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1E1E2E"/>
                </a:solidFill>
                <a:latin typeface="Arial"/>
                <a:ea typeface="Microsoft YaHei"/>
                <a:cs typeface="Arial"/>
              </a:rPr>
              <a:t>Infrastructure failures</a:t>
            </a:r>
          </a:p>
        </p:txBody>
      </p:sp>
      <p:sp>
        <p:nvSpPr>
          <p:cNvPr id="17" name="Challenge caption 1"/>
          <p:cNvSpPr txBox="1"/>
          <p:nvPr/>
        </p:nvSpPr>
        <p:spPr>
          <a:xfrm>
            <a:off x="6458407" y="3685032"/>
            <a:ext cx="2212848" cy="384048"/>
          </a:xfrm>
          <a:prstGeom prst="rect">
            <a:avLst/>
          </a:prstGeom>
          <a:noFill/>
          <a:ln>
            <a:noFill/>
          </a:ln>
        </p:spPr>
        <p:txBody>
          <a:bodyPr wrap="square" lIns="0" tIns="0" rIns="0" bIns="0" anchor="t" rtlCol="0">
            <a:normAutofit/>
          </a:bodyPr>
          <a:lstStyle/>
          <a:p>
            <a:pPr algn="l">
              <a:lnSpc>
                <a:spcPct val="110000"/>
              </a:lnSpc>
              <a:spcAft>
                <a:spcPts val="0"/>
              </a:spcAft>
              <a:buNone/>
            </a:pPr>
            <a:r>
              <a:rPr lang="en-US" altLang="zh-CN" sz="1100" b="0" i="0" dirty="0">
                <a:solidFill>
                  <a:srgbClr val="5B5D72"/>
                </a:solidFill>
                <a:latin typeface="Arial"/>
                <a:ea typeface="Microsoft YaHei"/>
                <a:cs typeface="Arial"/>
              </a:rPr>
              <a:t>Ageing networks under rising demand</a:t>
            </a:r>
          </a:p>
        </p:txBody>
      </p:sp>
      <p:sp>
        <p:nvSpPr>
          <p:cNvPr id="18" name="Challenge card 2"/>
          <p:cNvSpPr/>
          <p:nvPr/>
        </p:nvSpPr>
        <p:spPr>
          <a:xfrm>
            <a:off x="9064447" y="2194560"/>
            <a:ext cx="2578608" cy="1947672"/>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pic>
        <p:nvPicPr>
          <p:cNvPr id="19" name="Challenge photo 2" descr="Disruptive technologies"/>
          <p:cNvPicPr>
            <a:picLocks noChangeAspect="1"/>
          </p:cNvPicPr>
          <p:nvPr/>
        </p:nvPicPr>
        <p:blipFill>
          <a:blip r:embed="rId3"/>
          <a:stretch>
            <a:fillRect/>
          </a:stretch>
        </p:blipFill>
        <p:spPr>
          <a:xfrm>
            <a:off x="9174175" y="2304288"/>
            <a:ext cx="2359152" cy="1005840"/>
          </a:xfrm>
          <a:prstGeom prst="roundRect">
            <a:avLst>
              <a:gd name="adj" fmla="val 7000"/>
            </a:avLst>
          </a:prstGeom>
        </p:spPr>
      </p:pic>
      <p:sp>
        <p:nvSpPr>
          <p:cNvPr id="20" name="Challenge title 2"/>
          <p:cNvSpPr txBox="1"/>
          <p:nvPr/>
        </p:nvSpPr>
        <p:spPr>
          <a:xfrm>
            <a:off x="9265615" y="3410712"/>
            <a:ext cx="2212848"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1E1E2E"/>
                </a:solidFill>
                <a:latin typeface="Arial"/>
                <a:ea typeface="Microsoft YaHei"/>
                <a:cs typeface="Arial"/>
              </a:rPr>
              <a:t>Disruptive technologies</a:t>
            </a:r>
          </a:p>
        </p:txBody>
      </p:sp>
      <p:sp>
        <p:nvSpPr>
          <p:cNvPr id="21" name="Challenge caption 2"/>
          <p:cNvSpPr txBox="1"/>
          <p:nvPr/>
        </p:nvSpPr>
        <p:spPr>
          <a:xfrm>
            <a:off x="9265615" y="3685032"/>
            <a:ext cx="2212848" cy="384048"/>
          </a:xfrm>
          <a:prstGeom prst="rect">
            <a:avLst/>
          </a:prstGeom>
          <a:noFill/>
          <a:ln>
            <a:noFill/>
          </a:ln>
        </p:spPr>
        <p:txBody>
          <a:bodyPr wrap="square" lIns="0" tIns="0" rIns="0" bIns="0" anchor="t" rtlCol="0">
            <a:normAutofit/>
          </a:bodyPr>
          <a:lstStyle/>
          <a:p>
            <a:pPr algn="l">
              <a:lnSpc>
                <a:spcPct val="110000"/>
              </a:lnSpc>
              <a:spcAft>
                <a:spcPts val="0"/>
              </a:spcAft>
              <a:buNone/>
            </a:pPr>
            <a:r>
              <a:rPr lang="en-US" altLang="zh-CN" sz="1100" b="0" i="0" dirty="0">
                <a:solidFill>
                  <a:srgbClr val="5B5D72"/>
                </a:solidFill>
                <a:latin typeface="Arial"/>
                <a:ea typeface="Microsoft YaHei"/>
                <a:cs typeface="Arial"/>
              </a:rPr>
              <a:t>AI, sensing and automation reshaping cities</a:t>
            </a:r>
          </a:p>
        </p:txBody>
      </p:sp>
      <p:sp>
        <p:nvSpPr>
          <p:cNvPr id="22" name="Challenge card 3"/>
          <p:cNvSpPr/>
          <p:nvPr/>
        </p:nvSpPr>
        <p:spPr>
          <a:xfrm>
            <a:off x="6257239" y="4370832"/>
            <a:ext cx="2578608" cy="1947672"/>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pic>
        <p:nvPicPr>
          <p:cNvPr id="23" name="Challenge photo 3" descr="Climate change"/>
          <p:cNvPicPr>
            <a:picLocks noChangeAspect="1"/>
          </p:cNvPicPr>
          <p:nvPr/>
        </p:nvPicPr>
        <p:blipFill>
          <a:blip r:embed="rId4"/>
          <a:stretch>
            <a:fillRect/>
          </a:stretch>
        </p:blipFill>
        <p:spPr>
          <a:xfrm>
            <a:off x="6366967" y="4480560"/>
            <a:ext cx="2359152" cy="1005840"/>
          </a:xfrm>
          <a:prstGeom prst="roundRect">
            <a:avLst>
              <a:gd name="adj" fmla="val 7000"/>
            </a:avLst>
          </a:prstGeom>
        </p:spPr>
      </p:pic>
      <p:sp>
        <p:nvSpPr>
          <p:cNvPr id="24" name="Challenge title 3"/>
          <p:cNvSpPr txBox="1"/>
          <p:nvPr/>
        </p:nvSpPr>
        <p:spPr>
          <a:xfrm>
            <a:off x="6458407" y="5586984"/>
            <a:ext cx="2212848"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1E1E2E"/>
                </a:solidFill>
                <a:latin typeface="Arial"/>
                <a:ea typeface="Microsoft YaHei"/>
                <a:cs typeface="Arial"/>
              </a:rPr>
              <a:t>Climate change</a:t>
            </a:r>
          </a:p>
        </p:txBody>
      </p:sp>
      <p:sp>
        <p:nvSpPr>
          <p:cNvPr id="25" name="Challenge caption 3"/>
          <p:cNvSpPr txBox="1"/>
          <p:nvPr/>
        </p:nvSpPr>
        <p:spPr>
          <a:xfrm>
            <a:off x="6458407" y="5861304"/>
            <a:ext cx="2212848" cy="384048"/>
          </a:xfrm>
          <a:prstGeom prst="rect">
            <a:avLst/>
          </a:prstGeom>
          <a:noFill/>
          <a:ln>
            <a:noFill/>
          </a:ln>
        </p:spPr>
        <p:txBody>
          <a:bodyPr wrap="square" lIns="0" tIns="0" rIns="0" bIns="0" anchor="t" rtlCol="0">
            <a:normAutofit/>
          </a:bodyPr>
          <a:lstStyle/>
          <a:p>
            <a:pPr algn="l">
              <a:lnSpc>
                <a:spcPct val="110000"/>
              </a:lnSpc>
              <a:spcAft>
                <a:spcPts val="0"/>
              </a:spcAft>
              <a:buNone/>
            </a:pPr>
            <a:r>
              <a:rPr lang="en-US" altLang="zh-CN" sz="1100" b="0" i="0" dirty="0">
                <a:solidFill>
                  <a:srgbClr val="5B5D72"/>
                </a:solidFill>
                <a:latin typeface="Arial"/>
                <a:ea typeface="Microsoft YaHei"/>
                <a:cs typeface="Arial"/>
              </a:rPr>
              <a:t>Heat, flooding and the need to decarbonize</a:t>
            </a:r>
          </a:p>
        </p:txBody>
      </p:sp>
      <p:sp>
        <p:nvSpPr>
          <p:cNvPr id="26" name="Challenge card 4"/>
          <p:cNvSpPr/>
          <p:nvPr/>
        </p:nvSpPr>
        <p:spPr>
          <a:xfrm>
            <a:off x="9064447" y="4370832"/>
            <a:ext cx="2578608" cy="1947672"/>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pic>
        <p:nvPicPr>
          <p:cNvPr id="27" name="Challenge photo 4" descr="Polycrises"/>
          <p:cNvPicPr>
            <a:picLocks noChangeAspect="1"/>
          </p:cNvPicPr>
          <p:nvPr/>
        </p:nvPicPr>
        <p:blipFill>
          <a:blip r:embed="rId5"/>
          <a:stretch>
            <a:fillRect/>
          </a:stretch>
        </p:blipFill>
        <p:spPr>
          <a:xfrm>
            <a:off x="9174175" y="4480560"/>
            <a:ext cx="2359152" cy="1005840"/>
          </a:xfrm>
          <a:prstGeom prst="roundRect">
            <a:avLst>
              <a:gd name="adj" fmla="val 7000"/>
            </a:avLst>
          </a:prstGeom>
        </p:spPr>
      </p:pic>
      <p:sp>
        <p:nvSpPr>
          <p:cNvPr id="28" name="Challenge title 4"/>
          <p:cNvSpPr txBox="1"/>
          <p:nvPr/>
        </p:nvSpPr>
        <p:spPr>
          <a:xfrm>
            <a:off x="9265615" y="5586984"/>
            <a:ext cx="2212848"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1E1E2E"/>
                </a:solidFill>
                <a:latin typeface="Arial"/>
                <a:ea typeface="Microsoft YaHei"/>
                <a:cs typeface="Arial"/>
              </a:rPr>
              <a:t>Polycrises</a:t>
            </a:r>
          </a:p>
        </p:txBody>
      </p:sp>
      <p:sp>
        <p:nvSpPr>
          <p:cNvPr id="29" name="Challenge caption 4"/>
          <p:cNvSpPr txBox="1"/>
          <p:nvPr/>
        </p:nvSpPr>
        <p:spPr>
          <a:xfrm>
            <a:off x="9265615" y="5861304"/>
            <a:ext cx="2212848" cy="384048"/>
          </a:xfrm>
          <a:prstGeom prst="rect">
            <a:avLst/>
          </a:prstGeom>
          <a:noFill/>
          <a:ln>
            <a:noFill/>
          </a:ln>
        </p:spPr>
        <p:txBody>
          <a:bodyPr wrap="square" lIns="0" tIns="0" rIns="0" bIns="0" anchor="t" rtlCol="0">
            <a:normAutofit/>
          </a:bodyPr>
          <a:lstStyle/>
          <a:p>
            <a:pPr algn="l">
              <a:lnSpc>
                <a:spcPct val="110000"/>
              </a:lnSpc>
              <a:spcAft>
                <a:spcPts val="0"/>
              </a:spcAft>
              <a:buNone/>
            </a:pPr>
            <a:r>
              <a:rPr lang="en-US" altLang="zh-CN" sz="1100" b="0" i="0" dirty="0">
                <a:solidFill>
                  <a:srgbClr val="5B5D72"/>
                </a:solidFill>
                <a:latin typeface="Arial"/>
                <a:ea typeface="Microsoft YaHei"/>
                <a:cs typeface="Arial"/>
              </a:rPr>
              <a:t>Geopolitical and economic shocks worldwide</a:t>
            </a:r>
          </a:p>
        </p:txBody>
      </p:sp>
      <p:sp>
        <p:nvSpPr>
          <p:cNvPr id="901" name="Page number"/>
          <p:cNvSpPr txBox="1"/>
          <p:nvPr/>
        </p:nvSpPr>
        <p:spPr>
          <a:xfrm>
            <a:off x="10728655" y="6492240"/>
            <a:ext cx="914400" cy="237744"/>
          </a:xfrm>
          <a:prstGeom prst="rect">
            <a:avLst/>
          </a:prstGeom>
          <a:noFill/>
          <a:ln>
            <a:noFill/>
          </a:ln>
        </p:spPr>
        <p:txBody>
          <a:bodyPr wrap="square" lIns="0" tIns="0" rIns="0" bIns="0" anchor="ctr" rtlCol="0">
            <a:normAutofit/>
          </a:bodyPr>
          <a:lstStyle/>
          <a:p>
            <a:pPr algn="r">
              <a:spcAft>
                <a:spcPts val="0"/>
              </a:spcAft>
              <a:buNone/>
            </a:pPr>
            <a:r>
              <a:rPr lang="en-US" altLang="zh-CN" sz="1000" b="1" i="0" spc="100" dirty="0">
                <a:solidFill>
                  <a:srgbClr val="5B5D72"/>
                </a:solidFill>
                <a:latin typeface="Arial"/>
                <a:ea typeface="Microsoft YaHei"/>
                <a:cs typeface="Arial"/>
              </a:rPr>
              <a:t>02</a:t>
            </a:r>
          </a:p>
        </p:txBody>
      </p:sp>
    </p:spTree>
    <p:extLst>
      <p:ext uri="{BB962C8B-B14F-4D97-AF65-F5344CB8AC3E}">
        <p14:creationId xmlns:p14="http://schemas.microsoft.com/office/powerpoint/2010/main" val="698314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3"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4" name="Nav Background"/>
          <p:cNvSpPr/>
          <p:nvPr/>
        </p:nvSpPr>
        <p:spPr>
          <a:xfrm>
            <a:off x="4693615" y="109728"/>
            <a:ext cx="11887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Background</a:t>
            </a:r>
          </a:p>
        </p:txBody>
      </p:sp>
      <p:sp>
        <p:nvSpPr>
          <p:cNvPr id="5" name="Nav Vision"/>
          <p:cNvSpPr/>
          <p:nvPr/>
        </p:nvSpPr>
        <p:spPr>
          <a:xfrm>
            <a:off x="5882335" y="109728"/>
            <a:ext cx="777240" cy="603504"/>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Vision</a:t>
            </a:r>
          </a:p>
        </p:txBody>
      </p:sp>
      <p:sp>
        <p:nvSpPr>
          <p:cNvPr id="6" name="Nav Mission"/>
          <p:cNvSpPr/>
          <p:nvPr/>
        </p:nvSpPr>
        <p:spPr>
          <a:xfrm>
            <a:off x="6659575" y="109728"/>
            <a:ext cx="86868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Mission</a:t>
            </a:r>
          </a:p>
        </p:txBody>
      </p:sp>
      <p:sp>
        <p:nvSpPr>
          <p:cNvPr id="7" name="Nav Topics"/>
          <p:cNvSpPr/>
          <p:nvPr/>
        </p:nvSpPr>
        <p:spPr>
          <a:xfrm>
            <a:off x="752825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Topics</a:t>
            </a:r>
          </a:p>
        </p:txBody>
      </p:sp>
      <p:sp>
        <p:nvSpPr>
          <p:cNvPr id="8" name="Nav Editorial Board"/>
          <p:cNvSpPr/>
          <p:nvPr/>
        </p:nvSpPr>
        <p:spPr>
          <a:xfrm>
            <a:off x="8305495" y="109728"/>
            <a:ext cx="14173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Editorial Board</a:t>
            </a:r>
          </a:p>
        </p:txBody>
      </p:sp>
      <p:sp>
        <p:nvSpPr>
          <p:cNvPr id="9" name="Nav Networks"/>
          <p:cNvSpPr/>
          <p:nvPr/>
        </p:nvSpPr>
        <p:spPr>
          <a:xfrm>
            <a:off x="9722815" y="109728"/>
            <a:ext cx="10058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Networks</a:t>
            </a:r>
          </a:p>
        </p:txBody>
      </p:sp>
      <p:sp>
        <p:nvSpPr>
          <p:cNvPr id="10" name="Nav Timeline"/>
          <p:cNvSpPr/>
          <p:nvPr/>
        </p:nvSpPr>
        <p:spPr>
          <a:xfrm>
            <a:off x="10728655" y="109728"/>
            <a:ext cx="91440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Timeline</a:t>
            </a:r>
          </a:p>
        </p:txBody>
      </p:sp>
      <p:sp>
        <p:nvSpPr>
          <p:cNvPr id="11" name="Kicker"/>
          <p:cNvSpPr txBox="1"/>
          <p:nvPr/>
        </p:nvSpPr>
        <p:spPr>
          <a:xfrm>
            <a:off x="548640" y="10972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WHERE WE AIM TO BE</a:t>
            </a:r>
          </a:p>
        </p:txBody>
      </p:sp>
      <p:sp>
        <p:nvSpPr>
          <p:cNvPr id="12" name="Title"/>
          <p:cNvSpPr txBox="1"/>
          <p:nvPr/>
        </p:nvSpPr>
        <p:spPr>
          <a:xfrm>
            <a:off x="548640" y="13716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Vision</a:t>
            </a:r>
          </a:p>
        </p:txBody>
      </p:sp>
      <p:sp>
        <p:nvSpPr>
          <p:cNvPr id="13" name="Vision statement"/>
          <p:cNvSpPr txBox="1"/>
          <p:nvPr/>
        </p:nvSpPr>
        <p:spPr>
          <a:xfrm>
            <a:off x="548640" y="2148840"/>
            <a:ext cx="11094415" cy="1371600"/>
          </a:xfrm>
          <a:prstGeom prst="rect">
            <a:avLst/>
          </a:prstGeom>
          <a:noFill/>
          <a:ln>
            <a:noFill/>
          </a:ln>
        </p:spPr>
        <p:txBody>
          <a:bodyPr wrap="square" lIns="0" tIns="0" rIns="0" bIns="0" anchor="t" rtlCol="0">
            <a:normAutofit/>
          </a:bodyPr>
          <a:lstStyle/>
          <a:p>
            <a:pPr algn="l">
              <a:lnSpc>
                <a:spcPct val="125000"/>
              </a:lnSpc>
              <a:spcAft>
                <a:spcPts val="0"/>
              </a:spcAft>
              <a:buNone/>
            </a:pPr>
            <a:r>
              <a:rPr lang="en-US" altLang="zh-CN" sz="2000" b="1" i="0" dirty="0">
                <a:solidFill>
                  <a:srgbClr val="4245AF"/>
                </a:solidFill>
                <a:latin typeface="Arial"/>
                <a:ea typeface="Microsoft YaHei"/>
                <a:cs typeface="Arial"/>
              </a:rPr>
              <a:t xml:space="preserve">A world-class international journal based in China, </a:t>
            </a:r>
            <a:r>
              <a:rPr lang="en-US" altLang="zh-CN" sz="2000" b="0" i="0" dirty="0">
                <a:solidFill>
                  <a:srgbClr val="1E1E2E"/>
                </a:solidFill>
                <a:latin typeface="Arial"/>
                <a:ea typeface="Microsoft YaHei"/>
                <a:cs typeface="Arial"/>
              </a:rPr>
              <a:t>led by an international, interdisciplinary, and intergenerational team of leading scholars, and dedicated to advancing scientific discovery and technological innovation to diagnose and dissect urban challenges and devise innovative solutions for cities worldwide.</a:t>
            </a:r>
          </a:p>
        </p:txBody>
      </p:sp>
      <p:sp>
        <p:nvSpPr>
          <p:cNvPr id="14" name="Team card 1"/>
          <p:cNvSpPr/>
          <p:nvPr/>
        </p:nvSpPr>
        <p:spPr>
          <a:xfrm>
            <a:off x="548640" y="3840480"/>
            <a:ext cx="2331720" cy="214884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15" name="Team icon 1 circle"/>
          <p:cNvSpPr/>
          <p:nvPr/>
        </p:nvSpPr>
        <p:spPr>
          <a:xfrm>
            <a:off x="777240" y="4096512"/>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16" name="Team icon 1" descr=""/>
          <p:cNvPicPr>
            <a:picLocks noChangeAspect="1"/>
          </p:cNvPicPr>
          <p:nvPr/>
        </p:nvPicPr>
        <p:blipFill>
          <a:blip r:embed="rId2"/>
          <a:stretch>
            <a:fillRect/>
          </a:stretch>
        </p:blipFill>
        <p:spPr>
          <a:xfrm>
            <a:off x="925830" y="4245102"/>
            <a:ext cx="297180" cy="297180"/>
          </a:xfrm>
          <a:prstGeom prst="rect">
            <a:avLst/>
          </a:prstGeom>
        </p:spPr>
      </p:pic>
      <p:sp>
        <p:nvSpPr>
          <p:cNvPr id="17" name="Team title 1"/>
          <p:cNvSpPr txBox="1"/>
          <p:nvPr/>
        </p:nvSpPr>
        <p:spPr>
          <a:xfrm>
            <a:off x="777240" y="4846320"/>
            <a:ext cx="1920240" cy="320040"/>
          </a:xfrm>
          <a:prstGeom prst="rect">
            <a:avLst/>
          </a:prstGeom>
          <a:noFill/>
          <a:ln>
            <a:noFill/>
          </a:ln>
        </p:spPr>
        <p:txBody>
          <a:bodyPr wrap="square" lIns="0" tIns="0" rIns="0" bIns="0" anchor="t" rtlCol="0">
            <a:normAutofit/>
          </a:bodyPr>
          <a:lstStyle/>
          <a:p>
            <a:pPr algn="l">
              <a:spcAft>
                <a:spcPts val="0"/>
              </a:spcAft>
              <a:buNone/>
            </a:pPr>
            <a:r>
              <a:rPr lang="en-US" altLang="zh-CN" sz="1500" b="1" i="0" dirty="0">
                <a:solidFill>
                  <a:srgbClr val="1E1E2E"/>
                </a:solidFill>
                <a:latin typeface="Arial"/>
                <a:ea typeface="Microsoft YaHei"/>
                <a:cs typeface="Arial"/>
              </a:rPr>
              <a:t>International</a:t>
            </a:r>
          </a:p>
        </p:txBody>
      </p:sp>
      <p:sp>
        <p:nvSpPr>
          <p:cNvPr id="18" name="Team caption 1"/>
          <p:cNvSpPr txBox="1"/>
          <p:nvPr/>
        </p:nvSpPr>
        <p:spPr>
          <a:xfrm>
            <a:off x="777240" y="5193792"/>
            <a:ext cx="1920240" cy="640080"/>
          </a:xfrm>
          <a:prstGeom prst="rect">
            <a:avLst/>
          </a:prstGeom>
          <a:noFill/>
          <a:ln>
            <a:noFill/>
          </a:ln>
        </p:spPr>
        <p:txBody>
          <a:bodyPr wrap="square" lIns="0" tIns="0" rIns="0" bIns="0" anchor="t" rtlCol="0">
            <a:normAutofit/>
          </a:bodyPr>
          <a:lstStyle/>
          <a:p>
            <a:pPr algn="l">
              <a:lnSpc>
                <a:spcPct val="105000"/>
              </a:lnSpc>
              <a:spcAft>
                <a:spcPts val="0"/>
              </a:spcAft>
              <a:buNone/>
            </a:pPr>
            <a:r>
              <a:rPr lang="en-US" altLang="zh-CN" sz="1100" b="0" i="0" dirty="0">
                <a:solidFill>
                  <a:srgbClr val="5B5D72"/>
                </a:solidFill>
                <a:latin typeface="Arial"/>
                <a:ea typeface="Microsoft YaHei"/>
                <a:cs typeface="Arial"/>
              </a:rPr>
              <a:t>Editors and authors from leading institutions worldwide</a:t>
            </a:r>
          </a:p>
        </p:txBody>
      </p:sp>
      <p:sp>
        <p:nvSpPr>
          <p:cNvPr id="19" name="Team card 2"/>
          <p:cNvSpPr/>
          <p:nvPr/>
        </p:nvSpPr>
        <p:spPr>
          <a:xfrm>
            <a:off x="3108960" y="3840480"/>
            <a:ext cx="2331720" cy="214884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20" name="Team icon 2 circle"/>
          <p:cNvSpPr/>
          <p:nvPr/>
        </p:nvSpPr>
        <p:spPr>
          <a:xfrm>
            <a:off x="3337560" y="4096512"/>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21" name="Team icon 2" descr=""/>
          <p:cNvPicPr>
            <a:picLocks noChangeAspect="1"/>
          </p:cNvPicPr>
          <p:nvPr/>
        </p:nvPicPr>
        <p:blipFill>
          <a:blip r:embed="rId3"/>
          <a:stretch>
            <a:fillRect/>
          </a:stretch>
        </p:blipFill>
        <p:spPr>
          <a:xfrm>
            <a:off x="3486150" y="4245102"/>
            <a:ext cx="297180" cy="297180"/>
          </a:xfrm>
          <a:prstGeom prst="rect">
            <a:avLst/>
          </a:prstGeom>
        </p:spPr>
      </p:pic>
      <p:sp>
        <p:nvSpPr>
          <p:cNvPr id="22" name="Team title 2"/>
          <p:cNvSpPr txBox="1"/>
          <p:nvPr/>
        </p:nvSpPr>
        <p:spPr>
          <a:xfrm>
            <a:off x="3337560" y="4846320"/>
            <a:ext cx="1920240" cy="320040"/>
          </a:xfrm>
          <a:prstGeom prst="rect">
            <a:avLst/>
          </a:prstGeom>
          <a:noFill/>
          <a:ln>
            <a:noFill/>
          </a:ln>
        </p:spPr>
        <p:txBody>
          <a:bodyPr wrap="square" lIns="0" tIns="0" rIns="0" bIns="0" anchor="t" rtlCol="0">
            <a:normAutofit/>
          </a:bodyPr>
          <a:lstStyle/>
          <a:p>
            <a:pPr algn="l">
              <a:spcAft>
                <a:spcPts val="0"/>
              </a:spcAft>
              <a:buNone/>
            </a:pPr>
            <a:r>
              <a:rPr lang="en-US" altLang="zh-CN" sz="1500" b="1" i="0" dirty="0">
                <a:solidFill>
                  <a:srgbClr val="1E1E2E"/>
                </a:solidFill>
                <a:latin typeface="Arial"/>
                <a:ea typeface="Microsoft YaHei"/>
                <a:cs typeface="Arial"/>
              </a:rPr>
              <a:t>Interdisciplinary</a:t>
            </a:r>
          </a:p>
        </p:txBody>
      </p:sp>
      <p:sp>
        <p:nvSpPr>
          <p:cNvPr id="23" name="Team caption 2"/>
          <p:cNvSpPr txBox="1"/>
          <p:nvPr/>
        </p:nvSpPr>
        <p:spPr>
          <a:xfrm>
            <a:off x="3337560" y="5193792"/>
            <a:ext cx="1920240" cy="640080"/>
          </a:xfrm>
          <a:prstGeom prst="rect">
            <a:avLst/>
          </a:prstGeom>
          <a:noFill/>
          <a:ln>
            <a:noFill/>
          </a:ln>
        </p:spPr>
        <p:txBody>
          <a:bodyPr wrap="square" lIns="0" tIns="0" rIns="0" bIns="0" anchor="t" rtlCol="0">
            <a:normAutofit/>
          </a:bodyPr>
          <a:lstStyle/>
          <a:p>
            <a:pPr algn="l">
              <a:lnSpc>
                <a:spcPct val="105000"/>
              </a:lnSpc>
              <a:spcAft>
                <a:spcPts val="0"/>
              </a:spcAft>
              <a:buNone/>
            </a:pPr>
            <a:r>
              <a:rPr lang="en-US" altLang="zh-CN" sz="1100" b="0" i="0" dirty="0">
                <a:solidFill>
                  <a:srgbClr val="5B5D72"/>
                </a:solidFill>
                <a:latin typeface="Arial"/>
                <a:ea typeface="Microsoft YaHei"/>
                <a:cs typeface="Arial"/>
              </a:rPr>
              <a:t>Engineering, technology, governance and climate science</a:t>
            </a:r>
          </a:p>
        </p:txBody>
      </p:sp>
      <p:sp>
        <p:nvSpPr>
          <p:cNvPr id="24" name="Team card 3"/>
          <p:cNvSpPr/>
          <p:nvPr/>
        </p:nvSpPr>
        <p:spPr>
          <a:xfrm>
            <a:off x="5669280" y="3840480"/>
            <a:ext cx="2331720" cy="214884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25" name="Team icon 3 circle"/>
          <p:cNvSpPr/>
          <p:nvPr/>
        </p:nvSpPr>
        <p:spPr>
          <a:xfrm>
            <a:off x="5897880" y="4096512"/>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26" name="Team icon 3" descr=""/>
          <p:cNvPicPr>
            <a:picLocks noChangeAspect="1"/>
          </p:cNvPicPr>
          <p:nvPr/>
        </p:nvPicPr>
        <p:blipFill>
          <a:blip r:embed="rId4"/>
          <a:stretch>
            <a:fillRect/>
          </a:stretch>
        </p:blipFill>
        <p:spPr>
          <a:xfrm>
            <a:off x="6046470" y="4245102"/>
            <a:ext cx="297180" cy="297180"/>
          </a:xfrm>
          <a:prstGeom prst="rect">
            <a:avLst/>
          </a:prstGeom>
        </p:spPr>
      </p:pic>
      <p:sp>
        <p:nvSpPr>
          <p:cNvPr id="27" name="Team title 3"/>
          <p:cNvSpPr txBox="1"/>
          <p:nvPr/>
        </p:nvSpPr>
        <p:spPr>
          <a:xfrm>
            <a:off x="5897880" y="4846320"/>
            <a:ext cx="1920240" cy="320040"/>
          </a:xfrm>
          <a:prstGeom prst="rect">
            <a:avLst/>
          </a:prstGeom>
          <a:noFill/>
          <a:ln>
            <a:noFill/>
          </a:ln>
        </p:spPr>
        <p:txBody>
          <a:bodyPr wrap="square" lIns="0" tIns="0" rIns="0" bIns="0" anchor="t" rtlCol="0">
            <a:normAutofit/>
          </a:bodyPr>
          <a:lstStyle/>
          <a:p>
            <a:pPr algn="l">
              <a:spcAft>
                <a:spcPts val="0"/>
              </a:spcAft>
              <a:buNone/>
            </a:pPr>
            <a:r>
              <a:rPr lang="en-US" altLang="zh-CN" sz="1500" b="1" i="0" dirty="0">
                <a:solidFill>
                  <a:srgbClr val="1E1E2E"/>
                </a:solidFill>
                <a:latin typeface="Arial"/>
                <a:ea typeface="Microsoft YaHei"/>
                <a:cs typeface="Arial"/>
              </a:rPr>
              <a:t>Intergenerational</a:t>
            </a:r>
          </a:p>
        </p:txBody>
      </p:sp>
      <p:sp>
        <p:nvSpPr>
          <p:cNvPr id="28" name="Team caption 3"/>
          <p:cNvSpPr txBox="1"/>
          <p:nvPr/>
        </p:nvSpPr>
        <p:spPr>
          <a:xfrm>
            <a:off x="5897880" y="5193792"/>
            <a:ext cx="1920240" cy="640080"/>
          </a:xfrm>
          <a:prstGeom prst="rect">
            <a:avLst/>
          </a:prstGeom>
          <a:noFill/>
          <a:ln>
            <a:noFill/>
          </a:ln>
        </p:spPr>
        <p:txBody>
          <a:bodyPr wrap="square" lIns="0" tIns="0" rIns="0" bIns="0" anchor="t" rtlCol="0">
            <a:normAutofit/>
          </a:bodyPr>
          <a:lstStyle/>
          <a:p>
            <a:pPr algn="l">
              <a:lnSpc>
                <a:spcPct val="105000"/>
              </a:lnSpc>
              <a:spcAft>
                <a:spcPts val="0"/>
              </a:spcAft>
              <a:buNone/>
            </a:pPr>
            <a:r>
              <a:rPr lang="en-US" altLang="zh-CN" sz="1100" b="0" i="0" dirty="0">
                <a:solidFill>
                  <a:srgbClr val="5B5D72"/>
                </a:solidFill>
                <a:latin typeface="Arial"/>
                <a:ea typeface="Microsoft YaHei"/>
                <a:cs typeface="Arial"/>
              </a:rPr>
              <a:t>Leading scholars together with emerging researchers</a:t>
            </a:r>
          </a:p>
        </p:txBody>
      </p:sp>
      <p:sp>
        <p:nvSpPr>
          <p:cNvPr id="29" name="Approach panel"/>
          <p:cNvSpPr/>
          <p:nvPr/>
        </p:nvSpPr>
        <p:spPr>
          <a:xfrm>
            <a:off x="8229600" y="3840480"/>
            <a:ext cx="3413455" cy="2148840"/>
          </a:xfrm>
          <a:prstGeom prst="roundRect">
            <a:avLst>
              <a:gd name="adj" fmla="val 6000"/>
            </a:avLst>
          </a:prstGeom>
          <a:solidFill>
            <a:srgbClr val="4245AF"/>
          </a:solidFill>
          <a:ln>
            <a:noFill/>
          </a:ln>
        </p:spPr>
        <p:txBody>
          <a:bodyPr wrap="square" lIns="0" tIns="0" rIns="0" bIns="0" anchor="t" rtlCol="0">
            <a:normAutofit/>
          </a:bodyPr>
          <a:lstStyle/>
          <a:p>
            <a:endParaRPr lang="en-US"/>
          </a:p>
        </p:txBody>
      </p:sp>
      <p:sp>
        <p:nvSpPr>
          <p:cNvPr id="30" name="Approach kicker"/>
          <p:cNvSpPr txBox="1"/>
          <p:nvPr/>
        </p:nvSpPr>
        <p:spPr>
          <a:xfrm>
            <a:off x="8549640" y="4069080"/>
            <a:ext cx="2864815" cy="274320"/>
          </a:xfrm>
          <a:prstGeom prst="rect">
            <a:avLst/>
          </a:prstGeom>
          <a:noFill/>
          <a:ln>
            <a:noFill/>
          </a:ln>
        </p:spPr>
        <p:txBody>
          <a:bodyPr wrap="square" lIns="0" tIns="0" rIns="0" bIns="0" anchor="t" rtlCol="0">
            <a:normAutofit/>
          </a:bodyPr>
          <a:lstStyle/>
          <a:p>
            <a:pPr algn="l">
              <a:spcAft>
                <a:spcPts val="0"/>
              </a:spcAft>
              <a:buNone/>
            </a:pPr>
            <a:r>
              <a:rPr lang="en-US" altLang="zh-CN" sz="1100" b="1" i="0" spc="100" dirty="0">
                <a:solidFill>
                  <a:srgbClr val="F6B26B"/>
                </a:solidFill>
                <a:latin typeface="Arial"/>
                <a:ea typeface="Microsoft YaHei"/>
                <a:cs typeface="Arial"/>
              </a:rPr>
              <a:t>FROM DISCOVERY TO SOLUTIONS</a:t>
            </a:r>
          </a:p>
        </p:txBody>
      </p:sp>
      <p:sp>
        <p:nvSpPr>
          <p:cNvPr id="31" name="Step number 1"/>
          <p:cNvSpPr txBox="1"/>
          <p:nvPr/>
        </p:nvSpPr>
        <p:spPr>
          <a:xfrm>
            <a:off x="8549640" y="4462272"/>
            <a:ext cx="502920" cy="384048"/>
          </a:xfrm>
          <a:prstGeom prst="rect">
            <a:avLst/>
          </a:prstGeom>
          <a:noFill/>
          <a:ln>
            <a:noFill/>
          </a:ln>
        </p:spPr>
        <p:txBody>
          <a:bodyPr wrap="square" lIns="0" tIns="0" rIns="0" bIns="0" anchor="ctr" rtlCol="0">
            <a:normAutofit/>
          </a:bodyPr>
          <a:lstStyle/>
          <a:p>
            <a:pPr algn="l">
              <a:spcAft>
                <a:spcPts val="0"/>
              </a:spcAft>
              <a:buNone/>
            </a:pPr>
            <a:r>
              <a:rPr lang="en-US" altLang="zh-CN" sz="1800" b="1" i="0" dirty="0">
                <a:solidFill>
                  <a:srgbClr val="F6B26B"/>
                </a:solidFill>
                <a:latin typeface="Arial"/>
                <a:ea typeface="Microsoft YaHei"/>
                <a:cs typeface="Arial"/>
              </a:rPr>
              <a:t>01</a:t>
            </a:r>
          </a:p>
        </p:txBody>
      </p:sp>
      <p:sp>
        <p:nvSpPr>
          <p:cNvPr id="32" name="Step text 1"/>
          <p:cNvSpPr txBox="1"/>
          <p:nvPr/>
        </p:nvSpPr>
        <p:spPr>
          <a:xfrm>
            <a:off x="9098280" y="4462272"/>
            <a:ext cx="2316175" cy="384048"/>
          </a:xfrm>
          <a:prstGeom prst="rect">
            <a:avLst/>
          </a:prstGeom>
          <a:noFill/>
          <a:ln>
            <a:noFill/>
          </a:ln>
        </p:spPr>
        <p:txBody>
          <a:bodyPr wrap="square" lIns="0" tIns="0" rIns="0" bIns="0" anchor="ctr" rtlCol="0">
            <a:normAutofit/>
          </a:bodyPr>
          <a:lstStyle/>
          <a:p>
            <a:pPr algn="l">
              <a:spcAft>
                <a:spcPts val="0"/>
              </a:spcAft>
              <a:buNone/>
            </a:pPr>
            <a:r>
              <a:rPr lang="en-US" altLang="zh-CN" sz="1600" b="1" i="0" dirty="0">
                <a:solidFill>
                  <a:srgbClr val="FFFFFF"/>
                </a:solidFill>
                <a:latin typeface="Arial"/>
                <a:ea typeface="Microsoft YaHei"/>
                <a:cs typeface="Arial"/>
              </a:rPr>
              <a:t xml:space="preserve">Diagnose </a:t>
            </a:r>
            <a:r>
              <a:rPr lang="en-US" altLang="zh-CN" sz="1200" b="0" i="0" dirty="0">
                <a:solidFill>
                  <a:srgbClr val="D9DAF5"/>
                </a:solidFill>
                <a:latin typeface="Arial"/>
                <a:ea typeface="Microsoft YaHei"/>
                <a:cs typeface="Arial"/>
              </a:rPr>
              <a:t>urban challenges</a:t>
            </a:r>
          </a:p>
        </p:txBody>
      </p:sp>
      <p:sp>
        <p:nvSpPr>
          <p:cNvPr id="33" name="Step number 2"/>
          <p:cNvSpPr txBox="1"/>
          <p:nvPr/>
        </p:nvSpPr>
        <p:spPr>
          <a:xfrm>
            <a:off x="8549640" y="4956048"/>
            <a:ext cx="502920" cy="384048"/>
          </a:xfrm>
          <a:prstGeom prst="rect">
            <a:avLst/>
          </a:prstGeom>
          <a:noFill/>
          <a:ln>
            <a:noFill/>
          </a:ln>
        </p:spPr>
        <p:txBody>
          <a:bodyPr wrap="square" lIns="0" tIns="0" rIns="0" bIns="0" anchor="ctr" rtlCol="0">
            <a:normAutofit/>
          </a:bodyPr>
          <a:lstStyle/>
          <a:p>
            <a:pPr algn="l">
              <a:spcAft>
                <a:spcPts val="0"/>
              </a:spcAft>
              <a:buNone/>
            </a:pPr>
            <a:r>
              <a:rPr lang="en-US" altLang="zh-CN" sz="1800" b="1" i="0" dirty="0">
                <a:solidFill>
                  <a:srgbClr val="F6B26B"/>
                </a:solidFill>
                <a:latin typeface="Arial"/>
                <a:ea typeface="Microsoft YaHei"/>
                <a:cs typeface="Arial"/>
              </a:rPr>
              <a:t>02</a:t>
            </a:r>
          </a:p>
        </p:txBody>
      </p:sp>
      <p:sp>
        <p:nvSpPr>
          <p:cNvPr id="34" name="Step text 2"/>
          <p:cNvSpPr txBox="1"/>
          <p:nvPr/>
        </p:nvSpPr>
        <p:spPr>
          <a:xfrm>
            <a:off x="9098280" y="4956048"/>
            <a:ext cx="2316175" cy="384048"/>
          </a:xfrm>
          <a:prstGeom prst="rect">
            <a:avLst/>
          </a:prstGeom>
          <a:noFill/>
          <a:ln>
            <a:noFill/>
          </a:ln>
        </p:spPr>
        <p:txBody>
          <a:bodyPr wrap="square" lIns="0" tIns="0" rIns="0" bIns="0" anchor="ctr" rtlCol="0">
            <a:normAutofit/>
          </a:bodyPr>
          <a:lstStyle/>
          <a:p>
            <a:pPr algn="l">
              <a:spcAft>
                <a:spcPts val="0"/>
              </a:spcAft>
              <a:buNone/>
            </a:pPr>
            <a:r>
              <a:rPr lang="en-US" altLang="zh-CN" sz="1600" b="1" i="0" dirty="0">
                <a:solidFill>
                  <a:srgbClr val="FFFFFF"/>
                </a:solidFill>
                <a:latin typeface="Arial"/>
                <a:ea typeface="Microsoft YaHei"/>
                <a:cs typeface="Arial"/>
              </a:rPr>
              <a:t xml:space="preserve">Dissect </a:t>
            </a:r>
            <a:r>
              <a:rPr lang="en-US" altLang="zh-CN" sz="1200" b="0" i="0" dirty="0">
                <a:solidFill>
                  <a:srgbClr val="D9DAF5"/>
                </a:solidFill>
                <a:latin typeface="Arial"/>
                <a:ea typeface="Microsoft YaHei"/>
                <a:cs typeface="Arial"/>
              </a:rPr>
              <a:t>their causes and interactions</a:t>
            </a:r>
          </a:p>
        </p:txBody>
      </p:sp>
      <p:sp>
        <p:nvSpPr>
          <p:cNvPr id="35" name="Step number 3"/>
          <p:cNvSpPr txBox="1"/>
          <p:nvPr/>
        </p:nvSpPr>
        <p:spPr>
          <a:xfrm>
            <a:off x="8549640" y="5449824"/>
            <a:ext cx="502920" cy="384048"/>
          </a:xfrm>
          <a:prstGeom prst="rect">
            <a:avLst/>
          </a:prstGeom>
          <a:noFill/>
          <a:ln>
            <a:noFill/>
          </a:ln>
        </p:spPr>
        <p:txBody>
          <a:bodyPr wrap="square" lIns="0" tIns="0" rIns="0" bIns="0" anchor="ctr" rtlCol="0">
            <a:normAutofit/>
          </a:bodyPr>
          <a:lstStyle/>
          <a:p>
            <a:pPr algn="l">
              <a:spcAft>
                <a:spcPts val="0"/>
              </a:spcAft>
              <a:buNone/>
            </a:pPr>
            <a:r>
              <a:rPr lang="en-US" altLang="zh-CN" sz="1800" b="1" i="0" dirty="0">
                <a:solidFill>
                  <a:srgbClr val="F6B26B"/>
                </a:solidFill>
                <a:latin typeface="Arial"/>
                <a:ea typeface="Microsoft YaHei"/>
                <a:cs typeface="Arial"/>
              </a:rPr>
              <a:t>03</a:t>
            </a:r>
          </a:p>
        </p:txBody>
      </p:sp>
      <p:sp>
        <p:nvSpPr>
          <p:cNvPr id="36" name="Step text 3"/>
          <p:cNvSpPr txBox="1"/>
          <p:nvPr/>
        </p:nvSpPr>
        <p:spPr>
          <a:xfrm>
            <a:off x="9098280" y="5449824"/>
            <a:ext cx="2316175" cy="384048"/>
          </a:xfrm>
          <a:prstGeom prst="rect">
            <a:avLst/>
          </a:prstGeom>
          <a:noFill/>
          <a:ln>
            <a:noFill/>
          </a:ln>
        </p:spPr>
        <p:txBody>
          <a:bodyPr wrap="square" lIns="0" tIns="0" rIns="0" bIns="0" anchor="ctr" rtlCol="0">
            <a:normAutofit/>
          </a:bodyPr>
          <a:lstStyle/>
          <a:p>
            <a:pPr algn="l">
              <a:spcAft>
                <a:spcPts val="0"/>
              </a:spcAft>
              <a:buNone/>
            </a:pPr>
            <a:r>
              <a:rPr lang="en-US" altLang="zh-CN" sz="1600" b="1" i="0" dirty="0">
                <a:solidFill>
                  <a:srgbClr val="FFFFFF"/>
                </a:solidFill>
                <a:latin typeface="Arial"/>
                <a:ea typeface="Microsoft YaHei"/>
                <a:cs typeface="Arial"/>
              </a:rPr>
              <a:t xml:space="preserve">Devise </a:t>
            </a:r>
            <a:r>
              <a:rPr lang="en-US" altLang="zh-CN" sz="1200" b="0" i="0" dirty="0">
                <a:solidFill>
                  <a:srgbClr val="D9DAF5"/>
                </a:solidFill>
                <a:latin typeface="Arial"/>
                <a:ea typeface="Microsoft YaHei"/>
                <a:cs typeface="Arial"/>
              </a:rPr>
              <a:t>innovative solutions for cities</a:t>
            </a:r>
          </a:p>
        </p:txBody>
      </p:sp>
      <p:sp>
        <p:nvSpPr>
          <p:cNvPr id="901" name="Page number"/>
          <p:cNvSpPr txBox="1"/>
          <p:nvPr/>
        </p:nvSpPr>
        <p:spPr>
          <a:xfrm>
            <a:off x="10728655" y="6492240"/>
            <a:ext cx="914400" cy="237744"/>
          </a:xfrm>
          <a:prstGeom prst="rect">
            <a:avLst/>
          </a:prstGeom>
          <a:noFill/>
          <a:ln>
            <a:noFill/>
          </a:ln>
        </p:spPr>
        <p:txBody>
          <a:bodyPr wrap="square" lIns="0" tIns="0" rIns="0" bIns="0" anchor="ctr" rtlCol="0">
            <a:normAutofit/>
          </a:bodyPr>
          <a:lstStyle/>
          <a:p>
            <a:pPr algn="r">
              <a:spcAft>
                <a:spcPts val="0"/>
              </a:spcAft>
              <a:buNone/>
            </a:pPr>
            <a:r>
              <a:rPr lang="en-US" altLang="zh-CN" sz="1000" b="1" i="0" spc="100" dirty="0">
                <a:solidFill>
                  <a:srgbClr val="5B5D72"/>
                </a:solidFill>
                <a:latin typeface="Arial"/>
                <a:ea typeface="Microsoft YaHei"/>
                <a:cs typeface="Arial"/>
              </a:rPr>
              <a:t>03</a:t>
            </a:r>
          </a:p>
        </p:txBody>
      </p:sp>
    </p:spTree>
    <p:extLst>
      <p:ext uri="{BB962C8B-B14F-4D97-AF65-F5344CB8AC3E}">
        <p14:creationId xmlns:p14="http://schemas.microsoft.com/office/powerpoint/2010/main" val="528369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3"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4" name="Nav Background"/>
          <p:cNvSpPr/>
          <p:nvPr/>
        </p:nvSpPr>
        <p:spPr>
          <a:xfrm>
            <a:off x="4693615" y="109728"/>
            <a:ext cx="11887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Background</a:t>
            </a:r>
          </a:p>
        </p:txBody>
      </p:sp>
      <p:sp>
        <p:nvSpPr>
          <p:cNvPr id="5" name="Nav Vision"/>
          <p:cNvSpPr/>
          <p:nvPr/>
        </p:nvSpPr>
        <p:spPr>
          <a:xfrm>
            <a:off x="588233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Vision</a:t>
            </a:r>
          </a:p>
        </p:txBody>
      </p:sp>
      <p:sp>
        <p:nvSpPr>
          <p:cNvPr id="6" name="Nav Mission"/>
          <p:cNvSpPr/>
          <p:nvPr/>
        </p:nvSpPr>
        <p:spPr>
          <a:xfrm>
            <a:off x="6659575" y="109728"/>
            <a:ext cx="868680" cy="603504"/>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Mission</a:t>
            </a:r>
          </a:p>
        </p:txBody>
      </p:sp>
      <p:sp>
        <p:nvSpPr>
          <p:cNvPr id="7" name="Nav Topics"/>
          <p:cNvSpPr/>
          <p:nvPr/>
        </p:nvSpPr>
        <p:spPr>
          <a:xfrm>
            <a:off x="752825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Topics</a:t>
            </a:r>
          </a:p>
        </p:txBody>
      </p:sp>
      <p:sp>
        <p:nvSpPr>
          <p:cNvPr id="8" name="Nav Editorial Board"/>
          <p:cNvSpPr/>
          <p:nvPr/>
        </p:nvSpPr>
        <p:spPr>
          <a:xfrm>
            <a:off x="8305495" y="109728"/>
            <a:ext cx="14173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Editorial Board</a:t>
            </a:r>
          </a:p>
        </p:txBody>
      </p:sp>
      <p:sp>
        <p:nvSpPr>
          <p:cNvPr id="9" name="Nav Networks"/>
          <p:cNvSpPr/>
          <p:nvPr/>
        </p:nvSpPr>
        <p:spPr>
          <a:xfrm>
            <a:off x="9722815" y="109728"/>
            <a:ext cx="10058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Networks</a:t>
            </a:r>
          </a:p>
        </p:txBody>
      </p:sp>
      <p:sp>
        <p:nvSpPr>
          <p:cNvPr id="10" name="Nav Timeline"/>
          <p:cNvSpPr/>
          <p:nvPr/>
        </p:nvSpPr>
        <p:spPr>
          <a:xfrm>
            <a:off x="10728655" y="109728"/>
            <a:ext cx="91440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Timeline</a:t>
            </a:r>
          </a:p>
        </p:txBody>
      </p:sp>
      <p:sp>
        <p:nvSpPr>
          <p:cNvPr id="11" name="Kicker"/>
          <p:cNvSpPr txBox="1"/>
          <p:nvPr/>
        </p:nvSpPr>
        <p:spPr>
          <a:xfrm>
            <a:off x="548640" y="10972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WHAT WE WILL DO</a:t>
            </a:r>
          </a:p>
        </p:txBody>
      </p:sp>
      <p:sp>
        <p:nvSpPr>
          <p:cNvPr id="12" name="Title"/>
          <p:cNvSpPr txBox="1"/>
          <p:nvPr/>
        </p:nvSpPr>
        <p:spPr>
          <a:xfrm>
            <a:off x="548640" y="13716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Mission</a:t>
            </a:r>
          </a:p>
        </p:txBody>
      </p:sp>
      <p:sp>
        <p:nvSpPr>
          <p:cNvPr id="13" name="Mission statement"/>
          <p:cNvSpPr txBox="1"/>
          <p:nvPr/>
        </p:nvSpPr>
        <p:spPr>
          <a:xfrm>
            <a:off x="548640" y="2057400"/>
            <a:ext cx="11094415" cy="1143000"/>
          </a:xfrm>
          <a:prstGeom prst="rect">
            <a:avLst/>
          </a:prstGeom>
          <a:noFill/>
          <a:ln>
            <a:noFill/>
          </a:ln>
        </p:spPr>
        <p:txBody>
          <a:bodyPr wrap="square" lIns="0" tIns="0" rIns="0" bIns="0" anchor="t" rtlCol="0">
            <a:normAutofit/>
          </a:bodyPr>
          <a:lstStyle/>
          <a:p>
            <a:pPr algn="l">
              <a:lnSpc>
                <a:spcPct val="125000"/>
              </a:lnSpc>
              <a:spcAft>
                <a:spcPts val="0"/>
              </a:spcAft>
              <a:buNone/>
            </a:pPr>
            <a:r>
              <a:rPr lang="en-US" altLang="zh-CN" sz="1800" b="0" i="0" dirty="0">
                <a:solidFill>
                  <a:srgbClr val="1E1E2E"/>
                </a:solidFill>
                <a:latin typeface="Arial"/>
                <a:ea typeface="Microsoft YaHei"/>
                <a:cs typeface="Arial"/>
              </a:rPr>
              <a:t xml:space="preserve">The journal’s mission is to establish a </a:t>
            </a:r>
            <a:r>
              <a:rPr lang="en-US" altLang="zh-CN" sz="1800" b="1" i="0" dirty="0">
                <a:solidFill>
                  <a:srgbClr val="4245AF"/>
                </a:solidFill>
                <a:latin typeface="Arial"/>
                <a:ea typeface="Microsoft YaHei"/>
                <a:cs typeface="Arial"/>
              </a:rPr>
              <a:t>distinctive and authoritative international forum</a:t>
            </a:r>
            <a:r>
              <a:rPr lang="en-US" altLang="zh-CN" sz="1800" b="0" i="0" dirty="0">
                <a:solidFill>
                  <a:srgbClr val="1E1E2E"/>
                </a:solidFill>
                <a:latin typeface="Arial"/>
                <a:ea typeface="Microsoft YaHei"/>
                <a:cs typeface="Arial"/>
              </a:rPr>
              <a:t xml:space="preserve"> for pioneering interdisciplinary scholarship on the interdependent challenges of urban infrastructure, technological transformation, governance, and climate action.</a:t>
            </a:r>
          </a:p>
        </p:txBody>
      </p:sp>
      <p:sp>
        <p:nvSpPr>
          <p:cNvPr id="14" name="Goal card 1"/>
          <p:cNvSpPr/>
          <p:nvPr/>
        </p:nvSpPr>
        <p:spPr>
          <a:xfrm>
            <a:off x="548640" y="335584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15" name="Goal number 1"/>
          <p:cNvSpPr/>
          <p:nvPr/>
        </p:nvSpPr>
        <p:spPr>
          <a:xfrm>
            <a:off x="749808" y="352044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01</a:t>
            </a:r>
          </a:p>
        </p:txBody>
      </p:sp>
      <p:sp>
        <p:nvSpPr>
          <p:cNvPr id="16" name="Goal text 1"/>
          <p:cNvSpPr txBox="1"/>
          <p:nvPr/>
        </p:nvSpPr>
        <p:spPr>
          <a:xfrm>
            <a:off x="749808" y="403250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Advance interdisciplinary scientific understanding of cities</a:t>
            </a:r>
          </a:p>
        </p:txBody>
      </p:sp>
      <p:sp>
        <p:nvSpPr>
          <p:cNvPr id="17" name="Goal card 2"/>
          <p:cNvSpPr/>
          <p:nvPr/>
        </p:nvSpPr>
        <p:spPr>
          <a:xfrm>
            <a:off x="3379394" y="335584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18" name="Goal number 2"/>
          <p:cNvSpPr/>
          <p:nvPr/>
        </p:nvSpPr>
        <p:spPr>
          <a:xfrm>
            <a:off x="3580562" y="352044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02</a:t>
            </a:r>
          </a:p>
        </p:txBody>
      </p:sp>
      <p:sp>
        <p:nvSpPr>
          <p:cNvPr id="19" name="Goal text 2"/>
          <p:cNvSpPr txBox="1"/>
          <p:nvPr/>
        </p:nvSpPr>
        <p:spPr>
          <a:xfrm>
            <a:off x="3580562" y="403250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Promote innovation in urban infrastructure and engineering</a:t>
            </a:r>
          </a:p>
        </p:txBody>
      </p:sp>
      <p:sp>
        <p:nvSpPr>
          <p:cNvPr id="20" name="Goal card 3"/>
          <p:cNvSpPr/>
          <p:nvPr/>
        </p:nvSpPr>
        <p:spPr>
          <a:xfrm>
            <a:off x="6210148" y="335584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21" name="Goal number 3"/>
          <p:cNvSpPr/>
          <p:nvPr/>
        </p:nvSpPr>
        <p:spPr>
          <a:xfrm>
            <a:off x="6411316" y="352044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03</a:t>
            </a:r>
          </a:p>
        </p:txBody>
      </p:sp>
      <p:sp>
        <p:nvSpPr>
          <p:cNvPr id="22" name="Goal text 3"/>
          <p:cNvSpPr txBox="1"/>
          <p:nvPr/>
        </p:nvSpPr>
        <p:spPr>
          <a:xfrm>
            <a:off x="6411316" y="403250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Enable technological transformation of urban systems</a:t>
            </a:r>
          </a:p>
        </p:txBody>
      </p:sp>
      <p:sp>
        <p:nvSpPr>
          <p:cNvPr id="23" name="Goal card 4"/>
          <p:cNvSpPr/>
          <p:nvPr/>
        </p:nvSpPr>
        <p:spPr>
          <a:xfrm>
            <a:off x="9040901" y="335584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24" name="Goal number 4"/>
          <p:cNvSpPr/>
          <p:nvPr/>
        </p:nvSpPr>
        <p:spPr>
          <a:xfrm>
            <a:off x="9242069" y="352044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04</a:t>
            </a:r>
          </a:p>
        </p:txBody>
      </p:sp>
      <p:sp>
        <p:nvSpPr>
          <p:cNvPr id="25" name="Goal text 4"/>
          <p:cNvSpPr txBox="1"/>
          <p:nvPr/>
        </p:nvSpPr>
        <p:spPr>
          <a:xfrm>
            <a:off x="9242069" y="403250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Advance urban climate action and environmental resilience</a:t>
            </a:r>
          </a:p>
        </p:txBody>
      </p:sp>
      <p:sp>
        <p:nvSpPr>
          <p:cNvPr id="26" name="Goal card 5"/>
          <p:cNvSpPr/>
          <p:nvPr/>
        </p:nvSpPr>
        <p:spPr>
          <a:xfrm>
            <a:off x="548640" y="491032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27" name="Goal number 5"/>
          <p:cNvSpPr/>
          <p:nvPr/>
        </p:nvSpPr>
        <p:spPr>
          <a:xfrm>
            <a:off x="749808" y="507492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05</a:t>
            </a:r>
          </a:p>
        </p:txBody>
      </p:sp>
      <p:sp>
        <p:nvSpPr>
          <p:cNvPr id="28" name="Goal text 5"/>
          <p:cNvSpPr txBox="1"/>
          <p:nvPr/>
        </p:nvSpPr>
        <p:spPr>
          <a:xfrm>
            <a:off x="749808" y="558698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Understand how governance enables or constrains urban innovation</a:t>
            </a:r>
          </a:p>
        </p:txBody>
      </p:sp>
      <p:sp>
        <p:nvSpPr>
          <p:cNvPr id="29" name="Goal card 6"/>
          <p:cNvSpPr/>
          <p:nvPr/>
        </p:nvSpPr>
        <p:spPr>
          <a:xfrm>
            <a:off x="3379394" y="491032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30" name="Goal number 6"/>
          <p:cNvSpPr/>
          <p:nvPr/>
        </p:nvSpPr>
        <p:spPr>
          <a:xfrm>
            <a:off x="3580562" y="507492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06</a:t>
            </a:r>
          </a:p>
        </p:txBody>
      </p:sp>
      <p:sp>
        <p:nvSpPr>
          <p:cNvPr id="31" name="Goal text 6"/>
          <p:cNvSpPr txBox="1"/>
          <p:nvPr/>
        </p:nvSpPr>
        <p:spPr>
          <a:xfrm>
            <a:off x="3580562" y="558698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Generate comparative evidence and contextually responsive solutions</a:t>
            </a:r>
          </a:p>
        </p:txBody>
      </p:sp>
      <p:sp>
        <p:nvSpPr>
          <p:cNvPr id="32" name="Goal card 7"/>
          <p:cNvSpPr/>
          <p:nvPr/>
        </p:nvSpPr>
        <p:spPr>
          <a:xfrm>
            <a:off x="6210148" y="491032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33" name="Goal number 7"/>
          <p:cNvSpPr/>
          <p:nvPr/>
        </p:nvSpPr>
        <p:spPr>
          <a:xfrm>
            <a:off x="6411316" y="507492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07</a:t>
            </a:r>
          </a:p>
        </p:txBody>
      </p:sp>
      <p:sp>
        <p:nvSpPr>
          <p:cNvPr id="34" name="Goal text 7"/>
          <p:cNvSpPr txBox="1"/>
          <p:nvPr/>
        </p:nvSpPr>
        <p:spPr>
          <a:xfrm>
            <a:off x="6411316" y="558698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Accelerate translation from discovery to application</a:t>
            </a:r>
          </a:p>
        </p:txBody>
      </p:sp>
      <p:sp>
        <p:nvSpPr>
          <p:cNvPr id="35" name="Goal card 8"/>
          <p:cNvSpPr/>
          <p:nvPr/>
        </p:nvSpPr>
        <p:spPr>
          <a:xfrm>
            <a:off x="9040901" y="4910328"/>
            <a:ext cx="2602154" cy="1325880"/>
          </a:xfrm>
          <a:prstGeom prst="roundRect">
            <a:avLst>
              <a:gd name="adj" fmla="val 7000"/>
            </a:avLst>
          </a:prstGeom>
          <a:solidFill>
            <a:srgbClr val="4245AF"/>
          </a:solidFill>
          <a:ln>
            <a:noFill/>
          </a:ln>
        </p:spPr>
        <p:txBody>
          <a:bodyPr wrap="square" lIns="0" tIns="0" rIns="0" bIns="0" anchor="t" rtlCol="0">
            <a:normAutofit/>
          </a:bodyPr>
          <a:lstStyle/>
          <a:p>
            <a:endParaRPr lang="en-US"/>
          </a:p>
        </p:txBody>
      </p:sp>
      <p:sp>
        <p:nvSpPr>
          <p:cNvPr id="36" name="Goal number 8"/>
          <p:cNvSpPr/>
          <p:nvPr/>
        </p:nvSpPr>
        <p:spPr>
          <a:xfrm>
            <a:off x="9242069" y="5074920"/>
            <a:ext cx="420624" cy="420624"/>
          </a:xfrm>
          <a:prstGeom prst="ellipse">
            <a:avLst/>
          </a:prstGeom>
          <a:solidFill>
            <a:srgbClr val="FFFFFF"/>
          </a:solidFill>
          <a:ln>
            <a:noFill/>
          </a:ln>
        </p:spPr>
        <p:txBody>
          <a:bodyPr wrap="square" lIns="0" tIns="0" rIns="0" bIns="0" anchor="ctr" rtlCol="0">
            <a:normAutofit/>
          </a:bodyPr>
          <a:lstStyle/>
          <a:p>
            <a:pPr algn="ctr">
              <a:spcAft>
                <a:spcPts val="0"/>
              </a:spcAft>
              <a:buNone/>
            </a:pPr>
            <a:r>
              <a:rPr lang="en-US" altLang="zh-CN" sz="1300" b="1" i="0" dirty="0">
                <a:solidFill>
                  <a:srgbClr val="4245AF"/>
                </a:solidFill>
                <a:latin typeface="Arial"/>
                <a:ea typeface="Microsoft YaHei"/>
                <a:cs typeface="Arial"/>
              </a:rPr>
              <a:t>08</a:t>
            </a:r>
          </a:p>
        </p:txBody>
      </p:sp>
      <p:sp>
        <p:nvSpPr>
          <p:cNvPr id="37" name="Goal text 8"/>
          <p:cNvSpPr txBox="1"/>
          <p:nvPr/>
        </p:nvSpPr>
        <p:spPr>
          <a:xfrm>
            <a:off x="9242069" y="558698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FFFFFF"/>
                </a:solidFill>
                <a:latin typeface="Arial"/>
                <a:ea typeface="Microsoft YaHei"/>
                <a:cs typeface="Arial"/>
              </a:rPr>
              <a:t>Build a global community for urban innovation</a:t>
            </a:r>
          </a:p>
        </p:txBody>
      </p:sp>
      <p:sp>
        <p:nvSpPr>
          <p:cNvPr id="901" name="Page number"/>
          <p:cNvSpPr txBox="1"/>
          <p:nvPr/>
        </p:nvSpPr>
        <p:spPr>
          <a:xfrm>
            <a:off x="10728655" y="6492240"/>
            <a:ext cx="914400" cy="237744"/>
          </a:xfrm>
          <a:prstGeom prst="rect">
            <a:avLst/>
          </a:prstGeom>
          <a:noFill/>
          <a:ln>
            <a:noFill/>
          </a:ln>
        </p:spPr>
        <p:txBody>
          <a:bodyPr wrap="square" lIns="0" tIns="0" rIns="0" bIns="0" anchor="ctr" rtlCol="0">
            <a:normAutofit/>
          </a:bodyPr>
          <a:lstStyle/>
          <a:p>
            <a:pPr algn="r">
              <a:spcAft>
                <a:spcPts val="0"/>
              </a:spcAft>
              <a:buNone/>
            </a:pPr>
            <a:r>
              <a:rPr lang="en-US" altLang="zh-CN" sz="1000" b="1" i="0" spc="100" dirty="0">
                <a:solidFill>
                  <a:srgbClr val="5B5D72"/>
                </a:solidFill>
                <a:latin typeface="Arial"/>
                <a:ea typeface="Microsoft YaHei"/>
                <a:cs typeface="Arial"/>
              </a:rPr>
              <a:t>04</a:t>
            </a:r>
          </a:p>
        </p:txBody>
      </p:sp>
    </p:spTree>
    <p:extLst>
      <p:ext uri="{BB962C8B-B14F-4D97-AF65-F5344CB8AC3E}">
        <p14:creationId xmlns:p14="http://schemas.microsoft.com/office/powerpoint/2010/main" val="4062665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D9B29-DB17-AC6B-B91E-29C8480A2B52}"/>
            </a:ext>
          </a:extLst>
        </p:cNvPr>
        <p:cNvGrpSpPr/>
        <p:nvPr/>
      </p:nvGrpSpPr>
      <p:grpSpPr>
        <a:xfrm>
          <a:off x="0" y="0"/>
          <a:ext cx="0" cy="0"/>
          <a:chOff x="0" y="0"/>
          <a:chExt cx="0" cy="0"/>
        </a:xfrm>
      </p:grpSpPr>
      <p:sp>
        <p:nvSpPr>
          <p:cNvPr id="101"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102"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103" name="Nav Background"/>
          <p:cNvSpPr/>
          <p:nvPr/>
        </p:nvSpPr>
        <p:spPr>
          <a:xfrm>
            <a:off x="4693615" y="109728"/>
            <a:ext cx="11887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Background</a:t>
            </a:r>
          </a:p>
        </p:txBody>
      </p:sp>
      <p:sp>
        <p:nvSpPr>
          <p:cNvPr id="104" name="Nav Vision"/>
          <p:cNvSpPr/>
          <p:nvPr/>
        </p:nvSpPr>
        <p:spPr>
          <a:xfrm>
            <a:off x="588233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Vision</a:t>
            </a:r>
          </a:p>
        </p:txBody>
      </p:sp>
      <p:sp>
        <p:nvSpPr>
          <p:cNvPr id="105" name="Nav Mission"/>
          <p:cNvSpPr/>
          <p:nvPr/>
        </p:nvSpPr>
        <p:spPr>
          <a:xfrm>
            <a:off x="6659575" y="109728"/>
            <a:ext cx="86868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Mission</a:t>
            </a:r>
          </a:p>
        </p:txBody>
      </p:sp>
      <p:sp>
        <p:nvSpPr>
          <p:cNvPr id="106" name="Nav Topics"/>
          <p:cNvSpPr/>
          <p:nvPr/>
        </p:nvSpPr>
        <p:spPr>
          <a:xfrm>
            <a:off x="7528255" y="109728"/>
            <a:ext cx="777240" cy="603504"/>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Topics</a:t>
            </a:r>
          </a:p>
        </p:txBody>
      </p:sp>
      <p:sp>
        <p:nvSpPr>
          <p:cNvPr id="107" name="Nav Editorial Board"/>
          <p:cNvSpPr/>
          <p:nvPr/>
        </p:nvSpPr>
        <p:spPr>
          <a:xfrm>
            <a:off x="8305495" y="109728"/>
            <a:ext cx="14173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Editorial Board</a:t>
            </a:r>
          </a:p>
        </p:txBody>
      </p:sp>
      <p:sp>
        <p:nvSpPr>
          <p:cNvPr id="108" name="Nav Networks"/>
          <p:cNvSpPr/>
          <p:nvPr/>
        </p:nvSpPr>
        <p:spPr>
          <a:xfrm>
            <a:off x="9722815" y="109728"/>
            <a:ext cx="10058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Networks</a:t>
            </a:r>
          </a:p>
        </p:txBody>
      </p:sp>
      <p:sp>
        <p:nvSpPr>
          <p:cNvPr id="109" name="Nav Timeline"/>
          <p:cNvSpPr/>
          <p:nvPr/>
        </p:nvSpPr>
        <p:spPr>
          <a:xfrm>
            <a:off x="10728655" y="109728"/>
            <a:ext cx="91440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Timeline</a:t>
            </a:r>
          </a:p>
        </p:txBody>
      </p:sp>
      <p:sp>
        <p:nvSpPr>
          <p:cNvPr id="110" name="Kicker"/>
          <p:cNvSpPr txBox="1"/>
          <p:nvPr/>
        </p:nvSpPr>
        <p:spPr>
          <a:xfrm>
            <a:off x="548640" y="10972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WHAT WE PUBLISH</a:t>
            </a:r>
          </a:p>
        </p:txBody>
      </p:sp>
      <p:sp>
        <p:nvSpPr>
          <p:cNvPr id="111" name="Title"/>
          <p:cNvSpPr txBox="1"/>
          <p:nvPr/>
        </p:nvSpPr>
        <p:spPr>
          <a:xfrm>
            <a:off x="548640" y="13716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Topics of Interest</a:t>
            </a:r>
          </a:p>
        </p:txBody>
      </p:sp>
      <p:sp>
        <p:nvSpPr>
          <p:cNvPr id="112" name="Page number"/>
          <p:cNvSpPr txBox="1"/>
          <p:nvPr/>
        </p:nvSpPr>
        <p:spPr>
          <a:xfrm>
            <a:off x="10728655" y="6492240"/>
            <a:ext cx="914400" cy="237744"/>
          </a:xfrm>
          <a:prstGeom prst="rect">
            <a:avLst/>
          </a:prstGeom>
          <a:noFill/>
          <a:ln>
            <a:noFill/>
          </a:ln>
        </p:spPr>
        <p:txBody>
          <a:bodyPr wrap="square" lIns="0" tIns="0" rIns="0" bIns="0" anchor="ctr" rtlCol="0">
            <a:normAutofit/>
          </a:bodyPr>
          <a:lstStyle/>
          <a:p>
            <a:pPr algn="r">
              <a:spcAft>
                <a:spcPts val="0"/>
              </a:spcAft>
              <a:buNone/>
            </a:pPr>
            <a:r>
              <a:rPr lang="en-US" altLang="zh-CN" sz="1000" b="1" i="0" spc="100" dirty="0">
                <a:solidFill>
                  <a:srgbClr val="5B5D72"/>
                </a:solidFill>
                <a:latin typeface="Arial"/>
                <a:ea typeface="Microsoft YaHei"/>
                <a:cs typeface="Arial"/>
              </a:rPr>
              <a:t>05</a:t>
            </a:r>
          </a:p>
        </p:txBody>
      </p:sp>
      <p:graphicFrame>
        <p:nvGraphicFramePr>
          <p:cNvPr id="4" name="表格 3">
            <a:extLst>
              <a:ext uri="{FF2B5EF4-FFF2-40B4-BE49-F238E27FC236}">
                <a16:creationId xmlns:a16="http://schemas.microsoft.com/office/drawing/2014/main" id="{C00B6AD1-662E-E372-1EE6-EB1C7ECCD650}"/>
              </a:ext>
            </a:extLst>
          </p:cNvPr>
          <p:cNvGraphicFramePr>
            <a:graphicFrameLocks noGrp="1"/>
          </p:cNvGraphicFramePr>
          <p:nvPr>
            <p:extLst>
              <p:ext uri="{D42A27DB-BD31-4B8C-83A1-F6EECF244321}">
                <p14:modId xmlns:p14="http://schemas.microsoft.com/office/powerpoint/2010/main" val="3029594399"/>
              </p:ext>
            </p:extLst>
          </p:nvPr>
        </p:nvGraphicFramePr>
        <p:xfrm>
          <a:off x="548640" y="2103120"/>
          <a:ext cx="11094415" cy="4160520"/>
        </p:xfrm>
        <a:graphic>
          <a:graphicData uri="http://schemas.openxmlformats.org/drawingml/2006/table">
            <a:tbl>
              <a:tblPr firstRow="1" bandRow="1">
                <a:tableStyleId>{5C22544A-7EE6-4342-B048-85BDC9FD1C3A}</a:tableStyleId>
              </a:tblPr>
              <a:tblGrid>
                <a:gridCol w="3566160">
                  <a:extLst>
                    <a:ext uri="{9D8B030D-6E8A-4147-A177-3AD203B41FA5}">
                      <a16:colId xmlns:a16="http://schemas.microsoft.com/office/drawing/2014/main" val="1018197210"/>
                    </a:ext>
                  </a:extLst>
                </a:gridCol>
                <a:gridCol w="7528255">
                  <a:extLst>
                    <a:ext uri="{9D8B030D-6E8A-4147-A177-3AD203B41FA5}">
                      <a16:colId xmlns:a16="http://schemas.microsoft.com/office/drawing/2014/main" val="1709403564"/>
                    </a:ext>
                  </a:extLst>
                </a:gridCol>
              </a:tblGrid>
              <a:tr h="384048">
                <a:tc>
                  <a:txBody>
                    <a:bodyPr/>
                    <a:lstStyle/>
                    <a:p>
                      <a:pPr algn="l" fontAlgn="ctr">
                        <a:buNone/>
                      </a:pPr>
                      <a:r>
                        <a:rPr lang="en-US" altLang="zh-CN" sz="1300" b="1" i="0" u="none" strike="noStrike" dirty="0">
                          <a:solidFill>
                            <a:srgbClr val="FFFFFF"/>
                          </a:solidFill>
                          <a:effectLst/>
                          <a:latin typeface="Arial"/>
                          <a:ea typeface="等线" panose="02010600030101010101" pitchFamily="2" charset="-122"/>
                          <a:cs typeface="Arial"/>
                        </a:rPr>
                        <a:t>Topics</a:t>
                      </a:r>
                      <a:endParaRPr lang="zh-CN" sz="1300" b="1" i="0" u="none" strike="noStrike" dirty="0">
                        <a:solidFill>
                          <a:srgbClr val="FFFFFF"/>
                        </a:solidFill>
                        <a:effectLst/>
                        <a:latin typeface="Arial"/>
                        <a:ea typeface="等线" panose="02010600030101010101" pitchFamily="2" charset="-122"/>
                        <a:cs typeface="Arial"/>
                      </a:endParaRPr>
                    </a:p>
                  </a:txBody>
                  <a:tcPr marL="137160" marR="137160" marT="45720" marB="45720" anchor="ctr">
                    <a:lnL w="0">
                      <a:noFill/>
                    </a:lnL>
                    <a:lnR w="0">
                      <a:noFill/>
                    </a:lnR>
                    <a:lnT w="9525">
                      <a:solidFill>
                        <a:srgbClr val="4245AF"/>
                      </a:solidFill>
                    </a:lnT>
                    <a:lnB w="9525">
                      <a:solidFill>
                        <a:srgbClr val="4245AF"/>
                      </a:solidFill>
                    </a:lnB>
                    <a:solidFill>
                      <a:srgbClr val="4245AF"/>
                    </a:solidFill>
                  </a:tcPr>
                </a:tc>
                <a:tc>
                  <a:txBody>
                    <a:bodyPr/>
                    <a:lstStyle/>
                    <a:p>
                      <a:pPr algn="l" fontAlgn="ctr">
                        <a:buNone/>
                      </a:pPr>
                      <a:r>
                        <a:rPr lang="en-US" altLang="zh-CN" sz="1300" b="1" i="0" u="none" strike="noStrike" dirty="0">
                          <a:solidFill>
                            <a:srgbClr val="FFFFFF"/>
                          </a:solidFill>
                          <a:effectLst/>
                          <a:latin typeface="Arial"/>
                          <a:ea typeface="等线" panose="02010600030101010101" pitchFamily="2" charset="-122"/>
                          <a:cs typeface="Arial"/>
                        </a:rPr>
                        <a:t>Examples</a:t>
                      </a:r>
                      <a:endParaRPr lang="zh-CN" sz="1300" b="1" i="0" u="none" strike="noStrike" dirty="0">
                        <a:solidFill>
                          <a:srgbClr val="FFFFFF"/>
                        </a:solidFill>
                        <a:effectLst/>
                        <a:latin typeface="Arial"/>
                        <a:ea typeface="等线" panose="02010600030101010101" pitchFamily="2" charset="-122"/>
                        <a:cs typeface="Arial"/>
                      </a:endParaRPr>
                    </a:p>
                  </a:txBody>
                  <a:tcPr marL="137160" marR="137160" marT="45720" marB="45720" anchor="ctr">
                    <a:lnL w="0">
                      <a:noFill/>
                    </a:lnL>
                    <a:lnR w="0">
                      <a:noFill/>
                    </a:lnR>
                    <a:lnT w="9525">
                      <a:solidFill>
                        <a:srgbClr val="4245AF"/>
                      </a:solidFill>
                    </a:lnT>
                    <a:lnB w="9525">
                      <a:solidFill>
                        <a:srgbClr val="4245AF"/>
                      </a:solidFill>
                    </a:lnB>
                    <a:solidFill>
                      <a:srgbClr val="4245AF"/>
                    </a:solidFill>
                  </a:tcPr>
                </a:tc>
                <a:extLst>
                  <a:ext uri="{0D108BD9-81ED-4DB2-BD59-A6C34878D82A}">
                    <a16:rowId xmlns:a16="http://schemas.microsoft.com/office/drawing/2014/main" val="576482981"/>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Urban Infrastructure and Engineering</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tc>
                  <a:txBody>
                    <a:bodyPr/>
                    <a:lstStyle/>
                    <a:p>
                      <a:pPr algn="l" fontAlgn="ctr">
                        <a:buNone/>
                      </a:pPr>
                      <a:r>
                        <a:rPr lang="zh-CN" sz="1150" b="0" i="0" u="none" strike="noStrike" dirty="0">
                          <a:solidFill>
                            <a:srgbClr val="1E1E2E"/>
                          </a:solidFill>
                          <a:effectLst/>
                          <a:latin typeface="Arial"/>
                          <a:ea typeface="等线" panose="02010600030101010101" pitchFamily="2" charset="-122"/>
                          <a:cs typeface="Arial"/>
                        </a:rPr>
                        <a:t>Renewal of aging urban infrastructure; engineering solutions for dense urban environments; coordinated design and operation of urban infrastructure networks</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extLst>
                  <a:ext uri="{0D108BD9-81ED-4DB2-BD59-A6C34878D82A}">
                    <a16:rowId xmlns:a16="http://schemas.microsoft.com/office/drawing/2014/main" val="3496641808"/>
                  </a:ext>
                </a:extLst>
              </a:tr>
              <a:tr h="462280">
                <a:tc>
                  <a:txBody>
                    <a:bodyPr/>
                    <a:lstStyle/>
                    <a:p>
                      <a:pPr algn="l" fontAlgn="ctr">
                        <a:buNone/>
                      </a:pPr>
                      <a:r>
                        <a:rPr lang="zh-CN" sz="1300" b="1" i="0" u="none" strike="noStrike">
                          <a:solidFill>
                            <a:srgbClr val="2E3192"/>
                          </a:solidFill>
                          <a:effectLst/>
                          <a:latin typeface="Arial"/>
                          <a:ea typeface="等线" panose="02010600030101010101" pitchFamily="2" charset="-122"/>
                          <a:cs typeface="Arial"/>
                        </a:rPr>
                        <a:t>Urban Technologies and Intelligent Systems</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tc>
                  <a:txBody>
                    <a:bodyPr/>
                    <a:lstStyle/>
                    <a:p>
                      <a:pPr algn="l" fontAlgn="ctr">
                        <a:buNone/>
                      </a:pPr>
                      <a:r>
                        <a:rPr lang="zh-CN" sz="1150" b="0" i="0" u="none" strike="noStrike">
                          <a:solidFill>
                            <a:srgbClr val="1E1E2E"/>
                          </a:solidFill>
                          <a:effectLst/>
                          <a:latin typeface="Arial"/>
                          <a:ea typeface="等线" panose="02010600030101010101" pitchFamily="2" charset="-122"/>
                          <a:cs typeface="Arial"/>
                        </a:rPr>
                        <a:t>City-scale sensing and digital twins; AI and robotics for urban services and infrastructure operations; development and validation of technologies in urban settings</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extLst>
                  <a:ext uri="{0D108BD9-81ED-4DB2-BD59-A6C34878D82A}">
                    <a16:rowId xmlns:a16="http://schemas.microsoft.com/office/drawing/2014/main" val="2540801131"/>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Climate Action and Urban Resilience</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tc>
                  <a:txBody>
                    <a:bodyPr/>
                    <a:lstStyle/>
                    <a:p>
                      <a:pPr algn="l" fontAlgn="ctr">
                        <a:buNone/>
                      </a:pPr>
                      <a:r>
                        <a:rPr lang="en-US" altLang="zh-CN" sz="1150" b="0" i="0" u="none" strike="noStrike" kern="1200" dirty="0">
                          <a:solidFill>
                            <a:srgbClr val="1E1E2E"/>
                          </a:solidFill>
                          <a:effectLst/>
                          <a:latin typeface="Arial"/>
                          <a:ea typeface="等线" panose="02010600030101010101" pitchFamily="2" charset="-122"/>
                          <a:cs typeface="Arial"/>
                        </a:rPr>
                        <a:t>Urban heat and flood risks; adaptation through urban design, infrastructure, and nature-based solutions; decarbonization pathways for cities</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extLst>
                  <a:ext uri="{0D108BD9-81ED-4DB2-BD59-A6C34878D82A}">
                    <a16:rowId xmlns:a16="http://schemas.microsoft.com/office/drawing/2014/main" val="4173849211"/>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Buildings, Energy, and the Built Environment</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CN" altLang="zh-CN" sz="1150" b="0" i="0" u="none" strike="noStrike" kern="1200" dirty="0">
                          <a:solidFill>
                            <a:srgbClr val="1E1E2E"/>
                          </a:solidFill>
                          <a:effectLst/>
                          <a:latin typeface="Arial"/>
                          <a:ea typeface="等线" panose="02010600030101010101" pitchFamily="2" charset="-122"/>
                          <a:cs typeface="Arial"/>
                        </a:rPr>
                        <a:t>Effects of urban form and climate on building energy use;</a:t>
                      </a:r>
                      <a:r>
                        <a:rPr lang="en-US" altLang="zh-CN" sz="1150" b="0" i="0" u="none" strike="noStrike" kern="1200" dirty="0">
                          <a:solidFill>
                            <a:srgbClr val="1E1E2E"/>
                          </a:solidFill>
                          <a:effectLst/>
                          <a:latin typeface="Arial"/>
                          <a:ea typeface="等线" panose="02010600030101010101" pitchFamily="2" charset="-122"/>
                          <a:cs typeface="Arial"/>
                        </a:rPr>
                        <a:t> Building–neighbourhood–city energy interactions; urban retrofits; urban indoor–outdoor environmental quality</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extLst>
                  <a:ext uri="{0D108BD9-81ED-4DB2-BD59-A6C34878D82A}">
                    <a16:rowId xmlns:a16="http://schemas.microsoft.com/office/drawing/2014/main" val="457600358"/>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Urban Mobility and Transportation</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tc>
                  <a:txBody>
                    <a:bodyPr/>
                    <a:lstStyle/>
                    <a:p>
                      <a:pPr algn="l" fontAlgn="ctr">
                        <a:buNone/>
                      </a:pPr>
                      <a:r>
                        <a:rPr lang="zh-CN" sz="1150" b="0" i="0" u="none" strike="noStrike">
                          <a:solidFill>
                            <a:srgbClr val="1E1E2E"/>
                          </a:solidFill>
                          <a:effectLst/>
                          <a:latin typeface="Arial"/>
                          <a:ea typeface="等线" panose="02010600030101010101" pitchFamily="2" charset="-122"/>
                          <a:cs typeface="Arial"/>
                        </a:rPr>
                        <a:t>Interactions between urban form and mobility; integration of multimodal urban transport networks; effects of mobility innovations on accessibility, energy use, and emissions</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extLst>
                  <a:ext uri="{0D108BD9-81ED-4DB2-BD59-A6C34878D82A}">
                    <a16:rowId xmlns:a16="http://schemas.microsoft.com/office/drawing/2014/main" val="2530514524"/>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Urban Environment, Resources, and Health</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tc>
                  <a:txBody>
                    <a:bodyPr/>
                    <a:lstStyle/>
                    <a:p>
                      <a:pPr algn="l" fontAlgn="ctr">
                        <a:buNone/>
                      </a:pPr>
                      <a:r>
                        <a:rPr lang="zh-CN" sz="1150" b="0" i="0" u="none" strike="noStrike">
                          <a:solidFill>
                            <a:srgbClr val="1E1E2E"/>
                          </a:solidFill>
                          <a:effectLst/>
                          <a:latin typeface="Arial"/>
                          <a:ea typeface="等线" panose="02010600030101010101" pitchFamily="2" charset="-122"/>
                          <a:cs typeface="Arial"/>
                        </a:rPr>
                        <a:t>Urban water–energy–waste linkages; circular resource flows within and across cities; relationships between urban form, environmental exposure, and health</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extLst>
                  <a:ext uri="{0D108BD9-81ED-4DB2-BD59-A6C34878D82A}">
                    <a16:rowId xmlns:a16="http://schemas.microsoft.com/office/drawing/2014/main" val="3451591153"/>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Urban Systems, Complexity, and Transformation</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tc>
                  <a:txBody>
                    <a:bodyPr/>
                    <a:lstStyle/>
                    <a:p>
                      <a:pPr algn="l" fontAlgn="ctr">
                        <a:buNone/>
                      </a:pPr>
                      <a:r>
                        <a:rPr lang="zh-CN" sz="1150" b="0" i="0" u="none" strike="noStrike">
                          <a:solidFill>
                            <a:srgbClr val="1E1E2E"/>
                          </a:solidFill>
                          <a:effectLst/>
                          <a:latin typeface="Arial"/>
                          <a:ea typeface="等线" panose="02010600030101010101" pitchFamily="2" charset="-122"/>
                          <a:cs typeface="Arial"/>
                        </a:rPr>
                        <a:t>Urban scaling and metabolism; cascading failures across interconnected urban networks; technological and infrastructural pathways of urban transformation</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extLst>
                  <a:ext uri="{0D108BD9-81ED-4DB2-BD59-A6C34878D82A}">
                    <a16:rowId xmlns:a16="http://schemas.microsoft.com/office/drawing/2014/main" val="1315607444"/>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Governance, Planning, and Policy for Urban Innovation</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tc>
                  <a:txBody>
                    <a:bodyPr/>
                    <a:lstStyle/>
                    <a:p>
                      <a:pPr algn="l" fontAlgn="ctr">
                        <a:buNone/>
                      </a:pPr>
                      <a:r>
                        <a:rPr lang="zh-CN" sz="1150" b="0" i="0" u="none" strike="noStrike" dirty="0">
                          <a:solidFill>
                            <a:srgbClr val="1E1E2E"/>
                          </a:solidFill>
                          <a:effectLst/>
                          <a:latin typeface="Arial"/>
                          <a:ea typeface="等线" panose="02010600030101010101" pitchFamily="2" charset="-122"/>
                          <a:cs typeface="Arial"/>
                        </a:rPr>
                        <a:t>Planning and regulation for urban technology deployment; governance of integrated infrastructure systems; evaluation and adaptation of innovations across diverse cities</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extLst>
                  <a:ext uri="{0D108BD9-81ED-4DB2-BD59-A6C34878D82A}">
                    <a16:rowId xmlns:a16="http://schemas.microsoft.com/office/drawing/2014/main" val="965057857"/>
                  </a:ext>
                </a:extLst>
              </a:tr>
            </a:tbl>
          </a:graphicData>
        </a:graphic>
      </p:graphicFrame>
    </p:spTree>
    <p:extLst>
      <p:ext uri="{BB962C8B-B14F-4D97-AF65-F5344CB8AC3E}">
        <p14:creationId xmlns:p14="http://schemas.microsoft.com/office/powerpoint/2010/main" val="2515479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3"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4" name="Nav Background"/>
          <p:cNvSpPr/>
          <p:nvPr/>
        </p:nvSpPr>
        <p:spPr>
          <a:xfrm>
            <a:off x="4693615" y="109728"/>
            <a:ext cx="11887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Background</a:t>
            </a:r>
          </a:p>
        </p:txBody>
      </p:sp>
      <p:sp>
        <p:nvSpPr>
          <p:cNvPr id="5" name="Nav Vision"/>
          <p:cNvSpPr/>
          <p:nvPr/>
        </p:nvSpPr>
        <p:spPr>
          <a:xfrm>
            <a:off x="588233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Vision</a:t>
            </a:r>
          </a:p>
        </p:txBody>
      </p:sp>
      <p:sp>
        <p:nvSpPr>
          <p:cNvPr id="6" name="Nav Mission"/>
          <p:cNvSpPr/>
          <p:nvPr/>
        </p:nvSpPr>
        <p:spPr>
          <a:xfrm>
            <a:off x="6659575" y="109728"/>
            <a:ext cx="86868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Mission</a:t>
            </a:r>
          </a:p>
        </p:txBody>
      </p:sp>
      <p:sp>
        <p:nvSpPr>
          <p:cNvPr id="7" name="Nav Topics"/>
          <p:cNvSpPr/>
          <p:nvPr/>
        </p:nvSpPr>
        <p:spPr>
          <a:xfrm>
            <a:off x="752825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Topics</a:t>
            </a:r>
          </a:p>
        </p:txBody>
      </p:sp>
      <p:sp>
        <p:nvSpPr>
          <p:cNvPr id="8" name="Nav Editorial Board"/>
          <p:cNvSpPr/>
          <p:nvPr/>
        </p:nvSpPr>
        <p:spPr>
          <a:xfrm>
            <a:off x="8305495" y="109728"/>
            <a:ext cx="1417320" cy="603504"/>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Editorial Board</a:t>
            </a:r>
          </a:p>
        </p:txBody>
      </p:sp>
      <p:sp>
        <p:nvSpPr>
          <p:cNvPr id="9" name="Nav Networks"/>
          <p:cNvSpPr/>
          <p:nvPr/>
        </p:nvSpPr>
        <p:spPr>
          <a:xfrm>
            <a:off x="9722815" y="109728"/>
            <a:ext cx="10058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Networks</a:t>
            </a:r>
          </a:p>
        </p:txBody>
      </p:sp>
      <p:sp>
        <p:nvSpPr>
          <p:cNvPr id="10" name="Nav Timeline"/>
          <p:cNvSpPr/>
          <p:nvPr/>
        </p:nvSpPr>
        <p:spPr>
          <a:xfrm>
            <a:off x="10728655" y="109728"/>
            <a:ext cx="91440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Timeline</a:t>
            </a:r>
          </a:p>
        </p:txBody>
      </p:sp>
      <p:sp>
        <p:nvSpPr>
          <p:cNvPr id="11" name="Kicker"/>
          <p:cNvSpPr txBox="1"/>
          <p:nvPr/>
        </p:nvSpPr>
        <p:spPr>
          <a:xfrm>
            <a:off x="548640" y="10972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EDITORIAL LEADERSHIP</a:t>
            </a:r>
          </a:p>
        </p:txBody>
      </p:sp>
      <p:sp>
        <p:nvSpPr>
          <p:cNvPr id="12" name="Title"/>
          <p:cNvSpPr txBox="1"/>
          <p:nvPr/>
        </p:nvSpPr>
        <p:spPr>
          <a:xfrm>
            <a:off x="548640" y="13716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Editor-in-Chief &amp; Managing Editors</a:t>
            </a:r>
          </a:p>
        </p:txBody>
      </p:sp>
      <p:sp>
        <p:nvSpPr>
          <p:cNvPr id="13" name="Group Editors-in-Chief"/>
          <p:cNvSpPr txBox="1"/>
          <p:nvPr/>
        </p:nvSpPr>
        <p:spPr>
          <a:xfrm>
            <a:off x="548640" y="2057400"/>
            <a:ext cx="7315200" cy="237744"/>
          </a:xfrm>
          <a:prstGeom prst="rect">
            <a:avLst/>
          </a:prstGeom>
          <a:noFill/>
          <a:ln>
            <a:noFill/>
          </a:ln>
        </p:spPr>
        <p:txBody>
          <a:bodyPr wrap="square" lIns="0" tIns="0" rIns="0" bIns="0" anchor="ctr" rtlCol="0">
            <a:normAutofit/>
          </a:bodyPr>
          <a:lstStyle/>
          <a:p>
            <a:pPr algn="l">
              <a:spcAft>
                <a:spcPts val="0"/>
              </a:spcAft>
              <a:buNone/>
            </a:pPr>
            <a:r>
              <a:rPr lang="en-US" altLang="zh-CN" sz="1100" b="1" i="0" spc="100" dirty="0">
                <a:solidFill>
                  <a:srgbClr val="E5532D"/>
                </a:solidFill>
                <a:latin typeface="Arial"/>
                <a:ea typeface="Microsoft YaHei"/>
                <a:cs typeface="Arial"/>
              </a:rPr>
              <a:t>EDITORS-IN-CHIEF</a:t>
            </a:r>
            <a:r>
              <a:rPr lang="en-US" altLang="zh-CN" sz="1100" b="1" i="0" dirty="0">
                <a:solidFill>
                  <a:srgbClr val="E5532D"/>
                </a:solidFill>
                <a:latin typeface="Arial"/>
                <a:ea typeface="Microsoft YaHei"/>
                <a:cs typeface="Arial"/>
              </a:rPr>
              <a:t xml:space="preserve">  主编</a:t>
            </a:r>
          </a:p>
        </p:txBody>
      </p:sp>
      <p:sp>
        <p:nvSpPr>
          <p:cNvPr id="14" name="EIC card Prof. Shenjing He"/>
          <p:cNvSpPr/>
          <p:nvPr/>
        </p:nvSpPr>
        <p:spPr>
          <a:xfrm>
            <a:off x="548640" y="2350008"/>
            <a:ext cx="5410048" cy="17830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15" name="Prof. Shenjing He" descr="Prof. Shenjing He"/>
          <p:cNvPicPr>
            <a:picLocks noChangeAspect="1"/>
          </p:cNvPicPr>
          <p:nvPr/>
        </p:nvPicPr>
        <p:blipFill>
          <a:blip r:embed="rId2"/>
          <a:stretch>
            <a:fillRect/>
          </a:stretch>
        </p:blipFill>
        <p:spPr>
          <a:xfrm>
            <a:off x="804672" y="2532888"/>
            <a:ext cx="1417320" cy="1417320"/>
          </a:xfrm>
          <a:prstGeom prst="ellipse">
            <a:avLst/>
          </a:prstGeom>
          <a:ln w="12700">
            <a:solidFill>
              <a:srgbClr val="4245AF"/>
            </a:solidFill>
          </a:ln>
        </p:spPr>
      </p:pic>
      <p:sp>
        <p:nvSpPr>
          <p:cNvPr id="16" name="EIC text Prof. Shenjing He"/>
          <p:cNvSpPr txBox="1"/>
          <p:nvPr/>
        </p:nvSpPr>
        <p:spPr>
          <a:xfrm>
            <a:off x="2514600" y="2532888"/>
            <a:ext cx="3215488" cy="1417320"/>
          </a:xfrm>
          <a:prstGeom prst="rect">
            <a:avLst/>
          </a:prstGeom>
          <a:noFill/>
          <a:ln>
            <a:noFill/>
          </a:ln>
        </p:spPr>
        <p:txBody>
          <a:bodyPr wrap="square" lIns="0" tIns="0" rIns="0" bIns="0" anchor="ctr" rtlCol="0">
            <a:normAutofit/>
          </a:bodyPr>
          <a:lstStyle/>
          <a:p>
            <a:pPr algn="l">
              <a:spcAft>
                <a:spcPts val="400"/>
              </a:spcAft>
              <a:buNone/>
            </a:pPr>
            <a:r>
              <a:rPr lang="en-US" altLang="zh-CN" sz="2000" b="1" i="0" spc="20" dirty="0">
                <a:solidFill>
                  <a:srgbClr val="1E1E2E"/>
                </a:solidFill>
                <a:latin typeface="Arial"/>
                <a:ea typeface="Microsoft YaHei"/>
                <a:cs typeface="Arial"/>
              </a:rPr>
              <a:t>Prof. Shenjing He</a:t>
            </a:r>
          </a:p>
          <a:p>
            <a:pPr algn="l">
              <a:lnSpc>
                <a:spcPct val="128000"/>
              </a:lnSpc>
              <a:spcAft>
                <a:spcPts val="0"/>
              </a:spcAft>
              <a:buNone/>
            </a:pPr>
            <a:r>
              <a:rPr lang="en-US" altLang="zh-CN" sz="1300" b="0" i="0" dirty="0">
                <a:solidFill>
                  <a:srgbClr val="4245AF"/>
                </a:solidFill>
                <a:latin typeface="Arial"/>
                <a:ea typeface="Microsoft YaHei"/>
                <a:cs typeface="Arial"/>
              </a:rPr>
              <a:t>The University of Hong Kong</a:t>
            </a:r>
          </a:p>
        </p:txBody>
      </p:sp>
      <p:sp>
        <p:nvSpPr>
          <p:cNvPr id="17" name="EIC card Prof. Filip Biljecki"/>
          <p:cNvSpPr/>
          <p:nvPr/>
        </p:nvSpPr>
        <p:spPr>
          <a:xfrm>
            <a:off x="6233008" y="2350008"/>
            <a:ext cx="5410048" cy="17830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18" name="Prof. Filip Biljecki" descr="Prof. Filip Biljecki"/>
          <p:cNvPicPr>
            <a:picLocks noChangeAspect="1"/>
          </p:cNvPicPr>
          <p:nvPr/>
        </p:nvPicPr>
        <p:blipFill>
          <a:blip r:embed="rId3"/>
          <a:stretch>
            <a:fillRect/>
          </a:stretch>
        </p:blipFill>
        <p:spPr>
          <a:xfrm>
            <a:off x="6489040" y="2532888"/>
            <a:ext cx="1417320" cy="1417320"/>
          </a:xfrm>
          <a:prstGeom prst="ellipse">
            <a:avLst/>
          </a:prstGeom>
          <a:ln w="12700">
            <a:solidFill>
              <a:srgbClr val="4245AF"/>
            </a:solidFill>
          </a:ln>
        </p:spPr>
      </p:pic>
      <p:sp>
        <p:nvSpPr>
          <p:cNvPr id="19" name="EIC text Prof. Filip Biljecki"/>
          <p:cNvSpPr txBox="1"/>
          <p:nvPr/>
        </p:nvSpPr>
        <p:spPr>
          <a:xfrm>
            <a:off x="8198968" y="2532888"/>
            <a:ext cx="3215488" cy="1417320"/>
          </a:xfrm>
          <a:prstGeom prst="rect">
            <a:avLst/>
          </a:prstGeom>
          <a:noFill/>
          <a:ln>
            <a:noFill/>
          </a:ln>
        </p:spPr>
        <p:txBody>
          <a:bodyPr wrap="square" lIns="0" tIns="0" rIns="0" bIns="0" anchor="ctr" rtlCol="0">
            <a:normAutofit/>
          </a:bodyPr>
          <a:lstStyle/>
          <a:p>
            <a:pPr algn="l">
              <a:spcAft>
                <a:spcPts val="400"/>
              </a:spcAft>
              <a:buNone/>
            </a:pPr>
            <a:r>
              <a:rPr lang="en-US" altLang="zh-CN" sz="2000" b="1" i="0" spc="20" dirty="0">
                <a:solidFill>
                  <a:srgbClr val="1E1E2E"/>
                </a:solidFill>
                <a:latin typeface="Arial"/>
                <a:ea typeface="Microsoft YaHei"/>
                <a:cs typeface="Arial"/>
              </a:rPr>
              <a:t>Prof. Filip Biljecki</a:t>
            </a:r>
          </a:p>
          <a:p>
            <a:pPr algn="l">
              <a:lnSpc>
                <a:spcPct val="128000"/>
              </a:lnSpc>
              <a:spcAft>
                <a:spcPts val="0"/>
              </a:spcAft>
              <a:buNone/>
            </a:pPr>
            <a:r>
              <a:rPr lang="en-US" altLang="zh-CN" sz="1300" b="0" i="0" dirty="0">
                <a:solidFill>
                  <a:srgbClr val="4245AF"/>
                </a:solidFill>
                <a:latin typeface="Arial"/>
                <a:ea typeface="Microsoft YaHei"/>
                <a:cs typeface="Arial"/>
              </a:rPr>
              <a:t>National University of Singapore</a:t>
            </a:r>
          </a:p>
        </p:txBody>
      </p:sp>
      <p:sp>
        <p:nvSpPr>
          <p:cNvPr id="20" name="Group Managing Editors"/>
          <p:cNvSpPr txBox="1"/>
          <p:nvPr/>
        </p:nvSpPr>
        <p:spPr>
          <a:xfrm>
            <a:off x="548640" y="4315968"/>
            <a:ext cx="7315200" cy="237744"/>
          </a:xfrm>
          <a:prstGeom prst="rect">
            <a:avLst/>
          </a:prstGeom>
          <a:noFill/>
          <a:ln>
            <a:noFill/>
          </a:ln>
        </p:spPr>
        <p:txBody>
          <a:bodyPr wrap="square" lIns="0" tIns="0" rIns="0" bIns="0" anchor="ctr" rtlCol="0">
            <a:normAutofit/>
          </a:bodyPr>
          <a:lstStyle/>
          <a:p>
            <a:pPr algn="l">
              <a:spcAft>
                <a:spcPts val="0"/>
              </a:spcAft>
              <a:buNone/>
            </a:pPr>
            <a:r>
              <a:rPr lang="en-US" altLang="zh-CN" sz="1100" b="1" i="0" spc="100" dirty="0">
                <a:solidFill>
                  <a:srgbClr val="E5532D"/>
                </a:solidFill>
                <a:latin typeface="Arial"/>
                <a:ea typeface="Microsoft YaHei"/>
                <a:cs typeface="Arial"/>
              </a:rPr>
              <a:t>MANAGING EDITORS</a:t>
            </a:r>
            <a:r>
              <a:rPr lang="en-US" altLang="zh-CN" sz="1100" b="1" i="0" dirty="0">
                <a:solidFill>
                  <a:srgbClr val="E5532D"/>
                </a:solidFill>
                <a:latin typeface="Arial"/>
                <a:ea typeface="Microsoft YaHei"/>
                <a:cs typeface="Arial"/>
              </a:rPr>
              <a:t xml:space="preserve">  执行编辑</a:t>
            </a:r>
          </a:p>
        </p:txBody>
      </p:sp>
      <p:sp>
        <p:nvSpPr>
          <p:cNvPr id="21" name="ME card Prof. Xiang Yan"/>
          <p:cNvSpPr/>
          <p:nvPr/>
        </p:nvSpPr>
        <p:spPr>
          <a:xfrm>
            <a:off x="548640" y="4608576"/>
            <a:ext cx="3545738" cy="15544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22" name="Prof. Xiang Yan" descr="Prof. Xiang Ya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9808" y="4837176"/>
            <a:ext cx="1097280" cy="1097280"/>
          </a:xfrm>
          <a:prstGeom prst="ellipse">
            <a:avLst/>
          </a:prstGeom>
          <a:ln w="12700">
            <a:solidFill>
              <a:srgbClr val="4245AF"/>
            </a:solidFill>
          </a:ln>
        </p:spPr>
      </p:pic>
      <p:sp>
        <p:nvSpPr>
          <p:cNvPr id="23" name="ME text Prof. Xiang Yan"/>
          <p:cNvSpPr txBox="1"/>
          <p:nvPr/>
        </p:nvSpPr>
        <p:spPr>
          <a:xfrm>
            <a:off x="2029968" y="4745736"/>
            <a:ext cx="1945538" cy="1280160"/>
          </a:xfrm>
          <a:prstGeom prst="rect">
            <a:avLst/>
          </a:prstGeom>
          <a:noFill/>
          <a:ln>
            <a:noFill/>
          </a:ln>
        </p:spPr>
        <p:txBody>
          <a:bodyPr wrap="square" lIns="0" tIns="0" rIns="0" bIns="0" anchor="ctr" rtlCol="0">
            <a:normAutofit/>
          </a:bodyPr>
          <a:lstStyle/>
          <a:p>
            <a:pPr algn="l">
              <a:spcAft>
                <a:spcPts val="400"/>
              </a:spcAft>
              <a:buNone/>
            </a:pPr>
            <a:r>
              <a:rPr lang="en-US" altLang="zh-CN" sz="1400" b="1" i="0" spc="10" dirty="0">
                <a:solidFill>
                  <a:srgbClr val="1E1E2E"/>
                </a:solidFill>
                <a:latin typeface="Arial"/>
                <a:ea typeface="Microsoft YaHei"/>
                <a:cs typeface="Arial"/>
              </a:rPr>
              <a:t>Prof. Xiang Yan</a:t>
            </a:r>
          </a:p>
          <a:p>
            <a:pPr algn="l">
              <a:lnSpc>
                <a:spcPct val="128000"/>
              </a:lnSpc>
              <a:spcAft>
                <a:spcPts val="0"/>
              </a:spcAft>
              <a:buNone/>
            </a:pPr>
            <a:r>
              <a:rPr lang="en-US" altLang="zh-CN" sz="1050" b="0" i="0" dirty="0">
                <a:solidFill>
                  <a:srgbClr val="4245AF"/>
                </a:solidFill>
                <a:latin typeface="Arial"/>
                <a:ea typeface="Microsoft YaHei"/>
                <a:cs typeface="Arial"/>
              </a:rPr>
              <a:t>Sichuan University</a:t>
            </a:r>
          </a:p>
        </p:txBody>
      </p:sp>
      <p:sp>
        <p:nvSpPr>
          <p:cNvPr id="24" name="ME card Prof. Tianzuo Wen"/>
          <p:cNvSpPr/>
          <p:nvPr/>
        </p:nvSpPr>
        <p:spPr>
          <a:xfrm>
            <a:off x="4322978" y="4608576"/>
            <a:ext cx="3545738" cy="15544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25" name="Prof. Tianzuo Wen" descr="Prof. Tianzuo Wen"/>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24146" y="4837176"/>
            <a:ext cx="1097280" cy="1097280"/>
          </a:xfrm>
          <a:prstGeom prst="ellipse">
            <a:avLst/>
          </a:prstGeom>
          <a:ln w="12700">
            <a:solidFill>
              <a:srgbClr val="4245AF"/>
            </a:solidFill>
          </a:ln>
        </p:spPr>
      </p:pic>
      <p:sp>
        <p:nvSpPr>
          <p:cNvPr id="26" name="ME text Prof. Tianzuo Wen"/>
          <p:cNvSpPr txBox="1"/>
          <p:nvPr/>
        </p:nvSpPr>
        <p:spPr>
          <a:xfrm>
            <a:off x="5804306" y="4745736"/>
            <a:ext cx="1945538" cy="1280160"/>
          </a:xfrm>
          <a:prstGeom prst="rect">
            <a:avLst/>
          </a:prstGeom>
          <a:noFill/>
          <a:ln>
            <a:noFill/>
          </a:ln>
        </p:spPr>
        <p:txBody>
          <a:bodyPr wrap="square" lIns="0" tIns="0" rIns="0" bIns="0" anchor="ctr" rtlCol="0">
            <a:normAutofit/>
          </a:bodyPr>
          <a:lstStyle/>
          <a:p>
            <a:pPr algn="l">
              <a:spcAft>
                <a:spcPts val="400"/>
              </a:spcAft>
              <a:buNone/>
            </a:pPr>
            <a:r>
              <a:rPr lang="en-US" altLang="zh-CN" sz="1400" b="1" i="0" spc="10" dirty="0">
                <a:solidFill>
                  <a:srgbClr val="1E1E2E"/>
                </a:solidFill>
                <a:latin typeface="Arial"/>
                <a:ea typeface="Microsoft YaHei"/>
                <a:cs typeface="Arial"/>
              </a:rPr>
              <a:t>Prof. Tianzuo Wen</a:t>
            </a:r>
          </a:p>
          <a:p>
            <a:pPr algn="l">
              <a:lnSpc>
                <a:spcPct val="128000"/>
              </a:lnSpc>
              <a:spcAft>
                <a:spcPts val="0"/>
              </a:spcAft>
              <a:buNone/>
            </a:pPr>
            <a:r>
              <a:rPr lang="en-US" altLang="zh-CN" sz="1050" b="0" i="0" dirty="0">
                <a:solidFill>
                  <a:srgbClr val="4245AF"/>
                </a:solidFill>
                <a:latin typeface="Arial"/>
                <a:ea typeface="Microsoft YaHei"/>
                <a:cs typeface="Arial"/>
              </a:rPr>
              <a:t>The Chinese University of Hong Kong, Shenzhen</a:t>
            </a:r>
          </a:p>
        </p:txBody>
      </p:sp>
      <p:sp>
        <p:nvSpPr>
          <p:cNvPr id="27" name="ME card Dr. Yutian Lu"/>
          <p:cNvSpPr/>
          <p:nvPr/>
        </p:nvSpPr>
        <p:spPr>
          <a:xfrm>
            <a:off x="8097317" y="4608576"/>
            <a:ext cx="3545738" cy="15544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28" name="Dr. Yutian Lu" descr="Dr. Yutian Lu"/>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98485" y="4837176"/>
            <a:ext cx="1097280" cy="1097280"/>
          </a:xfrm>
          <a:prstGeom prst="ellipse">
            <a:avLst/>
          </a:prstGeom>
          <a:ln w="12700">
            <a:solidFill>
              <a:srgbClr val="4245AF"/>
            </a:solidFill>
          </a:ln>
        </p:spPr>
      </p:pic>
      <p:sp>
        <p:nvSpPr>
          <p:cNvPr id="29" name="ME text Dr. Yutian Lu"/>
          <p:cNvSpPr txBox="1"/>
          <p:nvPr/>
        </p:nvSpPr>
        <p:spPr>
          <a:xfrm>
            <a:off x="9578645" y="4745736"/>
            <a:ext cx="1945538" cy="1280160"/>
          </a:xfrm>
          <a:prstGeom prst="rect">
            <a:avLst/>
          </a:prstGeom>
          <a:noFill/>
          <a:ln>
            <a:noFill/>
          </a:ln>
        </p:spPr>
        <p:txBody>
          <a:bodyPr wrap="square" lIns="0" tIns="0" rIns="0" bIns="0" anchor="ctr" rtlCol="0">
            <a:normAutofit/>
          </a:bodyPr>
          <a:lstStyle/>
          <a:p>
            <a:pPr algn="l">
              <a:spcAft>
                <a:spcPts val="400"/>
              </a:spcAft>
              <a:buNone/>
            </a:pPr>
            <a:r>
              <a:rPr lang="en-US" altLang="zh-CN" sz="1400" b="1" i="0" spc="10" dirty="0">
                <a:solidFill>
                  <a:srgbClr val="1E1E2E"/>
                </a:solidFill>
                <a:latin typeface="Arial"/>
                <a:ea typeface="Microsoft YaHei"/>
                <a:cs typeface="Arial"/>
              </a:rPr>
              <a:t>Dr. Yutian Lu</a:t>
            </a:r>
          </a:p>
          <a:p>
            <a:pPr algn="l">
              <a:lnSpc>
                <a:spcPct val="128000"/>
              </a:lnSpc>
              <a:spcAft>
                <a:spcPts val="0"/>
              </a:spcAft>
              <a:buNone/>
            </a:pPr>
            <a:r>
              <a:rPr lang="en-US" altLang="zh-CN" sz="1050" b="0" i="0" dirty="0">
                <a:solidFill>
                  <a:srgbClr val="4245AF"/>
                </a:solidFill>
                <a:latin typeface="Arial"/>
                <a:ea typeface="Microsoft YaHei"/>
                <a:cs typeface="Arial"/>
              </a:rPr>
              <a:t>The University of Hong Kong</a:t>
            </a:r>
          </a:p>
        </p:txBody>
      </p:sp>
      <p:sp>
        <p:nvSpPr>
          <p:cNvPr id="901" name="Page number"/>
          <p:cNvSpPr txBox="1"/>
          <p:nvPr/>
        </p:nvSpPr>
        <p:spPr>
          <a:xfrm>
            <a:off x="10728655" y="6492240"/>
            <a:ext cx="914400" cy="237744"/>
          </a:xfrm>
          <a:prstGeom prst="rect">
            <a:avLst/>
          </a:prstGeom>
          <a:noFill/>
          <a:ln>
            <a:noFill/>
          </a:ln>
        </p:spPr>
        <p:txBody>
          <a:bodyPr wrap="square" lIns="0" tIns="0" rIns="0" bIns="0" anchor="ctr" rtlCol="0">
            <a:normAutofit/>
          </a:bodyPr>
          <a:lstStyle/>
          <a:p>
            <a:pPr algn="r">
              <a:spcAft>
                <a:spcPts val="0"/>
              </a:spcAft>
              <a:buNone/>
            </a:pPr>
            <a:r>
              <a:rPr lang="en-US" altLang="zh-CN" sz="1000" b="1" i="0" spc="100" dirty="0">
                <a:solidFill>
                  <a:srgbClr val="5B5D72"/>
                </a:solidFill>
                <a:latin typeface="Arial"/>
                <a:ea typeface="Microsoft YaHei"/>
                <a:cs typeface="Arial"/>
              </a:rPr>
              <a:t>06</a:t>
            </a:r>
          </a:p>
        </p:txBody>
      </p:sp>
    </p:spTree>
    <p:extLst>
      <p:ext uri="{BB962C8B-B14F-4D97-AF65-F5344CB8AC3E}">
        <p14:creationId xmlns:p14="http://schemas.microsoft.com/office/powerpoint/2010/main" val="4005354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3"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4" name="Nav Background"/>
          <p:cNvSpPr/>
          <p:nvPr/>
        </p:nvSpPr>
        <p:spPr>
          <a:xfrm>
            <a:off x="4693615" y="109728"/>
            <a:ext cx="11887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Background</a:t>
            </a:r>
          </a:p>
        </p:txBody>
      </p:sp>
      <p:sp>
        <p:nvSpPr>
          <p:cNvPr id="5" name="Nav Vision"/>
          <p:cNvSpPr/>
          <p:nvPr/>
        </p:nvSpPr>
        <p:spPr>
          <a:xfrm>
            <a:off x="588233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Vision</a:t>
            </a:r>
          </a:p>
        </p:txBody>
      </p:sp>
      <p:sp>
        <p:nvSpPr>
          <p:cNvPr id="6" name="Nav Mission"/>
          <p:cNvSpPr/>
          <p:nvPr/>
        </p:nvSpPr>
        <p:spPr>
          <a:xfrm>
            <a:off x="6659575" y="109728"/>
            <a:ext cx="86868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Mission</a:t>
            </a:r>
          </a:p>
        </p:txBody>
      </p:sp>
      <p:sp>
        <p:nvSpPr>
          <p:cNvPr id="7" name="Nav Topics"/>
          <p:cNvSpPr/>
          <p:nvPr/>
        </p:nvSpPr>
        <p:spPr>
          <a:xfrm>
            <a:off x="752825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Topics</a:t>
            </a:r>
          </a:p>
        </p:txBody>
      </p:sp>
      <p:sp>
        <p:nvSpPr>
          <p:cNvPr id="8" name="Nav Editorial Board"/>
          <p:cNvSpPr/>
          <p:nvPr/>
        </p:nvSpPr>
        <p:spPr>
          <a:xfrm>
            <a:off x="8305495" y="109728"/>
            <a:ext cx="1417320" cy="603504"/>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Editorial Board</a:t>
            </a:r>
          </a:p>
        </p:txBody>
      </p:sp>
      <p:sp>
        <p:nvSpPr>
          <p:cNvPr id="9" name="Nav Networks"/>
          <p:cNvSpPr/>
          <p:nvPr/>
        </p:nvSpPr>
        <p:spPr>
          <a:xfrm>
            <a:off x="9722815" y="109728"/>
            <a:ext cx="10058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Networks</a:t>
            </a:r>
          </a:p>
        </p:txBody>
      </p:sp>
      <p:sp>
        <p:nvSpPr>
          <p:cNvPr id="10" name="Nav Timeline"/>
          <p:cNvSpPr/>
          <p:nvPr/>
        </p:nvSpPr>
        <p:spPr>
          <a:xfrm>
            <a:off x="10728655" y="109728"/>
            <a:ext cx="91440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Timeline</a:t>
            </a:r>
          </a:p>
        </p:txBody>
      </p:sp>
      <p:sp>
        <p:nvSpPr>
          <p:cNvPr id="11" name="Kicker"/>
          <p:cNvSpPr txBox="1"/>
          <p:nvPr/>
        </p:nvSpPr>
        <p:spPr>
          <a:xfrm>
            <a:off x="548640" y="10972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EDITORIAL BOARD MEMBERS</a:t>
            </a:r>
          </a:p>
        </p:txBody>
      </p:sp>
      <p:sp>
        <p:nvSpPr>
          <p:cNvPr id="12" name="Title"/>
          <p:cNvSpPr txBox="1"/>
          <p:nvPr/>
        </p:nvSpPr>
        <p:spPr>
          <a:xfrm>
            <a:off x="548640" y="13716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Editorial Board</a:t>
            </a:r>
          </a:p>
        </p:txBody>
      </p:sp>
      <p:sp>
        <p:nvSpPr>
          <p:cNvPr id="13" name="To be invited"/>
          <p:cNvSpPr txBox="1"/>
          <p:nvPr/>
        </p:nvSpPr>
        <p:spPr>
          <a:xfrm>
            <a:off x="6156655" y="1554480"/>
            <a:ext cx="5486400" cy="365760"/>
          </a:xfrm>
          <a:prstGeom prst="rect">
            <a:avLst/>
          </a:prstGeom>
          <a:noFill/>
          <a:ln>
            <a:noFill/>
          </a:ln>
        </p:spPr>
        <p:txBody>
          <a:bodyPr wrap="square" lIns="0" tIns="0" rIns="0" bIns="0" anchor="b" rtlCol="0">
            <a:normAutofit/>
          </a:bodyPr>
          <a:lstStyle/>
          <a:p>
            <a:pPr algn="r">
              <a:spcAft>
                <a:spcPts val="0"/>
              </a:spcAft>
              <a:buNone/>
            </a:pPr>
            <a:r>
              <a:rPr lang="en-US" altLang="zh-CN" sz="1200" b="0" i="1" dirty="0">
                <a:solidFill>
                  <a:srgbClr val="5B5D72"/>
                </a:solidFill>
                <a:latin typeface="Arial"/>
                <a:ea typeface="Microsoft YaHei"/>
                <a:cs typeface="Arial"/>
              </a:rPr>
              <a:t>More prospective Editorial Board members to be invited …</a:t>
            </a:r>
          </a:p>
        </p:txBody>
      </p:sp>
      <p:sp>
        <p:nvSpPr>
          <p:cNvPr id="14" name="Group Academicians"/>
          <p:cNvSpPr txBox="1"/>
          <p:nvPr/>
        </p:nvSpPr>
        <p:spPr>
          <a:xfrm>
            <a:off x="548640" y="2020824"/>
            <a:ext cx="7315200" cy="237744"/>
          </a:xfrm>
          <a:prstGeom prst="rect">
            <a:avLst/>
          </a:prstGeom>
          <a:noFill/>
          <a:ln>
            <a:noFill/>
          </a:ln>
        </p:spPr>
        <p:txBody>
          <a:bodyPr wrap="square" lIns="0" tIns="0" rIns="0" bIns="0" anchor="ctr" rtlCol="0">
            <a:normAutofit/>
          </a:bodyPr>
          <a:lstStyle/>
          <a:p>
            <a:pPr algn="l">
              <a:spcAft>
                <a:spcPts val="0"/>
              </a:spcAft>
              <a:buNone/>
            </a:pPr>
            <a:r>
              <a:rPr lang="en-US" altLang="zh-CN" sz="1100" b="1" i="0" spc="100" dirty="0">
                <a:solidFill>
                  <a:srgbClr val="E5532D"/>
                </a:solidFill>
                <a:latin typeface="Arial"/>
                <a:ea typeface="Microsoft YaHei"/>
                <a:cs typeface="Arial"/>
              </a:rPr>
              <a:t>ACADEMICIANS</a:t>
            </a:r>
            <a:r>
              <a:rPr lang="en-US" altLang="zh-CN" sz="1100" b="1" i="0" dirty="0">
                <a:solidFill>
                  <a:srgbClr val="E5532D"/>
                </a:solidFill>
                <a:latin typeface="Arial"/>
                <a:ea typeface="Microsoft YaHei"/>
                <a:cs typeface="Arial"/>
              </a:rPr>
              <a:t xml:space="preserve">  院士</a:t>
            </a:r>
          </a:p>
        </p:txBody>
      </p:sp>
      <p:sp>
        <p:nvSpPr>
          <p:cNvPr id="15" name="Academician card 叶嘉安"/>
          <p:cNvSpPr/>
          <p:nvPr/>
        </p:nvSpPr>
        <p:spPr>
          <a:xfrm>
            <a:off x="548640" y="2295144"/>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16" name="Portrait 叶嘉安" descr="叶嘉安"/>
          <p:cNvPicPr>
            <a:picLocks noChangeAspect="1"/>
          </p:cNvPicPr>
          <p:nvPr/>
        </p:nvPicPr>
        <p:blipFill>
          <a:blip r:embed="rId2"/>
          <a:stretch>
            <a:fillRect/>
          </a:stretch>
        </p:blipFill>
        <p:spPr>
          <a:xfrm>
            <a:off x="667512" y="2404872"/>
            <a:ext cx="676656" cy="676656"/>
          </a:xfrm>
          <a:prstGeom prst="ellipse">
            <a:avLst/>
          </a:prstGeom>
          <a:ln w="12700">
            <a:solidFill>
              <a:srgbClr val="4245AF"/>
            </a:solidFill>
          </a:ln>
        </p:spPr>
      </p:pic>
      <p:sp>
        <p:nvSpPr>
          <p:cNvPr id="17" name="Academician badge 叶嘉安"/>
          <p:cNvSpPr/>
          <p:nvPr/>
        </p:nvSpPr>
        <p:spPr>
          <a:xfrm>
            <a:off x="813816" y="2990088"/>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18" name="Academician text 叶嘉安"/>
          <p:cNvSpPr txBox="1"/>
          <p:nvPr/>
        </p:nvSpPr>
        <p:spPr>
          <a:xfrm>
            <a:off x="1453896" y="2368296"/>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叶嘉安</a:t>
            </a:r>
          </a:p>
          <a:p>
            <a:pPr algn="l">
              <a:lnSpc>
                <a:spcPct val="128000"/>
              </a:lnSpc>
              <a:spcAft>
                <a:spcPts val="200"/>
              </a:spcAft>
              <a:buNone/>
            </a:pPr>
            <a:r>
              <a:rPr lang="en-US" altLang="zh-CN" sz="800" b="0" i="0" dirty="0">
                <a:solidFill>
                  <a:srgbClr val="4245AF"/>
                </a:solidFill>
                <a:latin typeface="Arial"/>
                <a:ea typeface="Microsoft YaHei"/>
                <a:cs typeface="Arial"/>
              </a:rPr>
              <a:t>HKU</a:t>
            </a:r>
          </a:p>
          <a:p>
            <a:pPr algn="l">
              <a:lnSpc>
                <a:spcPct val="128000"/>
              </a:lnSpc>
              <a:spcAft>
                <a:spcPts val="0"/>
              </a:spcAft>
              <a:buNone/>
            </a:pPr>
            <a:r>
              <a:rPr lang="en-US" altLang="zh-CN" sz="800" b="0" i="0" dirty="0">
                <a:solidFill>
                  <a:srgbClr val="5B5D72"/>
                </a:solidFill>
                <a:latin typeface="Arial"/>
                <a:ea typeface="Microsoft YaHei"/>
                <a:cs typeface="Arial"/>
              </a:rPr>
              <a:t>智慧城市 · 城市规划</a:t>
            </a:r>
          </a:p>
          <a:p>
            <a:pPr algn="l">
              <a:lnSpc>
                <a:spcPct val="128000"/>
              </a:lnSpc>
              <a:spcAft>
                <a:spcPts val="0"/>
              </a:spcAft>
              <a:buNone/>
            </a:pPr>
            <a:r>
              <a:rPr lang="en-US" altLang="zh-CN" sz="800" b="0" i="0" dirty="0">
                <a:solidFill>
                  <a:srgbClr val="5B5D72"/>
                </a:solidFill>
                <a:latin typeface="Arial"/>
                <a:ea typeface="Microsoft YaHei"/>
                <a:cs typeface="Arial"/>
              </a:rPr>
              <a:t>地理信息系统</a:t>
            </a:r>
          </a:p>
        </p:txBody>
      </p:sp>
      <p:sp>
        <p:nvSpPr>
          <p:cNvPr id="19" name="Academician card William Clark"/>
          <p:cNvSpPr/>
          <p:nvPr/>
        </p:nvSpPr>
        <p:spPr>
          <a:xfrm>
            <a:off x="2794955" y="2295144"/>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20" name="Portrait William Clark" descr="William Clark"/>
          <p:cNvPicPr>
            <a:picLocks noChangeAspect="1"/>
          </p:cNvPicPr>
          <p:nvPr/>
        </p:nvPicPr>
        <p:blipFill>
          <a:blip r:embed="rId3"/>
          <a:stretch>
            <a:fillRect/>
          </a:stretch>
        </p:blipFill>
        <p:spPr>
          <a:xfrm>
            <a:off x="2913827" y="2404872"/>
            <a:ext cx="676656" cy="676656"/>
          </a:xfrm>
          <a:prstGeom prst="ellipse">
            <a:avLst/>
          </a:prstGeom>
          <a:ln w="12700">
            <a:solidFill>
              <a:srgbClr val="4245AF"/>
            </a:solidFill>
          </a:ln>
        </p:spPr>
      </p:pic>
      <p:sp>
        <p:nvSpPr>
          <p:cNvPr id="21" name="Academician badge William Clark"/>
          <p:cNvSpPr/>
          <p:nvPr/>
        </p:nvSpPr>
        <p:spPr>
          <a:xfrm>
            <a:off x="3060131" y="2990088"/>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22" name="Academician text William Clark"/>
          <p:cNvSpPr txBox="1"/>
          <p:nvPr/>
        </p:nvSpPr>
        <p:spPr>
          <a:xfrm>
            <a:off x="3700211" y="2368296"/>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William Clark</a:t>
            </a:r>
          </a:p>
          <a:p>
            <a:pPr algn="l">
              <a:lnSpc>
                <a:spcPct val="128000"/>
              </a:lnSpc>
              <a:spcAft>
                <a:spcPts val="200"/>
              </a:spcAft>
              <a:buNone/>
            </a:pPr>
            <a:r>
              <a:rPr lang="en-US" altLang="zh-CN" sz="800" b="0" i="0" dirty="0">
                <a:solidFill>
                  <a:srgbClr val="4245AF"/>
                </a:solidFill>
                <a:latin typeface="Arial"/>
                <a:ea typeface="Microsoft YaHei"/>
                <a:cs typeface="Arial"/>
              </a:rPr>
              <a:t>UCLA</a:t>
            </a:r>
          </a:p>
          <a:p>
            <a:pPr algn="l">
              <a:lnSpc>
                <a:spcPct val="128000"/>
              </a:lnSpc>
              <a:spcAft>
                <a:spcPts val="0"/>
              </a:spcAft>
              <a:buNone/>
            </a:pPr>
            <a:r>
              <a:rPr lang="en-US" altLang="zh-CN" sz="800" b="0" i="0" dirty="0">
                <a:solidFill>
                  <a:srgbClr val="5B5D72"/>
                </a:solidFill>
                <a:latin typeface="Arial"/>
                <a:ea typeface="Microsoft YaHei"/>
                <a:cs typeface="Arial"/>
              </a:rPr>
              <a:t>城市地理 · 城市空间</a:t>
            </a:r>
          </a:p>
          <a:p>
            <a:pPr algn="l">
              <a:lnSpc>
                <a:spcPct val="128000"/>
              </a:lnSpc>
              <a:spcAft>
                <a:spcPts val="0"/>
              </a:spcAft>
              <a:buNone/>
            </a:pPr>
            <a:r>
              <a:rPr lang="en-US" altLang="zh-CN" sz="800" b="0" i="0" dirty="0">
                <a:solidFill>
                  <a:srgbClr val="5B5D72"/>
                </a:solidFill>
                <a:latin typeface="Arial"/>
                <a:ea typeface="Microsoft YaHei"/>
                <a:cs typeface="Arial"/>
              </a:rPr>
              <a:t>人口迁移</a:t>
            </a:r>
          </a:p>
        </p:txBody>
      </p:sp>
      <p:sp>
        <p:nvSpPr>
          <p:cNvPr id="23" name="Academician card 吴缚龙"/>
          <p:cNvSpPr/>
          <p:nvPr/>
        </p:nvSpPr>
        <p:spPr>
          <a:xfrm>
            <a:off x="5041270" y="2295144"/>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24" name="Portrait 吴缚龙" descr="吴缚龙"/>
          <p:cNvPicPr>
            <a:picLocks noChangeAspect="1"/>
          </p:cNvPicPr>
          <p:nvPr/>
        </p:nvPicPr>
        <p:blipFill>
          <a:blip r:embed="rId4"/>
          <a:stretch>
            <a:fillRect/>
          </a:stretch>
        </p:blipFill>
        <p:spPr>
          <a:xfrm>
            <a:off x="5160142" y="2404872"/>
            <a:ext cx="676656" cy="676656"/>
          </a:xfrm>
          <a:prstGeom prst="ellipse">
            <a:avLst/>
          </a:prstGeom>
          <a:ln w="12700">
            <a:solidFill>
              <a:srgbClr val="4245AF"/>
            </a:solidFill>
          </a:ln>
        </p:spPr>
      </p:pic>
      <p:sp>
        <p:nvSpPr>
          <p:cNvPr id="25" name="Academician badge 吴缚龙"/>
          <p:cNvSpPr/>
          <p:nvPr/>
        </p:nvSpPr>
        <p:spPr>
          <a:xfrm>
            <a:off x="5306446" y="2990088"/>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26" name="Academician text 吴缚龙"/>
          <p:cNvSpPr txBox="1"/>
          <p:nvPr/>
        </p:nvSpPr>
        <p:spPr>
          <a:xfrm>
            <a:off x="5946526" y="2368296"/>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吴缚龙</a:t>
            </a:r>
          </a:p>
          <a:p>
            <a:pPr algn="l">
              <a:lnSpc>
                <a:spcPct val="128000"/>
              </a:lnSpc>
              <a:spcAft>
                <a:spcPts val="200"/>
              </a:spcAft>
              <a:buNone/>
            </a:pPr>
            <a:r>
              <a:rPr lang="en-US" altLang="zh-CN" sz="800" b="0" i="0" dirty="0">
                <a:solidFill>
                  <a:srgbClr val="4245AF"/>
                </a:solidFill>
                <a:latin typeface="Arial"/>
                <a:ea typeface="Microsoft YaHei"/>
                <a:cs typeface="Arial"/>
              </a:rPr>
              <a:t>UCL</a:t>
            </a:r>
          </a:p>
          <a:p>
            <a:pPr algn="l">
              <a:lnSpc>
                <a:spcPct val="128000"/>
              </a:lnSpc>
              <a:spcAft>
                <a:spcPts val="0"/>
              </a:spcAft>
              <a:buNone/>
            </a:pPr>
            <a:r>
              <a:rPr lang="en-US" altLang="zh-CN" sz="800" b="0" i="0" dirty="0">
                <a:solidFill>
                  <a:srgbClr val="5B5D72"/>
                </a:solidFill>
                <a:latin typeface="Arial"/>
                <a:ea typeface="Microsoft YaHei"/>
                <a:cs typeface="Arial"/>
              </a:rPr>
              <a:t>城市规划 · 城市治理</a:t>
            </a:r>
          </a:p>
        </p:txBody>
      </p:sp>
      <p:sp>
        <p:nvSpPr>
          <p:cNvPr id="27" name="Academician card 傅伯杰"/>
          <p:cNvSpPr/>
          <p:nvPr/>
        </p:nvSpPr>
        <p:spPr>
          <a:xfrm>
            <a:off x="7287585" y="2295144"/>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28" name="Portrait 傅伯杰" descr="傅伯杰"/>
          <p:cNvPicPr>
            <a:picLocks noChangeAspect="1"/>
          </p:cNvPicPr>
          <p:nvPr/>
        </p:nvPicPr>
        <p:blipFill>
          <a:blip r:embed="rId5"/>
          <a:stretch>
            <a:fillRect/>
          </a:stretch>
        </p:blipFill>
        <p:spPr>
          <a:xfrm>
            <a:off x="7406457" y="2404872"/>
            <a:ext cx="676656" cy="676656"/>
          </a:xfrm>
          <a:prstGeom prst="ellipse">
            <a:avLst/>
          </a:prstGeom>
          <a:ln w="12700">
            <a:solidFill>
              <a:srgbClr val="4245AF"/>
            </a:solidFill>
          </a:ln>
        </p:spPr>
      </p:pic>
      <p:sp>
        <p:nvSpPr>
          <p:cNvPr id="29" name="Academician badge 傅伯杰"/>
          <p:cNvSpPr/>
          <p:nvPr/>
        </p:nvSpPr>
        <p:spPr>
          <a:xfrm>
            <a:off x="7552761" y="2990088"/>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30" name="Academician text 傅伯杰"/>
          <p:cNvSpPr txBox="1"/>
          <p:nvPr/>
        </p:nvSpPr>
        <p:spPr>
          <a:xfrm>
            <a:off x="8192841" y="2368296"/>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傅伯杰</a:t>
            </a:r>
          </a:p>
          <a:p>
            <a:pPr algn="l">
              <a:lnSpc>
                <a:spcPct val="128000"/>
              </a:lnSpc>
              <a:spcAft>
                <a:spcPts val="0"/>
              </a:spcAft>
              <a:buNone/>
            </a:pPr>
            <a:r>
              <a:rPr lang="en-US" altLang="zh-CN" sz="800" b="0" i="0" dirty="0">
                <a:solidFill>
                  <a:srgbClr val="4245AF"/>
                </a:solidFill>
                <a:latin typeface="Arial"/>
                <a:ea typeface="Microsoft YaHei"/>
                <a:cs typeface="Arial"/>
              </a:rPr>
              <a:t>中国科学院</a:t>
            </a:r>
          </a:p>
          <a:p>
            <a:pPr algn="l">
              <a:lnSpc>
                <a:spcPct val="128000"/>
              </a:lnSpc>
              <a:spcAft>
                <a:spcPts val="200"/>
              </a:spcAft>
              <a:buNone/>
            </a:pPr>
            <a:r>
              <a:rPr lang="en-US" altLang="zh-CN" sz="800" b="0" i="0" dirty="0">
                <a:solidFill>
                  <a:srgbClr val="4245AF"/>
                </a:solidFill>
                <a:latin typeface="Arial"/>
                <a:ea typeface="Microsoft YaHei"/>
                <a:cs typeface="Arial"/>
              </a:rPr>
              <a:t>生态环境研究中心</a:t>
            </a:r>
          </a:p>
          <a:p>
            <a:pPr algn="l">
              <a:lnSpc>
                <a:spcPct val="128000"/>
              </a:lnSpc>
              <a:spcAft>
                <a:spcPts val="0"/>
              </a:spcAft>
              <a:buNone/>
            </a:pPr>
            <a:r>
              <a:rPr lang="en-US" altLang="zh-CN" sz="800" b="0" i="0" dirty="0">
                <a:solidFill>
                  <a:srgbClr val="5B5D72"/>
                </a:solidFill>
                <a:latin typeface="Arial"/>
                <a:ea typeface="Microsoft YaHei"/>
                <a:cs typeface="Arial"/>
              </a:rPr>
              <a:t>景观生态</a:t>
            </a:r>
          </a:p>
          <a:p>
            <a:pPr algn="l">
              <a:lnSpc>
                <a:spcPct val="128000"/>
              </a:lnSpc>
              <a:spcAft>
                <a:spcPts val="0"/>
              </a:spcAft>
              <a:buNone/>
            </a:pPr>
            <a:r>
              <a:rPr lang="en-US" altLang="zh-CN" sz="800" b="0" i="0" dirty="0">
                <a:solidFill>
                  <a:srgbClr val="5B5D72"/>
                </a:solidFill>
                <a:latin typeface="Arial"/>
                <a:ea typeface="Microsoft YaHei"/>
                <a:cs typeface="Arial"/>
              </a:rPr>
              <a:t>生态系统服务</a:t>
            </a:r>
          </a:p>
        </p:txBody>
      </p:sp>
      <p:sp>
        <p:nvSpPr>
          <p:cNvPr id="31" name="Academician card 樊杰"/>
          <p:cNvSpPr/>
          <p:nvPr/>
        </p:nvSpPr>
        <p:spPr>
          <a:xfrm>
            <a:off x="9533900" y="2295144"/>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32" name="Portrait 樊杰" descr="樊杰"/>
          <p:cNvPicPr>
            <a:picLocks noChangeAspect="1"/>
          </p:cNvPicPr>
          <p:nvPr/>
        </p:nvPicPr>
        <p:blipFill>
          <a:blip r:embed="rId6"/>
          <a:stretch>
            <a:fillRect/>
          </a:stretch>
        </p:blipFill>
        <p:spPr>
          <a:xfrm>
            <a:off x="9652772" y="2404872"/>
            <a:ext cx="676656" cy="676656"/>
          </a:xfrm>
          <a:prstGeom prst="ellipse">
            <a:avLst/>
          </a:prstGeom>
          <a:ln w="12700">
            <a:solidFill>
              <a:srgbClr val="4245AF"/>
            </a:solidFill>
          </a:ln>
        </p:spPr>
      </p:pic>
      <p:sp>
        <p:nvSpPr>
          <p:cNvPr id="33" name="Academician badge 樊杰"/>
          <p:cNvSpPr/>
          <p:nvPr/>
        </p:nvSpPr>
        <p:spPr>
          <a:xfrm>
            <a:off x="9799076" y="2990088"/>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34" name="Academician text 樊杰"/>
          <p:cNvSpPr txBox="1"/>
          <p:nvPr/>
        </p:nvSpPr>
        <p:spPr>
          <a:xfrm>
            <a:off x="10439156" y="2368296"/>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樊杰</a:t>
            </a:r>
          </a:p>
          <a:p>
            <a:pPr algn="l">
              <a:lnSpc>
                <a:spcPct val="128000"/>
              </a:lnSpc>
              <a:spcAft>
                <a:spcPts val="200"/>
              </a:spcAft>
              <a:buNone/>
            </a:pPr>
            <a:r>
              <a:rPr lang="en-US" altLang="zh-CN" sz="800" b="0" i="0" dirty="0">
                <a:solidFill>
                  <a:srgbClr val="4245AF"/>
                </a:solidFill>
                <a:latin typeface="Arial"/>
                <a:ea typeface="Microsoft YaHei"/>
                <a:cs typeface="Arial"/>
              </a:rPr>
              <a:t>中科院地理所</a:t>
            </a:r>
          </a:p>
          <a:p>
            <a:pPr algn="l">
              <a:lnSpc>
                <a:spcPct val="128000"/>
              </a:lnSpc>
              <a:spcAft>
                <a:spcPts val="0"/>
              </a:spcAft>
              <a:buNone/>
            </a:pPr>
            <a:r>
              <a:rPr lang="en-US" altLang="zh-CN" sz="800" b="0" i="0" dirty="0">
                <a:solidFill>
                  <a:srgbClr val="5B5D72"/>
                </a:solidFill>
                <a:latin typeface="Arial"/>
                <a:ea typeface="Microsoft YaHei"/>
                <a:cs typeface="Arial"/>
              </a:rPr>
              <a:t>国土空间规划</a:t>
            </a:r>
          </a:p>
          <a:p>
            <a:pPr algn="l">
              <a:lnSpc>
                <a:spcPct val="128000"/>
              </a:lnSpc>
              <a:spcAft>
                <a:spcPts val="0"/>
              </a:spcAft>
              <a:buNone/>
            </a:pPr>
            <a:r>
              <a:rPr lang="en-US" altLang="zh-CN" sz="800" b="0" i="0" dirty="0">
                <a:solidFill>
                  <a:srgbClr val="5B5D72"/>
                </a:solidFill>
                <a:latin typeface="Arial"/>
                <a:ea typeface="Microsoft YaHei"/>
                <a:cs typeface="Arial"/>
              </a:rPr>
              <a:t>区域发展</a:t>
            </a:r>
          </a:p>
        </p:txBody>
      </p:sp>
      <p:sp>
        <p:nvSpPr>
          <p:cNvPr id="35" name="Academician card 宫鹏"/>
          <p:cNvSpPr/>
          <p:nvPr/>
        </p:nvSpPr>
        <p:spPr>
          <a:xfrm>
            <a:off x="548640" y="3447288"/>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36" name="Portrait 宫鹏" descr="宫鹏"/>
          <p:cNvPicPr>
            <a:picLocks noChangeAspect="1"/>
          </p:cNvPicPr>
          <p:nvPr/>
        </p:nvPicPr>
        <p:blipFill>
          <a:blip r:embed="rId7"/>
          <a:stretch>
            <a:fillRect/>
          </a:stretch>
        </p:blipFill>
        <p:spPr>
          <a:xfrm>
            <a:off x="667512" y="3557016"/>
            <a:ext cx="676656" cy="676656"/>
          </a:xfrm>
          <a:prstGeom prst="ellipse">
            <a:avLst/>
          </a:prstGeom>
          <a:ln w="12700">
            <a:solidFill>
              <a:srgbClr val="4245AF"/>
            </a:solidFill>
          </a:ln>
        </p:spPr>
      </p:pic>
      <p:sp>
        <p:nvSpPr>
          <p:cNvPr id="37" name="Academician badge 宫鹏"/>
          <p:cNvSpPr/>
          <p:nvPr/>
        </p:nvSpPr>
        <p:spPr>
          <a:xfrm>
            <a:off x="813816" y="4142232"/>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38" name="Academician text 宫鹏"/>
          <p:cNvSpPr txBox="1"/>
          <p:nvPr/>
        </p:nvSpPr>
        <p:spPr>
          <a:xfrm>
            <a:off x="1453896" y="3520440"/>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宫鹏</a:t>
            </a:r>
          </a:p>
          <a:p>
            <a:pPr algn="l">
              <a:lnSpc>
                <a:spcPct val="128000"/>
              </a:lnSpc>
              <a:spcAft>
                <a:spcPts val="200"/>
              </a:spcAft>
              <a:buNone/>
            </a:pPr>
            <a:r>
              <a:rPr lang="en-US" altLang="zh-CN" sz="800" b="0" i="0" dirty="0">
                <a:solidFill>
                  <a:srgbClr val="4245AF"/>
                </a:solidFill>
                <a:latin typeface="Arial"/>
                <a:ea typeface="Microsoft YaHei"/>
                <a:cs typeface="Arial"/>
              </a:rPr>
              <a:t>HKU</a:t>
            </a:r>
          </a:p>
          <a:p>
            <a:pPr algn="l">
              <a:lnSpc>
                <a:spcPct val="128000"/>
              </a:lnSpc>
              <a:spcAft>
                <a:spcPts val="0"/>
              </a:spcAft>
              <a:buNone/>
            </a:pPr>
            <a:r>
              <a:rPr lang="en-US" altLang="zh-CN" sz="800" b="0" i="0" dirty="0">
                <a:solidFill>
                  <a:srgbClr val="5B5D72"/>
                </a:solidFill>
                <a:latin typeface="Arial"/>
                <a:ea typeface="Microsoft YaHei"/>
                <a:cs typeface="Arial"/>
              </a:rPr>
              <a:t>遥感 · 全球环境变化</a:t>
            </a:r>
          </a:p>
          <a:p>
            <a:pPr algn="l">
              <a:lnSpc>
                <a:spcPct val="128000"/>
              </a:lnSpc>
              <a:spcAft>
                <a:spcPts val="0"/>
              </a:spcAft>
              <a:buNone/>
            </a:pPr>
            <a:r>
              <a:rPr lang="en-US" altLang="zh-CN" sz="800" b="0" i="0" dirty="0">
                <a:solidFill>
                  <a:srgbClr val="5B5D72"/>
                </a:solidFill>
                <a:latin typeface="Arial"/>
                <a:ea typeface="Microsoft YaHei"/>
                <a:cs typeface="Arial"/>
              </a:rPr>
              <a:t>城市化与健康</a:t>
            </a:r>
          </a:p>
        </p:txBody>
      </p:sp>
      <p:sp>
        <p:nvSpPr>
          <p:cNvPr id="39" name="Academician card 陈德亮"/>
          <p:cNvSpPr/>
          <p:nvPr/>
        </p:nvSpPr>
        <p:spPr>
          <a:xfrm>
            <a:off x="2794955" y="3447288"/>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40" name="Portrait 陈德亮" descr="陈德亮"/>
          <p:cNvPicPr>
            <a:picLocks noChangeAspect="1"/>
          </p:cNvPicPr>
          <p:nvPr/>
        </p:nvPicPr>
        <p:blipFill>
          <a:blip r:embed="rId8"/>
          <a:stretch>
            <a:fillRect/>
          </a:stretch>
        </p:blipFill>
        <p:spPr>
          <a:xfrm>
            <a:off x="2913827" y="3557016"/>
            <a:ext cx="676656" cy="676656"/>
          </a:xfrm>
          <a:prstGeom prst="ellipse">
            <a:avLst/>
          </a:prstGeom>
          <a:ln w="12700">
            <a:solidFill>
              <a:srgbClr val="4245AF"/>
            </a:solidFill>
          </a:ln>
        </p:spPr>
      </p:pic>
      <p:sp>
        <p:nvSpPr>
          <p:cNvPr id="41" name="Academician badge 陈德亮"/>
          <p:cNvSpPr/>
          <p:nvPr/>
        </p:nvSpPr>
        <p:spPr>
          <a:xfrm>
            <a:off x="3060131" y="4142232"/>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42" name="Academician text 陈德亮"/>
          <p:cNvSpPr txBox="1"/>
          <p:nvPr/>
        </p:nvSpPr>
        <p:spPr>
          <a:xfrm>
            <a:off x="3700211" y="3520440"/>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陈德亮</a:t>
            </a:r>
          </a:p>
          <a:p>
            <a:pPr algn="l">
              <a:lnSpc>
                <a:spcPct val="128000"/>
              </a:lnSpc>
              <a:spcAft>
                <a:spcPts val="200"/>
              </a:spcAft>
              <a:buNone/>
            </a:pPr>
            <a:r>
              <a:rPr lang="en-US" altLang="zh-CN" sz="800" b="0" i="0" dirty="0">
                <a:solidFill>
                  <a:srgbClr val="4245AF"/>
                </a:solidFill>
                <a:latin typeface="Arial"/>
                <a:ea typeface="Microsoft YaHei"/>
                <a:cs typeface="Arial"/>
              </a:rPr>
              <a:t>瑞典哥德堡大学</a:t>
            </a:r>
          </a:p>
          <a:p>
            <a:pPr algn="l">
              <a:lnSpc>
                <a:spcPct val="128000"/>
              </a:lnSpc>
              <a:spcAft>
                <a:spcPts val="0"/>
              </a:spcAft>
              <a:buNone/>
            </a:pPr>
            <a:r>
              <a:rPr lang="en-US" altLang="zh-CN" sz="800" b="0" i="0" dirty="0">
                <a:solidFill>
                  <a:srgbClr val="5B5D72"/>
                </a:solidFill>
                <a:latin typeface="Arial"/>
                <a:ea typeface="Microsoft YaHei"/>
                <a:cs typeface="Arial"/>
              </a:rPr>
              <a:t>地球系统科学</a:t>
            </a:r>
          </a:p>
          <a:p>
            <a:pPr algn="l">
              <a:lnSpc>
                <a:spcPct val="128000"/>
              </a:lnSpc>
              <a:spcAft>
                <a:spcPts val="0"/>
              </a:spcAft>
              <a:buNone/>
            </a:pPr>
            <a:r>
              <a:rPr lang="en-US" altLang="zh-CN" sz="800" b="0" i="0" dirty="0">
                <a:solidFill>
                  <a:srgbClr val="5B5D72"/>
                </a:solidFill>
                <a:latin typeface="Arial"/>
                <a:ea typeface="Microsoft YaHei"/>
                <a:cs typeface="Arial"/>
              </a:rPr>
              <a:t>全球环境变化</a:t>
            </a:r>
          </a:p>
          <a:p>
            <a:pPr algn="l">
              <a:lnSpc>
                <a:spcPct val="128000"/>
              </a:lnSpc>
              <a:spcAft>
                <a:spcPts val="0"/>
              </a:spcAft>
              <a:buNone/>
            </a:pPr>
            <a:r>
              <a:rPr lang="en-US" altLang="zh-CN" sz="800" b="0" i="0" dirty="0">
                <a:solidFill>
                  <a:srgbClr val="5B5D72"/>
                </a:solidFill>
                <a:latin typeface="Arial"/>
                <a:ea typeface="Microsoft YaHei"/>
                <a:cs typeface="Arial"/>
              </a:rPr>
              <a:t>气候动力学与数值模拟</a:t>
            </a:r>
          </a:p>
        </p:txBody>
      </p:sp>
      <p:sp>
        <p:nvSpPr>
          <p:cNvPr id="43" name="Academician card 申作军"/>
          <p:cNvSpPr/>
          <p:nvPr/>
        </p:nvSpPr>
        <p:spPr>
          <a:xfrm>
            <a:off x="5041270" y="3447288"/>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44" name="Portrait 申作军" descr="申作军"/>
          <p:cNvPicPr>
            <a:picLocks noChangeAspect="1"/>
          </p:cNvPicPr>
          <p:nvPr/>
        </p:nvPicPr>
        <p:blipFill>
          <a:blip r:embed="rId9"/>
          <a:srcRect/>
          <a:stretch>
            <a:fillRect/>
          </a:stretch>
        </p:blipFill>
        <p:spPr>
          <a:xfrm>
            <a:off x="5160142" y="3557016"/>
            <a:ext cx="676656" cy="676656"/>
          </a:xfrm>
          <a:prstGeom prst="ellipse">
            <a:avLst/>
          </a:prstGeom>
          <a:ln w="12700">
            <a:solidFill>
              <a:srgbClr val="4245AF"/>
            </a:solidFill>
          </a:ln>
        </p:spPr>
      </p:pic>
      <p:sp>
        <p:nvSpPr>
          <p:cNvPr id="45" name="Academician badge 申作军"/>
          <p:cNvSpPr/>
          <p:nvPr/>
        </p:nvSpPr>
        <p:spPr>
          <a:xfrm>
            <a:off x="5306446" y="4142232"/>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46" name="Academician text 申作军"/>
          <p:cNvSpPr txBox="1"/>
          <p:nvPr/>
        </p:nvSpPr>
        <p:spPr>
          <a:xfrm>
            <a:off x="5946526" y="3520440"/>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申作军</a:t>
            </a:r>
          </a:p>
          <a:p>
            <a:pPr algn="l">
              <a:lnSpc>
                <a:spcPct val="128000"/>
              </a:lnSpc>
              <a:spcAft>
                <a:spcPts val="200"/>
              </a:spcAft>
              <a:buNone/>
            </a:pPr>
            <a:r>
              <a:rPr lang="en-US" altLang="zh-CN" sz="800" b="0" i="0" dirty="0">
                <a:solidFill>
                  <a:srgbClr val="4245AF"/>
                </a:solidFill>
                <a:latin typeface="Arial"/>
                <a:ea typeface="Microsoft YaHei"/>
                <a:cs typeface="Arial"/>
              </a:rPr>
              <a:t>HKU</a:t>
            </a:r>
          </a:p>
          <a:p>
            <a:pPr algn="l">
              <a:lnSpc>
                <a:spcPct val="128000"/>
              </a:lnSpc>
              <a:spcAft>
                <a:spcPts val="0"/>
              </a:spcAft>
              <a:buNone/>
            </a:pPr>
            <a:r>
              <a:rPr lang="en-US" altLang="zh-CN" sz="800" b="0" i="0" dirty="0">
                <a:solidFill>
                  <a:srgbClr val="5B5D72"/>
                </a:solidFill>
                <a:latin typeface="Arial"/>
                <a:ea typeface="Microsoft YaHei"/>
                <a:cs typeface="Arial"/>
              </a:rPr>
              <a:t>供应链设计与管理</a:t>
            </a:r>
          </a:p>
          <a:p>
            <a:pPr algn="l">
              <a:lnSpc>
                <a:spcPct val="128000"/>
              </a:lnSpc>
              <a:spcAft>
                <a:spcPts val="0"/>
              </a:spcAft>
              <a:buNone/>
            </a:pPr>
            <a:r>
              <a:rPr lang="en-US" altLang="zh-CN" sz="800" b="0" i="0" dirty="0">
                <a:solidFill>
                  <a:srgbClr val="5B5D72"/>
                </a:solidFill>
                <a:latin typeface="Arial"/>
                <a:ea typeface="Microsoft YaHei"/>
                <a:cs typeface="Arial"/>
              </a:rPr>
              <a:t>数据驱动物流优化</a:t>
            </a:r>
          </a:p>
        </p:txBody>
      </p:sp>
      <p:sp>
        <p:nvSpPr>
          <p:cNvPr id="47" name="Academician card 刘丛强"/>
          <p:cNvSpPr/>
          <p:nvPr/>
        </p:nvSpPr>
        <p:spPr>
          <a:xfrm>
            <a:off x="7287585" y="3447288"/>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48" name="Portrait 刘丛强" descr="刘丛强"/>
          <p:cNvPicPr>
            <a:picLocks noChangeAspect="1"/>
          </p:cNvPicPr>
          <p:nvPr/>
        </p:nvPicPr>
        <p:blipFill>
          <a:blip r:embed="rId10"/>
          <a:stretch>
            <a:fillRect/>
          </a:stretch>
        </p:blipFill>
        <p:spPr>
          <a:xfrm>
            <a:off x="7406457" y="3557016"/>
            <a:ext cx="676656" cy="676656"/>
          </a:xfrm>
          <a:prstGeom prst="ellipse">
            <a:avLst/>
          </a:prstGeom>
          <a:ln w="12700">
            <a:solidFill>
              <a:srgbClr val="4245AF"/>
            </a:solidFill>
          </a:ln>
        </p:spPr>
      </p:pic>
      <p:sp>
        <p:nvSpPr>
          <p:cNvPr id="49" name="Academician badge 刘丛强"/>
          <p:cNvSpPr/>
          <p:nvPr/>
        </p:nvSpPr>
        <p:spPr>
          <a:xfrm>
            <a:off x="7552761" y="4142232"/>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50" name="Academician text 刘丛强"/>
          <p:cNvSpPr txBox="1"/>
          <p:nvPr/>
        </p:nvSpPr>
        <p:spPr>
          <a:xfrm>
            <a:off x="8192841" y="3520440"/>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刘丛强</a:t>
            </a:r>
          </a:p>
          <a:p>
            <a:pPr algn="l">
              <a:lnSpc>
                <a:spcPct val="128000"/>
              </a:lnSpc>
              <a:spcAft>
                <a:spcPts val="200"/>
              </a:spcAft>
              <a:buNone/>
            </a:pPr>
            <a:r>
              <a:rPr lang="en-US" altLang="zh-CN" sz="800" b="0" i="0" dirty="0">
                <a:solidFill>
                  <a:srgbClr val="4245AF"/>
                </a:solidFill>
                <a:latin typeface="Arial"/>
                <a:ea typeface="Microsoft YaHei"/>
                <a:cs typeface="Arial"/>
              </a:rPr>
              <a:t>天津大学</a:t>
            </a:r>
          </a:p>
          <a:p>
            <a:pPr algn="l">
              <a:lnSpc>
                <a:spcPct val="128000"/>
              </a:lnSpc>
              <a:spcAft>
                <a:spcPts val="0"/>
              </a:spcAft>
              <a:buNone/>
            </a:pPr>
            <a:r>
              <a:rPr lang="en-US" altLang="zh-CN" sz="800" b="0" i="0" dirty="0">
                <a:solidFill>
                  <a:srgbClr val="5B5D72"/>
                </a:solidFill>
                <a:latin typeface="Arial"/>
                <a:ea typeface="Microsoft YaHei"/>
                <a:cs typeface="Arial"/>
              </a:rPr>
              <a:t>地球关键带过程</a:t>
            </a:r>
          </a:p>
          <a:p>
            <a:pPr algn="l">
              <a:lnSpc>
                <a:spcPct val="128000"/>
              </a:lnSpc>
              <a:spcAft>
                <a:spcPts val="0"/>
              </a:spcAft>
              <a:buNone/>
            </a:pPr>
            <a:r>
              <a:rPr lang="en-US" altLang="zh-CN" sz="800" b="0" i="0" dirty="0">
                <a:solidFill>
                  <a:srgbClr val="5B5D72"/>
                </a:solidFill>
                <a:latin typeface="Arial"/>
                <a:ea typeface="Microsoft YaHei"/>
                <a:cs typeface="Arial"/>
              </a:rPr>
              <a:t>与生态功能</a:t>
            </a:r>
          </a:p>
        </p:txBody>
      </p:sp>
      <p:sp>
        <p:nvSpPr>
          <p:cNvPr id="51" name="Academician card 蔡文炬"/>
          <p:cNvSpPr/>
          <p:nvPr/>
        </p:nvSpPr>
        <p:spPr>
          <a:xfrm>
            <a:off x="9533900" y="3447288"/>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52" name="Portrait 蔡文炬" descr="蔡文炬"/>
          <p:cNvPicPr>
            <a:picLocks noChangeAspect="1"/>
          </p:cNvPicPr>
          <p:nvPr/>
        </p:nvPicPr>
        <p:blipFill>
          <a:blip r:embed="rId11"/>
          <a:stretch>
            <a:fillRect/>
          </a:stretch>
        </p:blipFill>
        <p:spPr>
          <a:xfrm>
            <a:off x="9652772" y="3557016"/>
            <a:ext cx="676656" cy="676656"/>
          </a:xfrm>
          <a:prstGeom prst="ellipse">
            <a:avLst/>
          </a:prstGeom>
          <a:ln w="12700">
            <a:solidFill>
              <a:srgbClr val="4245AF"/>
            </a:solidFill>
          </a:ln>
        </p:spPr>
      </p:pic>
      <p:sp>
        <p:nvSpPr>
          <p:cNvPr id="53" name="Academician badge 蔡文炬"/>
          <p:cNvSpPr/>
          <p:nvPr/>
        </p:nvSpPr>
        <p:spPr>
          <a:xfrm>
            <a:off x="9799076" y="4142232"/>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54" name="Academician text 蔡文炬"/>
          <p:cNvSpPr txBox="1"/>
          <p:nvPr/>
        </p:nvSpPr>
        <p:spPr>
          <a:xfrm>
            <a:off x="10439156" y="3520440"/>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蔡文炬</a:t>
            </a:r>
          </a:p>
          <a:p>
            <a:pPr algn="l">
              <a:lnSpc>
                <a:spcPct val="128000"/>
              </a:lnSpc>
              <a:spcAft>
                <a:spcPts val="0"/>
              </a:spcAft>
              <a:buNone/>
            </a:pPr>
            <a:r>
              <a:rPr lang="en-US" altLang="zh-CN" sz="800" b="0" i="0" dirty="0">
                <a:solidFill>
                  <a:srgbClr val="4245AF"/>
                </a:solidFill>
                <a:latin typeface="Arial"/>
                <a:ea typeface="Microsoft YaHei"/>
                <a:cs typeface="Arial"/>
              </a:rPr>
              <a:t>澳大利亚联邦科学</a:t>
            </a:r>
          </a:p>
          <a:p>
            <a:pPr algn="l">
              <a:lnSpc>
                <a:spcPct val="128000"/>
              </a:lnSpc>
              <a:spcAft>
                <a:spcPts val="200"/>
              </a:spcAft>
              <a:buNone/>
            </a:pPr>
            <a:r>
              <a:rPr lang="en-US" altLang="zh-CN" sz="800" b="0" i="0" dirty="0">
                <a:solidFill>
                  <a:srgbClr val="4245AF"/>
                </a:solidFill>
                <a:latin typeface="Arial"/>
                <a:ea typeface="Microsoft YaHei"/>
                <a:cs typeface="Arial"/>
              </a:rPr>
              <a:t>与工业研究组织 CSIRO</a:t>
            </a:r>
          </a:p>
          <a:p>
            <a:pPr algn="l">
              <a:lnSpc>
                <a:spcPct val="128000"/>
              </a:lnSpc>
              <a:spcAft>
                <a:spcPts val="0"/>
              </a:spcAft>
              <a:buNone/>
            </a:pPr>
            <a:r>
              <a:rPr lang="en-US" altLang="zh-CN" sz="800" b="0" i="0" dirty="0">
                <a:solidFill>
                  <a:srgbClr val="5B5D72"/>
                </a:solidFill>
                <a:latin typeface="Arial"/>
                <a:ea typeface="Microsoft YaHei"/>
                <a:cs typeface="Arial"/>
              </a:rPr>
              <a:t>气候科学 · 全球变化</a:t>
            </a:r>
          </a:p>
        </p:txBody>
      </p:sp>
      <p:sp>
        <p:nvSpPr>
          <p:cNvPr id="55" name="Group Distinguished Scholars"/>
          <p:cNvSpPr txBox="1"/>
          <p:nvPr/>
        </p:nvSpPr>
        <p:spPr>
          <a:xfrm>
            <a:off x="548640" y="4617720"/>
            <a:ext cx="7315200" cy="237744"/>
          </a:xfrm>
          <a:prstGeom prst="rect">
            <a:avLst/>
          </a:prstGeom>
          <a:noFill/>
          <a:ln>
            <a:noFill/>
          </a:ln>
        </p:spPr>
        <p:txBody>
          <a:bodyPr wrap="square" lIns="0" tIns="0" rIns="0" bIns="0" anchor="ctr" rtlCol="0">
            <a:normAutofit/>
          </a:bodyPr>
          <a:lstStyle/>
          <a:p>
            <a:pPr algn="l">
              <a:spcAft>
                <a:spcPts val="0"/>
              </a:spcAft>
              <a:buNone/>
            </a:pPr>
            <a:r>
              <a:rPr lang="en-US" altLang="zh-CN" sz="1100" b="1" i="0" spc="100" dirty="0">
                <a:solidFill>
                  <a:srgbClr val="E5532D"/>
                </a:solidFill>
                <a:latin typeface="Arial"/>
                <a:ea typeface="Microsoft YaHei"/>
                <a:cs typeface="Arial"/>
              </a:rPr>
              <a:t>DISTINGUISHED SCHOLARS</a:t>
            </a:r>
            <a:r>
              <a:rPr lang="en-US" altLang="zh-CN" sz="1100" b="1" i="0" dirty="0">
                <a:solidFill>
                  <a:srgbClr val="E5532D"/>
                </a:solidFill>
                <a:latin typeface="Arial"/>
                <a:ea typeface="Microsoft YaHei"/>
                <a:cs typeface="Arial"/>
              </a:rPr>
              <a:t xml:space="preserve">  国际知名学者</a:t>
            </a:r>
          </a:p>
        </p:txBody>
      </p:sp>
      <p:sp>
        <p:nvSpPr>
          <p:cNvPr id="56" name="Scholar card Patrick Roberts"/>
          <p:cNvSpPr/>
          <p:nvPr/>
        </p:nvSpPr>
        <p:spPr>
          <a:xfrm>
            <a:off x="548640" y="48920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57" name="Portrait Patrick Roberts" descr="Patrick Roberts"/>
          <p:cNvPicPr>
            <a:picLocks noChangeAspect="1"/>
          </p:cNvPicPr>
          <p:nvPr/>
        </p:nvPicPr>
        <p:blipFill>
          <a:blip r:embed="rId12"/>
          <a:stretch>
            <a:fillRect/>
          </a:stretch>
        </p:blipFill>
        <p:spPr>
          <a:xfrm>
            <a:off x="1019752" y="4983480"/>
            <a:ext cx="548640" cy="548640"/>
          </a:xfrm>
          <a:prstGeom prst="ellipse">
            <a:avLst/>
          </a:prstGeom>
          <a:ln w="12700">
            <a:solidFill>
              <a:srgbClr val="4245AF"/>
            </a:solidFill>
          </a:ln>
        </p:spPr>
      </p:pic>
      <p:sp>
        <p:nvSpPr>
          <p:cNvPr id="58" name="Scholar name Patrick Roberts"/>
          <p:cNvSpPr txBox="1"/>
          <p:nvPr/>
        </p:nvSpPr>
        <p:spPr>
          <a:xfrm>
            <a:off x="603504" y="55686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Patrick Roberts</a:t>
            </a:r>
          </a:p>
        </p:txBody>
      </p:sp>
      <p:sp>
        <p:nvSpPr>
          <p:cNvPr id="59" name="Scholar text Patrick Roberts"/>
          <p:cNvSpPr txBox="1"/>
          <p:nvPr/>
        </p:nvSpPr>
        <p:spPr>
          <a:xfrm>
            <a:off x="603504" y="5797296"/>
            <a:ext cx="1381136" cy="594360"/>
          </a:xfrm>
          <a:prstGeom prst="rect">
            <a:avLst/>
          </a:prstGeom>
          <a:noFill/>
          <a:ln>
            <a:noFill/>
          </a:ln>
        </p:spPr>
        <p:txBody>
          <a:bodyPr wrap="square" lIns="0" tIns="0" rIns="0" bIns="0" anchor="t" rtlCol="0">
            <a:normAutofit/>
          </a:bodyPr>
          <a:lstStyle/>
          <a:p>
            <a:pPr algn="ctr">
              <a:lnSpc>
                <a:spcPct val="128000"/>
              </a:lnSpc>
              <a:spcAft>
                <a:spcPts val="0"/>
              </a:spcAft>
              <a:buNone/>
            </a:pPr>
            <a:r>
              <a:rPr lang="en-US" altLang="zh-CN" sz="750" b="0" i="0" dirty="0">
                <a:solidFill>
                  <a:srgbClr val="4245AF"/>
                </a:solidFill>
                <a:latin typeface="Arial"/>
                <a:ea typeface="Microsoft YaHei"/>
                <a:cs typeface="Arial"/>
              </a:rPr>
              <a:t>马克斯·普朗克</a:t>
            </a:r>
          </a:p>
          <a:p>
            <a:pPr algn="ctr">
              <a:lnSpc>
                <a:spcPct val="128000"/>
              </a:lnSpc>
              <a:spcAft>
                <a:spcPts val="200"/>
              </a:spcAft>
              <a:buNone/>
            </a:pPr>
            <a:r>
              <a:rPr lang="en-US" altLang="zh-CN" sz="750" b="0" i="0" dirty="0">
                <a:solidFill>
                  <a:srgbClr val="4245AF"/>
                </a:solidFill>
                <a:latin typeface="Arial"/>
                <a:ea typeface="Microsoft YaHei"/>
                <a:cs typeface="Arial"/>
              </a:rPr>
              <a:t>地球人类学研究所</a:t>
            </a:r>
          </a:p>
          <a:p>
            <a:pPr algn="ctr">
              <a:lnSpc>
                <a:spcPct val="128000"/>
              </a:lnSpc>
              <a:spcAft>
                <a:spcPts val="0"/>
              </a:spcAft>
              <a:buNone/>
            </a:pPr>
            <a:r>
              <a:rPr lang="en-US" altLang="zh-CN" sz="750" b="0" i="0" dirty="0">
                <a:solidFill>
                  <a:srgbClr val="5B5D72"/>
                </a:solidFill>
                <a:latin typeface="Arial"/>
                <a:ea typeface="Microsoft YaHei"/>
                <a:cs typeface="Arial"/>
              </a:rPr>
              <a:t>考古科学 · 古生态</a:t>
            </a:r>
          </a:p>
          <a:p>
            <a:pPr algn="ctr">
              <a:lnSpc>
                <a:spcPct val="128000"/>
              </a:lnSpc>
              <a:spcAft>
                <a:spcPts val="0"/>
              </a:spcAft>
              <a:buNone/>
            </a:pPr>
            <a:r>
              <a:rPr lang="en-US" altLang="zh-CN" sz="750" b="0" i="0" dirty="0">
                <a:solidFill>
                  <a:srgbClr val="5B5D72"/>
                </a:solidFill>
                <a:latin typeface="Arial"/>
                <a:ea typeface="Microsoft YaHei"/>
                <a:cs typeface="Arial"/>
              </a:rPr>
              <a:t>土地利用与城市化协同演化</a:t>
            </a:r>
          </a:p>
        </p:txBody>
      </p:sp>
      <p:sp>
        <p:nvSpPr>
          <p:cNvPr id="60" name="Scholar card Luis Bettencourt"/>
          <p:cNvSpPr/>
          <p:nvPr/>
        </p:nvSpPr>
        <p:spPr>
          <a:xfrm>
            <a:off x="2149232" y="48920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61" name="Portrait Luis Bettencourt" descr="Luis Bettencourt"/>
          <p:cNvPicPr>
            <a:picLocks noChangeAspect="1"/>
          </p:cNvPicPr>
          <p:nvPr/>
        </p:nvPicPr>
        <p:blipFill>
          <a:blip r:embed="rId13"/>
          <a:srcRect/>
          <a:stretch>
            <a:fillRect/>
          </a:stretch>
        </p:blipFill>
        <p:spPr>
          <a:xfrm>
            <a:off x="2620344" y="4983480"/>
            <a:ext cx="548640" cy="548640"/>
          </a:xfrm>
          <a:prstGeom prst="ellipse">
            <a:avLst/>
          </a:prstGeom>
          <a:ln w="12700">
            <a:solidFill>
              <a:srgbClr val="4245AF"/>
            </a:solidFill>
          </a:ln>
        </p:spPr>
      </p:pic>
      <p:sp>
        <p:nvSpPr>
          <p:cNvPr id="62" name="Scholar name Luis Bettencourt"/>
          <p:cNvSpPr txBox="1"/>
          <p:nvPr/>
        </p:nvSpPr>
        <p:spPr>
          <a:xfrm>
            <a:off x="2204096" y="55686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Luis Bettencourt</a:t>
            </a:r>
          </a:p>
        </p:txBody>
      </p:sp>
      <p:sp>
        <p:nvSpPr>
          <p:cNvPr id="63" name="Scholar text Luis Bettencourt"/>
          <p:cNvSpPr txBox="1"/>
          <p:nvPr/>
        </p:nvSpPr>
        <p:spPr>
          <a:xfrm>
            <a:off x="2204096" y="5797296"/>
            <a:ext cx="1381136" cy="594360"/>
          </a:xfrm>
          <a:prstGeom prst="rect">
            <a:avLst/>
          </a:prstGeom>
          <a:noFill/>
          <a:ln>
            <a:noFill/>
          </a:ln>
        </p:spPr>
        <p:txBody>
          <a:bodyPr wrap="square" lIns="0" tIns="0" rIns="0" bIns="0" anchor="t" rtlCol="0">
            <a:normAutofit/>
          </a:bodyPr>
          <a:lstStyle/>
          <a:p>
            <a:pPr algn="ctr">
              <a:lnSpc>
                <a:spcPct val="128000"/>
              </a:lnSpc>
              <a:spcAft>
                <a:spcPts val="200"/>
              </a:spcAft>
              <a:buNone/>
            </a:pPr>
            <a:r>
              <a:rPr lang="en-US" altLang="zh-CN" sz="750" b="0" i="0" dirty="0">
                <a:solidFill>
                  <a:srgbClr val="4245AF"/>
                </a:solidFill>
                <a:latin typeface="Arial"/>
                <a:ea typeface="Microsoft YaHei"/>
                <a:cs typeface="Arial"/>
              </a:rPr>
              <a:t>芝加哥大学</a:t>
            </a:r>
          </a:p>
          <a:p>
            <a:pPr algn="ctr">
              <a:lnSpc>
                <a:spcPct val="128000"/>
              </a:lnSpc>
              <a:spcAft>
                <a:spcPts val="0"/>
              </a:spcAft>
              <a:buNone/>
            </a:pPr>
            <a:r>
              <a:rPr lang="en-US" altLang="zh-CN" sz="750" b="0" i="0" dirty="0">
                <a:solidFill>
                  <a:srgbClr val="5B5D72"/>
                </a:solidFill>
                <a:latin typeface="Arial"/>
                <a:ea typeface="Microsoft YaHei"/>
                <a:cs typeface="Arial"/>
              </a:rPr>
              <a:t>城市复杂系统 · 网络</a:t>
            </a:r>
          </a:p>
          <a:p>
            <a:pPr algn="ctr">
              <a:lnSpc>
                <a:spcPct val="128000"/>
              </a:lnSpc>
              <a:spcAft>
                <a:spcPts val="0"/>
              </a:spcAft>
              <a:buNone/>
            </a:pPr>
            <a:r>
              <a:rPr lang="en-US" altLang="zh-CN" sz="750" b="0" i="0" dirty="0">
                <a:solidFill>
                  <a:srgbClr val="5B5D72"/>
                </a:solidFill>
                <a:latin typeface="Arial"/>
                <a:ea typeface="Microsoft YaHei"/>
                <a:cs typeface="Arial"/>
              </a:rPr>
              <a:t>城市尺度理论</a:t>
            </a:r>
          </a:p>
        </p:txBody>
      </p:sp>
      <p:sp>
        <p:nvSpPr>
          <p:cNvPr id="64" name="Scholar card Rebecca Bentley"/>
          <p:cNvSpPr/>
          <p:nvPr/>
        </p:nvSpPr>
        <p:spPr>
          <a:xfrm>
            <a:off x="3749824" y="48920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65" name="Portrait Rebecca Bentley" descr="Rebecca Bentley"/>
          <p:cNvPicPr>
            <a:picLocks noChangeAspect="1"/>
          </p:cNvPicPr>
          <p:nvPr/>
        </p:nvPicPr>
        <p:blipFill>
          <a:blip r:embed="rId14"/>
          <a:stretch>
            <a:fillRect/>
          </a:stretch>
        </p:blipFill>
        <p:spPr>
          <a:xfrm>
            <a:off x="4220936" y="4983480"/>
            <a:ext cx="548640" cy="548640"/>
          </a:xfrm>
          <a:prstGeom prst="ellipse">
            <a:avLst/>
          </a:prstGeom>
          <a:ln w="12700">
            <a:solidFill>
              <a:srgbClr val="4245AF"/>
            </a:solidFill>
          </a:ln>
        </p:spPr>
      </p:pic>
      <p:sp>
        <p:nvSpPr>
          <p:cNvPr id="66" name="Scholar name Rebecca Bentley"/>
          <p:cNvSpPr txBox="1"/>
          <p:nvPr/>
        </p:nvSpPr>
        <p:spPr>
          <a:xfrm>
            <a:off x="3804688" y="55686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Rebecca Bentley</a:t>
            </a:r>
          </a:p>
        </p:txBody>
      </p:sp>
      <p:sp>
        <p:nvSpPr>
          <p:cNvPr id="67" name="Scholar text Rebecca Bentley"/>
          <p:cNvSpPr txBox="1"/>
          <p:nvPr/>
        </p:nvSpPr>
        <p:spPr>
          <a:xfrm>
            <a:off x="3804688" y="5797296"/>
            <a:ext cx="1381136" cy="594360"/>
          </a:xfrm>
          <a:prstGeom prst="rect">
            <a:avLst/>
          </a:prstGeom>
          <a:noFill/>
          <a:ln>
            <a:noFill/>
          </a:ln>
        </p:spPr>
        <p:txBody>
          <a:bodyPr wrap="square" lIns="0" tIns="0" rIns="0" bIns="0" anchor="t" rtlCol="0">
            <a:normAutofit/>
          </a:bodyPr>
          <a:lstStyle/>
          <a:p>
            <a:pPr algn="ctr">
              <a:lnSpc>
                <a:spcPct val="128000"/>
              </a:lnSpc>
              <a:spcAft>
                <a:spcPts val="200"/>
              </a:spcAft>
              <a:buNone/>
            </a:pPr>
            <a:r>
              <a:rPr lang="en-US" altLang="zh-CN" sz="750" b="0" i="0" dirty="0">
                <a:solidFill>
                  <a:srgbClr val="4245AF"/>
                </a:solidFill>
                <a:latin typeface="Arial"/>
                <a:ea typeface="Microsoft YaHei"/>
                <a:cs typeface="Arial"/>
              </a:rPr>
              <a:t>墨尔本大学</a:t>
            </a:r>
          </a:p>
          <a:p>
            <a:pPr algn="ctr">
              <a:lnSpc>
                <a:spcPct val="128000"/>
              </a:lnSpc>
              <a:spcAft>
                <a:spcPts val="0"/>
              </a:spcAft>
              <a:buNone/>
            </a:pPr>
            <a:r>
              <a:rPr lang="en-US" altLang="zh-CN" sz="750" b="0" i="0" dirty="0">
                <a:solidFill>
                  <a:srgbClr val="5B5D72"/>
                </a:solidFill>
                <a:latin typeface="Arial"/>
                <a:ea typeface="Microsoft YaHei"/>
                <a:cs typeface="Arial"/>
              </a:rPr>
              <a:t>住房与建成环境 · 流行病学</a:t>
            </a:r>
          </a:p>
          <a:p>
            <a:pPr algn="ctr">
              <a:lnSpc>
                <a:spcPct val="128000"/>
              </a:lnSpc>
              <a:spcAft>
                <a:spcPts val="0"/>
              </a:spcAft>
              <a:buNone/>
            </a:pPr>
            <a:r>
              <a:rPr lang="en-US" altLang="zh-CN" sz="750" b="0" i="0" dirty="0">
                <a:solidFill>
                  <a:srgbClr val="5B5D72"/>
                </a:solidFill>
                <a:latin typeface="Arial"/>
                <a:ea typeface="Microsoft YaHei"/>
                <a:cs typeface="Arial"/>
              </a:rPr>
              <a:t>城市健康</a:t>
            </a:r>
          </a:p>
        </p:txBody>
      </p:sp>
      <p:sp>
        <p:nvSpPr>
          <p:cNvPr id="68" name="Scholar card Emma Baker"/>
          <p:cNvSpPr/>
          <p:nvPr/>
        </p:nvSpPr>
        <p:spPr>
          <a:xfrm>
            <a:off x="5350416" y="48920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69" name="Portrait Emma Baker" descr="Emma Baker"/>
          <p:cNvPicPr>
            <a:picLocks noChangeAspect="1"/>
          </p:cNvPicPr>
          <p:nvPr/>
        </p:nvPicPr>
        <p:blipFill>
          <a:blip r:embed="rId15"/>
          <a:stretch>
            <a:fillRect/>
          </a:stretch>
        </p:blipFill>
        <p:spPr>
          <a:xfrm>
            <a:off x="5821528" y="4983480"/>
            <a:ext cx="548640" cy="548640"/>
          </a:xfrm>
          <a:prstGeom prst="ellipse">
            <a:avLst/>
          </a:prstGeom>
          <a:ln w="12700">
            <a:solidFill>
              <a:srgbClr val="4245AF"/>
            </a:solidFill>
          </a:ln>
        </p:spPr>
      </p:pic>
      <p:sp>
        <p:nvSpPr>
          <p:cNvPr id="70" name="Scholar name Emma Baker"/>
          <p:cNvSpPr txBox="1"/>
          <p:nvPr/>
        </p:nvSpPr>
        <p:spPr>
          <a:xfrm>
            <a:off x="5405280" y="55686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Emma Baker</a:t>
            </a:r>
          </a:p>
        </p:txBody>
      </p:sp>
      <p:sp>
        <p:nvSpPr>
          <p:cNvPr id="71" name="Scholar text Emma Baker"/>
          <p:cNvSpPr txBox="1"/>
          <p:nvPr/>
        </p:nvSpPr>
        <p:spPr>
          <a:xfrm>
            <a:off x="5405280" y="5797296"/>
            <a:ext cx="1381136" cy="594360"/>
          </a:xfrm>
          <a:prstGeom prst="rect">
            <a:avLst/>
          </a:prstGeom>
          <a:noFill/>
          <a:ln>
            <a:noFill/>
          </a:ln>
        </p:spPr>
        <p:txBody>
          <a:bodyPr wrap="square" lIns="0" tIns="0" rIns="0" bIns="0" anchor="t" rtlCol="0">
            <a:normAutofit/>
          </a:bodyPr>
          <a:lstStyle/>
          <a:p>
            <a:pPr algn="ctr">
              <a:lnSpc>
                <a:spcPct val="128000"/>
              </a:lnSpc>
              <a:spcAft>
                <a:spcPts val="200"/>
              </a:spcAft>
              <a:buNone/>
            </a:pPr>
            <a:r>
              <a:rPr lang="en-US" altLang="zh-CN" sz="750" b="0" i="0" dirty="0">
                <a:solidFill>
                  <a:srgbClr val="4245AF"/>
                </a:solidFill>
                <a:latin typeface="Arial"/>
                <a:ea typeface="Microsoft YaHei"/>
                <a:cs typeface="Arial"/>
              </a:rPr>
              <a:t>阿德莱德大学</a:t>
            </a:r>
          </a:p>
          <a:p>
            <a:pPr algn="ctr">
              <a:lnSpc>
                <a:spcPct val="128000"/>
              </a:lnSpc>
              <a:spcAft>
                <a:spcPts val="0"/>
              </a:spcAft>
              <a:buNone/>
            </a:pPr>
            <a:r>
              <a:rPr lang="en-US" altLang="zh-CN" sz="750" b="0" i="0" dirty="0">
                <a:solidFill>
                  <a:srgbClr val="5B5D72"/>
                </a:solidFill>
                <a:latin typeface="Arial"/>
                <a:ea typeface="Microsoft YaHei"/>
                <a:cs typeface="Arial"/>
              </a:rPr>
              <a:t>城市健康与居住环境</a:t>
            </a:r>
          </a:p>
        </p:txBody>
      </p:sp>
      <p:sp>
        <p:nvSpPr>
          <p:cNvPr id="72" name="Scholar card Orlando Woods"/>
          <p:cNvSpPr/>
          <p:nvPr/>
        </p:nvSpPr>
        <p:spPr>
          <a:xfrm>
            <a:off x="6951008" y="48920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73" name="Portrait Orlando Woods" descr="Orlando Woods"/>
          <p:cNvPicPr>
            <a:picLocks noChangeAspect="1"/>
          </p:cNvPicPr>
          <p:nvPr/>
        </p:nvPicPr>
        <p:blipFill>
          <a:blip r:embed="rId16"/>
          <a:stretch>
            <a:fillRect/>
          </a:stretch>
        </p:blipFill>
        <p:spPr>
          <a:xfrm>
            <a:off x="7422119" y="4983480"/>
            <a:ext cx="548640" cy="548640"/>
          </a:xfrm>
          <a:prstGeom prst="ellipse">
            <a:avLst/>
          </a:prstGeom>
          <a:ln w="12700">
            <a:solidFill>
              <a:srgbClr val="4245AF"/>
            </a:solidFill>
          </a:ln>
        </p:spPr>
      </p:pic>
      <p:sp>
        <p:nvSpPr>
          <p:cNvPr id="74" name="Scholar name Orlando Woods"/>
          <p:cNvSpPr txBox="1"/>
          <p:nvPr/>
        </p:nvSpPr>
        <p:spPr>
          <a:xfrm>
            <a:off x="7005872" y="55686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Orlando Woods</a:t>
            </a:r>
          </a:p>
        </p:txBody>
      </p:sp>
      <p:sp>
        <p:nvSpPr>
          <p:cNvPr id="75" name="Scholar text Orlando Woods"/>
          <p:cNvSpPr txBox="1"/>
          <p:nvPr/>
        </p:nvSpPr>
        <p:spPr>
          <a:xfrm>
            <a:off x="7005872" y="5797296"/>
            <a:ext cx="1381136" cy="594360"/>
          </a:xfrm>
          <a:prstGeom prst="rect">
            <a:avLst/>
          </a:prstGeom>
          <a:noFill/>
          <a:ln>
            <a:noFill/>
          </a:ln>
        </p:spPr>
        <p:txBody>
          <a:bodyPr wrap="square" lIns="0" tIns="0" rIns="0" bIns="0" anchor="t" rtlCol="0">
            <a:normAutofit/>
          </a:bodyPr>
          <a:lstStyle/>
          <a:p>
            <a:pPr algn="ctr">
              <a:lnSpc>
                <a:spcPct val="128000"/>
              </a:lnSpc>
              <a:spcAft>
                <a:spcPts val="200"/>
              </a:spcAft>
              <a:buNone/>
            </a:pPr>
            <a:r>
              <a:rPr lang="en-US" altLang="zh-CN" sz="750" b="0" i="0" dirty="0">
                <a:solidFill>
                  <a:srgbClr val="4245AF"/>
                </a:solidFill>
                <a:latin typeface="Arial"/>
                <a:ea typeface="Microsoft YaHei"/>
                <a:cs typeface="Arial"/>
              </a:rPr>
              <a:t>新加坡管理大学</a:t>
            </a:r>
          </a:p>
          <a:p>
            <a:pPr algn="ctr">
              <a:lnSpc>
                <a:spcPct val="128000"/>
              </a:lnSpc>
              <a:spcAft>
                <a:spcPts val="0"/>
              </a:spcAft>
              <a:buNone/>
            </a:pPr>
            <a:r>
              <a:rPr lang="en-US" altLang="zh-CN" sz="750" b="0" i="0" dirty="0">
                <a:solidFill>
                  <a:srgbClr val="5B5D72"/>
                </a:solidFill>
                <a:latin typeface="Arial"/>
                <a:ea typeface="Microsoft YaHei"/>
                <a:cs typeface="Arial"/>
              </a:rPr>
              <a:t>智慧城市 · 数字平台治理</a:t>
            </a:r>
          </a:p>
        </p:txBody>
      </p:sp>
      <p:sp>
        <p:nvSpPr>
          <p:cNvPr id="76" name="Scholar card 刘春华"/>
          <p:cNvSpPr/>
          <p:nvPr/>
        </p:nvSpPr>
        <p:spPr>
          <a:xfrm>
            <a:off x="8551599" y="48920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77" name="Portrait 刘春华" descr="刘春华"/>
          <p:cNvPicPr>
            <a:picLocks noChangeAspect="1"/>
          </p:cNvPicPr>
          <p:nvPr/>
        </p:nvPicPr>
        <p:blipFill>
          <a:blip r:embed="rId17"/>
          <a:stretch>
            <a:fillRect/>
          </a:stretch>
        </p:blipFill>
        <p:spPr>
          <a:xfrm>
            <a:off x="9022711" y="4983480"/>
            <a:ext cx="548640" cy="548640"/>
          </a:xfrm>
          <a:prstGeom prst="ellipse">
            <a:avLst/>
          </a:prstGeom>
          <a:ln w="12700">
            <a:solidFill>
              <a:srgbClr val="4245AF"/>
            </a:solidFill>
          </a:ln>
        </p:spPr>
      </p:pic>
      <p:sp>
        <p:nvSpPr>
          <p:cNvPr id="78" name="Scholar name 刘春华"/>
          <p:cNvSpPr txBox="1"/>
          <p:nvPr/>
        </p:nvSpPr>
        <p:spPr>
          <a:xfrm>
            <a:off x="8606463" y="55686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刘春华</a:t>
            </a:r>
          </a:p>
        </p:txBody>
      </p:sp>
      <p:sp>
        <p:nvSpPr>
          <p:cNvPr id="79" name="Scholar text 刘春华"/>
          <p:cNvSpPr txBox="1"/>
          <p:nvPr/>
        </p:nvSpPr>
        <p:spPr>
          <a:xfrm>
            <a:off x="8606463" y="5797296"/>
            <a:ext cx="1381136" cy="594360"/>
          </a:xfrm>
          <a:prstGeom prst="rect">
            <a:avLst/>
          </a:prstGeom>
          <a:noFill/>
          <a:ln>
            <a:noFill/>
          </a:ln>
        </p:spPr>
        <p:txBody>
          <a:bodyPr wrap="square" lIns="0" tIns="0" rIns="0" bIns="0" anchor="t" rtlCol="0">
            <a:normAutofit/>
          </a:bodyPr>
          <a:lstStyle/>
          <a:p>
            <a:pPr algn="ctr">
              <a:lnSpc>
                <a:spcPct val="128000"/>
              </a:lnSpc>
              <a:spcAft>
                <a:spcPts val="200"/>
              </a:spcAft>
              <a:buNone/>
            </a:pPr>
            <a:r>
              <a:rPr lang="en-US" altLang="zh-CN" sz="750" b="0" i="0" dirty="0">
                <a:solidFill>
                  <a:srgbClr val="4245AF"/>
                </a:solidFill>
                <a:latin typeface="Arial"/>
                <a:ea typeface="Microsoft YaHei"/>
                <a:cs typeface="Arial"/>
              </a:rPr>
              <a:t>香港城市大学</a:t>
            </a:r>
          </a:p>
          <a:p>
            <a:pPr algn="ctr">
              <a:lnSpc>
                <a:spcPct val="128000"/>
              </a:lnSpc>
              <a:spcAft>
                <a:spcPts val="0"/>
              </a:spcAft>
              <a:buNone/>
            </a:pPr>
            <a:r>
              <a:rPr lang="en-US" altLang="zh-CN" sz="750" b="0" i="0" dirty="0">
                <a:solidFill>
                  <a:srgbClr val="5B5D72"/>
                </a:solidFill>
                <a:latin typeface="Arial"/>
                <a:ea typeface="Microsoft YaHei"/>
                <a:cs typeface="Arial"/>
              </a:rPr>
              <a:t>智慧能源 · 电动交通</a:t>
            </a:r>
          </a:p>
        </p:txBody>
      </p:sp>
      <p:sp>
        <p:nvSpPr>
          <p:cNvPr id="80" name="Scholar card 黄波"/>
          <p:cNvSpPr/>
          <p:nvPr/>
        </p:nvSpPr>
        <p:spPr>
          <a:xfrm>
            <a:off x="10152191" y="48920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81" name="Portrait 黄波" descr="黄波"/>
          <p:cNvPicPr>
            <a:picLocks noChangeAspect="1"/>
          </p:cNvPicPr>
          <p:nvPr/>
        </p:nvPicPr>
        <p:blipFill>
          <a:blip r:embed="rId18"/>
          <a:stretch>
            <a:fillRect/>
          </a:stretch>
        </p:blipFill>
        <p:spPr>
          <a:xfrm>
            <a:off x="10623303" y="4983480"/>
            <a:ext cx="548640" cy="548640"/>
          </a:xfrm>
          <a:prstGeom prst="ellipse">
            <a:avLst/>
          </a:prstGeom>
          <a:ln w="12700">
            <a:solidFill>
              <a:srgbClr val="4245AF"/>
            </a:solidFill>
          </a:ln>
        </p:spPr>
      </p:pic>
      <p:sp>
        <p:nvSpPr>
          <p:cNvPr id="82" name="Scholar name 黄波"/>
          <p:cNvSpPr txBox="1"/>
          <p:nvPr/>
        </p:nvSpPr>
        <p:spPr>
          <a:xfrm>
            <a:off x="10207055" y="55686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黄波</a:t>
            </a:r>
          </a:p>
        </p:txBody>
      </p:sp>
      <p:sp>
        <p:nvSpPr>
          <p:cNvPr id="83" name="Scholar text 黄波"/>
          <p:cNvSpPr txBox="1"/>
          <p:nvPr/>
        </p:nvSpPr>
        <p:spPr>
          <a:xfrm>
            <a:off x="10207055" y="5797296"/>
            <a:ext cx="1381136" cy="594360"/>
          </a:xfrm>
          <a:prstGeom prst="rect">
            <a:avLst/>
          </a:prstGeom>
          <a:noFill/>
          <a:ln>
            <a:noFill/>
          </a:ln>
        </p:spPr>
        <p:txBody>
          <a:bodyPr wrap="square" lIns="0" tIns="0" rIns="0" bIns="0" anchor="t" rtlCol="0">
            <a:normAutofit/>
          </a:bodyPr>
          <a:lstStyle/>
          <a:p>
            <a:pPr algn="ctr">
              <a:lnSpc>
                <a:spcPct val="128000"/>
              </a:lnSpc>
              <a:spcAft>
                <a:spcPts val="200"/>
              </a:spcAft>
              <a:buNone/>
            </a:pPr>
            <a:r>
              <a:rPr lang="en-US" altLang="zh-CN" sz="750" b="0" i="0" dirty="0">
                <a:solidFill>
                  <a:srgbClr val="4245AF"/>
                </a:solidFill>
                <a:latin typeface="Arial"/>
                <a:ea typeface="Microsoft YaHei"/>
                <a:cs typeface="Arial"/>
              </a:rPr>
              <a:t>HKU</a:t>
            </a:r>
          </a:p>
          <a:p>
            <a:pPr algn="ctr">
              <a:lnSpc>
                <a:spcPct val="128000"/>
              </a:lnSpc>
              <a:spcAft>
                <a:spcPts val="0"/>
              </a:spcAft>
              <a:buNone/>
            </a:pPr>
            <a:r>
              <a:rPr lang="en-US" altLang="zh-CN" sz="750" b="0" i="0" dirty="0">
                <a:solidFill>
                  <a:srgbClr val="5B5D72"/>
                </a:solidFill>
                <a:latin typeface="Arial"/>
                <a:ea typeface="Microsoft YaHei"/>
                <a:cs typeface="Arial"/>
              </a:rPr>
              <a:t>地理信息科学</a:t>
            </a:r>
          </a:p>
          <a:p>
            <a:pPr algn="ctr">
              <a:lnSpc>
                <a:spcPct val="128000"/>
              </a:lnSpc>
              <a:spcAft>
                <a:spcPts val="0"/>
              </a:spcAft>
              <a:buNone/>
            </a:pPr>
            <a:r>
              <a:rPr lang="en-US" altLang="zh-CN" sz="750" b="0" i="0" dirty="0">
                <a:solidFill>
                  <a:srgbClr val="5B5D72"/>
                </a:solidFill>
                <a:latin typeface="Arial"/>
                <a:ea typeface="Microsoft YaHei"/>
                <a:cs typeface="Arial"/>
              </a:rPr>
              <a:t>遥感和空间数据分析</a:t>
            </a:r>
          </a:p>
        </p:txBody>
      </p:sp>
      <p:sp>
        <p:nvSpPr>
          <p:cNvPr id="901" name="Page number"/>
          <p:cNvSpPr txBox="1"/>
          <p:nvPr/>
        </p:nvSpPr>
        <p:spPr>
          <a:xfrm>
            <a:off x="10728655" y="6492240"/>
            <a:ext cx="914400" cy="237744"/>
          </a:xfrm>
          <a:prstGeom prst="rect">
            <a:avLst/>
          </a:prstGeom>
          <a:noFill/>
          <a:ln>
            <a:noFill/>
          </a:ln>
        </p:spPr>
        <p:txBody>
          <a:bodyPr wrap="square" lIns="0" tIns="0" rIns="0" bIns="0" anchor="ctr" rtlCol="0">
            <a:normAutofit/>
          </a:bodyPr>
          <a:lstStyle/>
          <a:p>
            <a:pPr algn="r">
              <a:spcAft>
                <a:spcPts val="0"/>
              </a:spcAft>
              <a:buNone/>
            </a:pPr>
            <a:r>
              <a:rPr lang="en-US" altLang="zh-CN" sz="1000" b="1" i="0" spc="100" dirty="0">
                <a:solidFill>
                  <a:srgbClr val="5B5D72"/>
                </a:solidFill>
                <a:latin typeface="Arial"/>
                <a:ea typeface="Microsoft YaHei"/>
                <a:cs typeface="Arial"/>
              </a:rPr>
              <a:t>07</a:t>
            </a:r>
          </a:p>
        </p:txBody>
      </p:sp>
    </p:spTree>
    <p:extLst>
      <p:ext uri="{BB962C8B-B14F-4D97-AF65-F5344CB8AC3E}">
        <p14:creationId xmlns:p14="http://schemas.microsoft.com/office/powerpoint/2010/main" val="30303467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3"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4" name="Nav Background"/>
          <p:cNvSpPr/>
          <p:nvPr/>
        </p:nvSpPr>
        <p:spPr>
          <a:xfrm>
            <a:off x="4693615" y="109728"/>
            <a:ext cx="11887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Background</a:t>
            </a:r>
          </a:p>
        </p:txBody>
      </p:sp>
      <p:sp>
        <p:nvSpPr>
          <p:cNvPr id="5" name="Nav Vision"/>
          <p:cNvSpPr/>
          <p:nvPr/>
        </p:nvSpPr>
        <p:spPr>
          <a:xfrm>
            <a:off x="588233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Vision</a:t>
            </a:r>
          </a:p>
        </p:txBody>
      </p:sp>
      <p:sp>
        <p:nvSpPr>
          <p:cNvPr id="6" name="Nav Mission"/>
          <p:cNvSpPr/>
          <p:nvPr/>
        </p:nvSpPr>
        <p:spPr>
          <a:xfrm>
            <a:off x="6659575" y="109728"/>
            <a:ext cx="86868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Mission</a:t>
            </a:r>
          </a:p>
        </p:txBody>
      </p:sp>
      <p:sp>
        <p:nvSpPr>
          <p:cNvPr id="7" name="Nav Topics"/>
          <p:cNvSpPr/>
          <p:nvPr/>
        </p:nvSpPr>
        <p:spPr>
          <a:xfrm>
            <a:off x="752825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Topics</a:t>
            </a:r>
          </a:p>
        </p:txBody>
      </p:sp>
      <p:sp>
        <p:nvSpPr>
          <p:cNvPr id="8" name="Nav Editorial Board"/>
          <p:cNvSpPr/>
          <p:nvPr/>
        </p:nvSpPr>
        <p:spPr>
          <a:xfrm>
            <a:off x="8305495" y="109728"/>
            <a:ext cx="14173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Editorial Board</a:t>
            </a:r>
          </a:p>
        </p:txBody>
      </p:sp>
      <p:sp>
        <p:nvSpPr>
          <p:cNvPr id="9" name="Nav Networks"/>
          <p:cNvSpPr/>
          <p:nvPr/>
        </p:nvSpPr>
        <p:spPr>
          <a:xfrm>
            <a:off x="9722815" y="109728"/>
            <a:ext cx="1005840" cy="603504"/>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Networks</a:t>
            </a:r>
          </a:p>
        </p:txBody>
      </p:sp>
      <p:sp>
        <p:nvSpPr>
          <p:cNvPr id="10" name="Nav Timeline"/>
          <p:cNvSpPr/>
          <p:nvPr/>
        </p:nvSpPr>
        <p:spPr>
          <a:xfrm>
            <a:off x="10728655" y="109728"/>
            <a:ext cx="91440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Timeline</a:t>
            </a:r>
          </a:p>
        </p:txBody>
      </p:sp>
      <p:sp>
        <p:nvSpPr>
          <p:cNvPr id="11" name="Kicker"/>
          <p:cNvSpPr txBox="1"/>
          <p:nvPr/>
        </p:nvSpPr>
        <p:spPr>
          <a:xfrm>
            <a:off x="548640" y="10972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GLOBAL REACH</a:t>
            </a:r>
          </a:p>
        </p:txBody>
      </p:sp>
      <p:sp>
        <p:nvSpPr>
          <p:cNvPr id="12" name="Title"/>
          <p:cNvSpPr txBox="1"/>
          <p:nvPr/>
        </p:nvSpPr>
        <p:spPr>
          <a:xfrm>
            <a:off x="548640" y="13716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International Academic Leadership &amp; Networks</a:t>
            </a:r>
          </a:p>
        </p:txBody>
      </p:sp>
      <p:sp>
        <p:nvSpPr>
          <p:cNvPr id="13" name="Network card Urban Affairs Association"/>
          <p:cNvSpPr/>
          <p:nvPr/>
        </p:nvSpPr>
        <p:spPr>
          <a:xfrm>
            <a:off x="548640" y="214884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14" name="Logo plate Urban Affairs Association"/>
          <p:cNvSpPr/>
          <p:nvPr/>
        </p:nvSpPr>
        <p:spPr>
          <a:xfrm>
            <a:off x="658368" y="225856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15" name="Urban Affairs Association" descr="Urban Affairs Association"/>
          <p:cNvPicPr>
            <a:picLocks noChangeAspect="1"/>
          </p:cNvPicPr>
          <p:nvPr/>
        </p:nvPicPr>
        <p:blipFill>
          <a:blip r:embed="rId2"/>
          <a:stretch>
            <a:fillRect/>
          </a:stretch>
        </p:blipFill>
        <p:spPr>
          <a:xfrm>
            <a:off x="1173449" y="2359152"/>
            <a:ext cx="822960" cy="822960"/>
          </a:xfrm>
          <a:prstGeom prst="rect">
            <a:avLst/>
          </a:prstGeom>
        </p:spPr>
      </p:pic>
      <p:sp>
        <p:nvSpPr>
          <p:cNvPr id="16" name="Network text Urban Affairs Association"/>
          <p:cNvSpPr txBox="1"/>
          <p:nvPr/>
        </p:nvSpPr>
        <p:spPr>
          <a:xfrm>
            <a:off x="658368" y="337413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Urban Affairs Association</a:t>
            </a:r>
          </a:p>
          <a:p>
            <a:pPr algn="ctr">
              <a:lnSpc>
                <a:spcPct val="110000"/>
              </a:lnSpc>
              <a:spcAft>
                <a:spcPts val="0"/>
              </a:spcAft>
              <a:buNone/>
            </a:pPr>
            <a:r>
              <a:rPr lang="en-US" altLang="zh-CN" sz="900" b="0" i="0" dirty="0">
                <a:solidFill>
                  <a:srgbClr val="5B5D72"/>
                </a:solidFill>
                <a:latin typeface="Arial"/>
                <a:ea typeface="Microsoft YaHei"/>
                <a:cs typeface="Arial"/>
              </a:rPr>
              <a:t>城市事务协会</a:t>
            </a:r>
          </a:p>
        </p:txBody>
      </p:sp>
      <p:sp>
        <p:nvSpPr>
          <p:cNvPr id="17" name="Network card Royal Geographical Society"/>
          <p:cNvSpPr/>
          <p:nvPr/>
        </p:nvSpPr>
        <p:spPr>
          <a:xfrm>
            <a:off x="2804099" y="214884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18" name="Logo plate Royal Geographical Society"/>
          <p:cNvSpPr/>
          <p:nvPr/>
        </p:nvSpPr>
        <p:spPr>
          <a:xfrm>
            <a:off x="2913827" y="225856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19" name="Royal Geographical Society" descr="Royal Geographical Society"/>
          <p:cNvPicPr>
            <a:picLocks noChangeAspect="1"/>
          </p:cNvPicPr>
          <p:nvPr/>
        </p:nvPicPr>
        <p:blipFill>
          <a:blip r:embed="rId3"/>
          <a:stretch>
            <a:fillRect/>
          </a:stretch>
        </p:blipFill>
        <p:spPr>
          <a:xfrm>
            <a:off x="3428909" y="2359152"/>
            <a:ext cx="822960" cy="822960"/>
          </a:xfrm>
          <a:prstGeom prst="rect">
            <a:avLst/>
          </a:prstGeom>
        </p:spPr>
      </p:pic>
      <p:sp>
        <p:nvSpPr>
          <p:cNvPr id="20" name="Network text Royal Geographical Society"/>
          <p:cNvSpPr txBox="1"/>
          <p:nvPr/>
        </p:nvSpPr>
        <p:spPr>
          <a:xfrm>
            <a:off x="2913827" y="337413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Royal Geographical Society</a:t>
            </a:r>
          </a:p>
          <a:p>
            <a:pPr algn="ctr">
              <a:lnSpc>
                <a:spcPct val="110000"/>
              </a:lnSpc>
              <a:spcAft>
                <a:spcPts val="0"/>
              </a:spcAft>
              <a:buNone/>
            </a:pPr>
            <a:r>
              <a:rPr lang="en-US" altLang="zh-CN" sz="900" b="0" i="0" dirty="0">
                <a:solidFill>
                  <a:srgbClr val="5B5D72"/>
                </a:solidFill>
                <a:latin typeface="Arial"/>
                <a:ea typeface="Microsoft YaHei"/>
                <a:cs typeface="Arial"/>
              </a:rPr>
              <a:t>英国皇家地理学会</a:t>
            </a:r>
          </a:p>
        </p:txBody>
      </p:sp>
      <p:sp>
        <p:nvSpPr>
          <p:cNvPr id="21" name="Network card Regional Studies Association"/>
          <p:cNvSpPr/>
          <p:nvPr/>
        </p:nvSpPr>
        <p:spPr>
          <a:xfrm>
            <a:off x="5059558" y="214884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22" name="Logo plate Regional Studies Association"/>
          <p:cNvSpPr/>
          <p:nvPr/>
        </p:nvSpPr>
        <p:spPr>
          <a:xfrm>
            <a:off x="5169286" y="225856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23" name="Regional Studies Association" descr="Regional Studies Association"/>
          <p:cNvPicPr>
            <a:picLocks noChangeAspect="1"/>
          </p:cNvPicPr>
          <p:nvPr/>
        </p:nvPicPr>
        <p:blipFill>
          <a:blip r:embed="rId4"/>
          <a:stretch>
            <a:fillRect/>
          </a:stretch>
        </p:blipFill>
        <p:spPr>
          <a:xfrm>
            <a:off x="5684368" y="2359152"/>
            <a:ext cx="822960" cy="822960"/>
          </a:xfrm>
          <a:prstGeom prst="rect">
            <a:avLst/>
          </a:prstGeom>
        </p:spPr>
      </p:pic>
      <p:sp>
        <p:nvSpPr>
          <p:cNvPr id="24" name="Network text Regional Studies Association"/>
          <p:cNvSpPr txBox="1"/>
          <p:nvPr/>
        </p:nvSpPr>
        <p:spPr>
          <a:xfrm>
            <a:off x="5169286" y="337413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Regional Studies Association</a:t>
            </a:r>
          </a:p>
          <a:p>
            <a:pPr algn="ctr">
              <a:lnSpc>
                <a:spcPct val="110000"/>
              </a:lnSpc>
              <a:spcAft>
                <a:spcPts val="0"/>
              </a:spcAft>
              <a:buNone/>
            </a:pPr>
            <a:r>
              <a:rPr lang="en-US" altLang="zh-CN" sz="900" b="0" i="0" dirty="0">
                <a:solidFill>
                  <a:srgbClr val="5B5D72"/>
                </a:solidFill>
                <a:latin typeface="Arial"/>
                <a:ea typeface="Microsoft YaHei"/>
                <a:cs typeface="Arial"/>
              </a:rPr>
              <a:t>区域研究协会</a:t>
            </a:r>
          </a:p>
        </p:txBody>
      </p:sp>
      <p:sp>
        <p:nvSpPr>
          <p:cNvPr id="25" name="Network card Hong Kong Base of State Key Laboratory of Subtropical Building and Urban Science"/>
          <p:cNvSpPr/>
          <p:nvPr/>
        </p:nvSpPr>
        <p:spPr>
          <a:xfrm>
            <a:off x="7315017" y="214884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26" name="Logo plate Hong Kong Base of State Key Laboratory of Subtropical Building and Urban Science"/>
          <p:cNvSpPr/>
          <p:nvPr/>
        </p:nvSpPr>
        <p:spPr>
          <a:xfrm>
            <a:off x="7424745" y="225856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27" name="Hong Kong Base of State Key Laboratory of Subtropical Building and Urban Science" descr="Hong Kong Base of State Key Laboratory of Subtropical Building and Urban Science"/>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39827" y="2359152"/>
            <a:ext cx="822960" cy="822960"/>
          </a:xfrm>
          <a:prstGeom prst="rect">
            <a:avLst/>
          </a:prstGeom>
        </p:spPr>
      </p:pic>
      <p:sp>
        <p:nvSpPr>
          <p:cNvPr id="28" name="Network text Hong Kong Base of State Key Laboratory of Subtropical Building and Urban Science"/>
          <p:cNvSpPr txBox="1"/>
          <p:nvPr/>
        </p:nvSpPr>
        <p:spPr>
          <a:xfrm>
            <a:off x="7424745" y="337413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Hong Kong Base of State Key Laboratory of Subtropical Building and Urban Science</a:t>
            </a:r>
          </a:p>
          <a:p>
            <a:pPr algn="ctr">
              <a:lnSpc>
                <a:spcPct val="110000"/>
              </a:lnSpc>
              <a:spcAft>
                <a:spcPts val="0"/>
              </a:spcAft>
              <a:buNone/>
            </a:pPr>
            <a:r>
              <a:rPr lang="en-US" altLang="zh-CN" sz="900" b="0" i="0" dirty="0">
                <a:solidFill>
                  <a:srgbClr val="5B5D72"/>
                </a:solidFill>
                <a:latin typeface="Arial"/>
                <a:ea typeface="Microsoft YaHei"/>
                <a:cs typeface="Arial"/>
              </a:rPr>
              <a:t>亚热带建筑与城市科学</a:t>
            </a:r>
          </a:p>
          <a:p>
            <a:pPr algn="ctr">
              <a:lnSpc>
                <a:spcPct val="110000"/>
              </a:lnSpc>
              <a:spcAft>
                <a:spcPts val="0"/>
              </a:spcAft>
              <a:buNone/>
            </a:pPr>
            <a:r>
              <a:rPr lang="en-US" altLang="zh-CN" sz="900" b="0" i="0" dirty="0">
                <a:solidFill>
                  <a:srgbClr val="5B5D72"/>
                </a:solidFill>
                <a:latin typeface="Arial"/>
                <a:ea typeface="Microsoft YaHei"/>
                <a:cs typeface="Arial"/>
              </a:rPr>
              <a:t>全国重点实验室香港基地</a:t>
            </a:r>
          </a:p>
        </p:txBody>
      </p:sp>
      <p:sp>
        <p:nvSpPr>
          <p:cNvPr id="29" name="Network card American Association of Geographers"/>
          <p:cNvSpPr/>
          <p:nvPr/>
        </p:nvSpPr>
        <p:spPr>
          <a:xfrm>
            <a:off x="9570476" y="214884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30" name="Logo plate American Association of Geographers"/>
          <p:cNvSpPr/>
          <p:nvPr/>
        </p:nvSpPr>
        <p:spPr>
          <a:xfrm>
            <a:off x="9680204" y="225856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31" name="American Association of Geographers" descr="American Association of Geographers"/>
          <p:cNvPicPr>
            <a:picLocks noChangeAspect="1"/>
          </p:cNvPicPr>
          <p:nvPr/>
        </p:nvPicPr>
        <p:blipFill>
          <a:blip r:embed="rId6"/>
          <a:stretch>
            <a:fillRect/>
          </a:stretch>
        </p:blipFill>
        <p:spPr>
          <a:xfrm>
            <a:off x="9804222" y="2359152"/>
            <a:ext cx="1605086" cy="822960"/>
          </a:xfrm>
          <a:prstGeom prst="rect">
            <a:avLst/>
          </a:prstGeom>
        </p:spPr>
      </p:pic>
      <p:sp>
        <p:nvSpPr>
          <p:cNvPr id="32" name="Network text American Association of Geographers"/>
          <p:cNvSpPr txBox="1"/>
          <p:nvPr/>
        </p:nvSpPr>
        <p:spPr>
          <a:xfrm>
            <a:off x="9680204" y="337413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American Association of Geographers</a:t>
            </a:r>
          </a:p>
          <a:p>
            <a:pPr algn="ctr">
              <a:lnSpc>
                <a:spcPct val="110000"/>
              </a:lnSpc>
              <a:spcAft>
                <a:spcPts val="0"/>
              </a:spcAft>
              <a:buNone/>
            </a:pPr>
            <a:r>
              <a:rPr lang="en-US" altLang="zh-CN" sz="900" b="0" i="0" dirty="0">
                <a:solidFill>
                  <a:srgbClr val="5B5D72"/>
                </a:solidFill>
                <a:latin typeface="Arial"/>
                <a:ea typeface="Microsoft YaHei"/>
                <a:cs typeface="Arial"/>
              </a:rPr>
              <a:t>美国地理学家协会</a:t>
            </a:r>
          </a:p>
        </p:txBody>
      </p:sp>
      <p:sp>
        <p:nvSpPr>
          <p:cNvPr id="33" name="Network card Asia-Pacific Network of Housing Research"/>
          <p:cNvSpPr/>
          <p:nvPr/>
        </p:nvSpPr>
        <p:spPr>
          <a:xfrm>
            <a:off x="1676370" y="434340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34" name="Logo plate Asia-Pacific Network of Housing Research"/>
          <p:cNvSpPr/>
          <p:nvPr/>
        </p:nvSpPr>
        <p:spPr>
          <a:xfrm>
            <a:off x="1786098" y="445312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35" name="Asia-Pacific Network of Housing Research" descr="Asia-Pacific Network of Housing Research"/>
          <p:cNvPicPr>
            <a:picLocks noChangeAspect="1"/>
          </p:cNvPicPr>
          <p:nvPr/>
        </p:nvPicPr>
        <p:blipFill>
          <a:blip r:embed="rId7"/>
          <a:stretch>
            <a:fillRect/>
          </a:stretch>
        </p:blipFill>
        <p:spPr>
          <a:xfrm>
            <a:off x="2094315" y="4553712"/>
            <a:ext cx="1236688" cy="822960"/>
          </a:xfrm>
          <a:prstGeom prst="rect">
            <a:avLst/>
          </a:prstGeom>
        </p:spPr>
      </p:pic>
      <p:sp>
        <p:nvSpPr>
          <p:cNvPr id="36" name="Network text Asia-Pacific Network of Housing Research"/>
          <p:cNvSpPr txBox="1"/>
          <p:nvPr/>
        </p:nvSpPr>
        <p:spPr>
          <a:xfrm>
            <a:off x="1786098" y="556869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Asia-Pacific Network of Housing Research</a:t>
            </a:r>
          </a:p>
          <a:p>
            <a:pPr algn="ctr">
              <a:lnSpc>
                <a:spcPct val="110000"/>
              </a:lnSpc>
              <a:spcAft>
                <a:spcPts val="0"/>
              </a:spcAft>
              <a:buNone/>
            </a:pPr>
            <a:r>
              <a:rPr lang="en-US" altLang="zh-CN" sz="900" b="0" i="0" dirty="0">
                <a:solidFill>
                  <a:srgbClr val="5B5D72"/>
                </a:solidFill>
                <a:latin typeface="Arial"/>
                <a:ea typeface="Microsoft YaHei"/>
                <a:cs typeface="Arial"/>
              </a:rPr>
              <a:t>亚太住房研究网络</a:t>
            </a:r>
          </a:p>
        </p:txBody>
      </p:sp>
      <p:sp>
        <p:nvSpPr>
          <p:cNvPr id="37" name="Network card International Geographical Union"/>
          <p:cNvSpPr/>
          <p:nvPr/>
        </p:nvSpPr>
        <p:spPr>
          <a:xfrm>
            <a:off x="3931829" y="434340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38" name="Logo plate International Geographical Union"/>
          <p:cNvSpPr/>
          <p:nvPr/>
        </p:nvSpPr>
        <p:spPr>
          <a:xfrm>
            <a:off x="4041557" y="445312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39" name="International Geographical Union" descr="International Geographical Union"/>
          <p:cNvPicPr>
            <a:picLocks noChangeAspect="1"/>
          </p:cNvPicPr>
          <p:nvPr/>
        </p:nvPicPr>
        <p:blipFill>
          <a:blip r:embed="rId8"/>
          <a:stretch>
            <a:fillRect/>
          </a:stretch>
        </p:blipFill>
        <p:spPr>
          <a:xfrm>
            <a:off x="4096421" y="4826135"/>
            <a:ext cx="1743395" cy="278113"/>
          </a:xfrm>
          <a:prstGeom prst="rect">
            <a:avLst/>
          </a:prstGeom>
        </p:spPr>
      </p:pic>
      <p:sp>
        <p:nvSpPr>
          <p:cNvPr id="40" name="Network text International Geographical Union"/>
          <p:cNvSpPr txBox="1"/>
          <p:nvPr/>
        </p:nvSpPr>
        <p:spPr>
          <a:xfrm>
            <a:off x="4041557" y="556869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International Geographical Union</a:t>
            </a:r>
          </a:p>
          <a:p>
            <a:pPr algn="ctr">
              <a:lnSpc>
                <a:spcPct val="110000"/>
              </a:lnSpc>
              <a:spcAft>
                <a:spcPts val="0"/>
              </a:spcAft>
              <a:buNone/>
            </a:pPr>
            <a:r>
              <a:rPr lang="en-US" altLang="zh-CN" sz="900" b="0" i="0" dirty="0">
                <a:solidFill>
                  <a:srgbClr val="5B5D72"/>
                </a:solidFill>
                <a:latin typeface="Arial"/>
                <a:ea typeface="Microsoft YaHei"/>
                <a:cs typeface="Arial"/>
              </a:rPr>
              <a:t>国际地理学联合会</a:t>
            </a:r>
          </a:p>
        </p:txBody>
      </p:sp>
      <p:sp>
        <p:nvSpPr>
          <p:cNvPr id="41" name="Network card Urban China Research Network"/>
          <p:cNvSpPr/>
          <p:nvPr/>
        </p:nvSpPr>
        <p:spPr>
          <a:xfrm>
            <a:off x="6187288" y="434340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42" name="Logo plate Urban China Research Network"/>
          <p:cNvSpPr/>
          <p:nvPr/>
        </p:nvSpPr>
        <p:spPr>
          <a:xfrm>
            <a:off x="6297016" y="445312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43" name="Urban China Research Network" descr="Urban China Research Network"/>
          <p:cNvPicPr>
            <a:picLocks noChangeAspect="1"/>
          </p:cNvPicPr>
          <p:nvPr/>
        </p:nvPicPr>
        <p:blipFill>
          <a:blip r:embed="rId9"/>
          <a:stretch>
            <a:fillRect/>
          </a:stretch>
        </p:blipFill>
        <p:spPr>
          <a:xfrm>
            <a:off x="6351880" y="4802493"/>
            <a:ext cx="1743395" cy="325399"/>
          </a:xfrm>
          <a:prstGeom prst="rect">
            <a:avLst/>
          </a:prstGeom>
        </p:spPr>
      </p:pic>
      <p:sp>
        <p:nvSpPr>
          <p:cNvPr id="44" name="Network text Urban China Research Network"/>
          <p:cNvSpPr txBox="1"/>
          <p:nvPr/>
        </p:nvSpPr>
        <p:spPr>
          <a:xfrm>
            <a:off x="6297016" y="556869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Urban China Research Network</a:t>
            </a:r>
          </a:p>
          <a:p>
            <a:pPr algn="ctr">
              <a:lnSpc>
                <a:spcPct val="110000"/>
              </a:lnSpc>
              <a:spcAft>
                <a:spcPts val="0"/>
              </a:spcAft>
              <a:buNone/>
            </a:pPr>
            <a:r>
              <a:rPr lang="en-US" altLang="zh-CN" sz="900" b="0" i="0" dirty="0">
                <a:solidFill>
                  <a:srgbClr val="5B5D72"/>
                </a:solidFill>
                <a:latin typeface="Arial"/>
                <a:ea typeface="Microsoft YaHei"/>
                <a:cs typeface="Arial"/>
              </a:rPr>
              <a:t>中国城市研究网络</a:t>
            </a:r>
          </a:p>
        </p:txBody>
      </p:sp>
      <p:sp>
        <p:nvSpPr>
          <p:cNvPr id="45" name="Network card The University of Hong Kong Urban Systems Institute"/>
          <p:cNvSpPr/>
          <p:nvPr/>
        </p:nvSpPr>
        <p:spPr>
          <a:xfrm>
            <a:off x="8442747" y="434340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46" name="Logo plate The University of Hong Kong Urban Systems Institute"/>
          <p:cNvSpPr/>
          <p:nvPr/>
        </p:nvSpPr>
        <p:spPr>
          <a:xfrm>
            <a:off x="8552475" y="445312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47" name="The University of Hong Kong Urban Systems Institute" descr="The University of Hong Kong Urban Systems Institute"/>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607339" y="4762933"/>
            <a:ext cx="1743395" cy="404518"/>
          </a:xfrm>
          <a:prstGeom prst="rect">
            <a:avLst/>
          </a:prstGeom>
        </p:spPr>
      </p:pic>
      <p:sp>
        <p:nvSpPr>
          <p:cNvPr id="48" name="Network text The University of Hong Kong Urban Systems Institute"/>
          <p:cNvSpPr txBox="1"/>
          <p:nvPr/>
        </p:nvSpPr>
        <p:spPr>
          <a:xfrm>
            <a:off x="8552475" y="556869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The University of Hong Kong Urban Systems Institute</a:t>
            </a:r>
          </a:p>
          <a:p>
            <a:pPr algn="ctr">
              <a:lnSpc>
                <a:spcPct val="110000"/>
              </a:lnSpc>
              <a:spcAft>
                <a:spcPts val="0"/>
              </a:spcAft>
              <a:buNone/>
            </a:pPr>
            <a:r>
              <a:rPr lang="en-US" altLang="zh-CN" sz="900" b="0" i="0" dirty="0">
                <a:solidFill>
                  <a:srgbClr val="5B5D72"/>
                </a:solidFill>
                <a:latin typeface="Arial"/>
                <a:ea typeface="Microsoft YaHei"/>
                <a:cs typeface="Arial"/>
              </a:rPr>
              <a:t>香港大学城市系统研究院</a:t>
            </a:r>
          </a:p>
        </p:txBody>
      </p:sp>
      <p:sp>
        <p:nvSpPr>
          <p:cNvPr id="901" name="Page number"/>
          <p:cNvSpPr txBox="1"/>
          <p:nvPr/>
        </p:nvSpPr>
        <p:spPr>
          <a:xfrm>
            <a:off x="10728655" y="6492240"/>
            <a:ext cx="914400" cy="237744"/>
          </a:xfrm>
          <a:prstGeom prst="rect">
            <a:avLst/>
          </a:prstGeom>
          <a:noFill/>
          <a:ln>
            <a:noFill/>
          </a:ln>
        </p:spPr>
        <p:txBody>
          <a:bodyPr wrap="square" lIns="0" tIns="0" rIns="0" bIns="0" anchor="ctr" rtlCol="0">
            <a:normAutofit/>
          </a:bodyPr>
          <a:lstStyle/>
          <a:p>
            <a:pPr algn="r">
              <a:spcAft>
                <a:spcPts val="0"/>
              </a:spcAft>
              <a:buNone/>
            </a:pPr>
            <a:r>
              <a:rPr lang="en-US" altLang="zh-CN" sz="1000" b="1" i="0" spc="100" dirty="0">
                <a:solidFill>
                  <a:srgbClr val="5B5D72"/>
                </a:solidFill>
                <a:latin typeface="Arial"/>
                <a:ea typeface="Microsoft YaHei"/>
                <a:cs typeface="Arial"/>
              </a:rPr>
              <a:t>08</a:t>
            </a:r>
          </a:p>
        </p:txBody>
      </p:sp>
    </p:spTree>
    <p:extLst>
      <p:ext uri="{BB962C8B-B14F-4D97-AF65-F5344CB8AC3E}">
        <p14:creationId xmlns:p14="http://schemas.microsoft.com/office/powerpoint/2010/main" val="4028804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3"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4" name="Nav Background"/>
          <p:cNvSpPr/>
          <p:nvPr/>
        </p:nvSpPr>
        <p:spPr>
          <a:xfrm>
            <a:off x="4693615" y="109728"/>
            <a:ext cx="11887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Background</a:t>
            </a:r>
          </a:p>
        </p:txBody>
      </p:sp>
      <p:sp>
        <p:nvSpPr>
          <p:cNvPr id="5" name="Nav Vision"/>
          <p:cNvSpPr/>
          <p:nvPr/>
        </p:nvSpPr>
        <p:spPr>
          <a:xfrm>
            <a:off x="588233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Vision</a:t>
            </a:r>
          </a:p>
        </p:txBody>
      </p:sp>
      <p:sp>
        <p:nvSpPr>
          <p:cNvPr id="6" name="Nav Mission"/>
          <p:cNvSpPr/>
          <p:nvPr/>
        </p:nvSpPr>
        <p:spPr>
          <a:xfrm>
            <a:off x="6659575" y="109728"/>
            <a:ext cx="86868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Mission</a:t>
            </a:r>
          </a:p>
        </p:txBody>
      </p:sp>
      <p:sp>
        <p:nvSpPr>
          <p:cNvPr id="7" name="Nav Topics"/>
          <p:cNvSpPr/>
          <p:nvPr/>
        </p:nvSpPr>
        <p:spPr>
          <a:xfrm>
            <a:off x="752825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Topics</a:t>
            </a:r>
          </a:p>
        </p:txBody>
      </p:sp>
      <p:sp>
        <p:nvSpPr>
          <p:cNvPr id="8" name="Nav Editorial Board"/>
          <p:cNvSpPr/>
          <p:nvPr/>
        </p:nvSpPr>
        <p:spPr>
          <a:xfrm>
            <a:off x="8305495" y="109728"/>
            <a:ext cx="14173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Editorial Board</a:t>
            </a:r>
          </a:p>
        </p:txBody>
      </p:sp>
      <p:sp>
        <p:nvSpPr>
          <p:cNvPr id="9" name="Nav Networks"/>
          <p:cNvSpPr/>
          <p:nvPr/>
        </p:nvSpPr>
        <p:spPr>
          <a:xfrm>
            <a:off x="9722815" y="109728"/>
            <a:ext cx="10058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Networks</a:t>
            </a:r>
          </a:p>
        </p:txBody>
      </p:sp>
      <p:sp>
        <p:nvSpPr>
          <p:cNvPr id="10" name="Nav Timeline"/>
          <p:cNvSpPr/>
          <p:nvPr/>
        </p:nvSpPr>
        <p:spPr>
          <a:xfrm>
            <a:off x="10728655" y="109728"/>
            <a:ext cx="914400" cy="603504"/>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Timeline</a:t>
            </a:r>
          </a:p>
        </p:txBody>
      </p:sp>
      <p:sp>
        <p:nvSpPr>
          <p:cNvPr id="11" name="Kicker"/>
          <p:cNvSpPr txBox="1"/>
          <p:nvPr/>
        </p:nvSpPr>
        <p:spPr>
          <a:xfrm>
            <a:off x="548640" y="10972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ROADMAP TO LAUNCH</a:t>
            </a:r>
          </a:p>
        </p:txBody>
      </p:sp>
      <p:sp>
        <p:nvSpPr>
          <p:cNvPr id="12" name="Title"/>
          <p:cNvSpPr txBox="1"/>
          <p:nvPr/>
        </p:nvSpPr>
        <p:spPr>
          <a:xfrm>
            <a:off x="548640" y="13716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Timeline</a:t>
            </a:r>
          </a:p>
        </p:txBody>
      </p:sp>
      <p:sp>
        <p:nvSpPr>
          <p:cNvPr id="13" name="Timeline line"/>
          <p:cNvSpPr/>
          <p:nvPr/>
        </p:nvSpPr>
        <p:spPr>
          <a:xfrm>
            <a:off x="548640" y="2866644"/>
            <a:ext cx="11094415" cy="27432"/>
          </a:xfrm>
          <a:prstGeom prst="rect">
            <a:avLst/>
          </a:prstGeom>
          <a:solidFill>
            <a:srgbClr val="C9CAEA"/>
          </a:solidFill>
          <a:ln>
            <a:noFill/>
          </a:ln>
        </p:spPr>
        <p:txBody>
          <a:bodyPr wrap="square" lIns="0" tIns="0" rIns="0" bIns="0" anchor="t" rtlCol="0">
            <a:normAutofit/>
          </a:bodyPr>
          <a:lstStyle/>
          <a:p>
            <a:endParaRPr lang="en-US"/>
          </a:p>
        </p:txBody>
      </p:sp>
      <p:sp>
        <p:nvSpPr>
          <p:cNvPr id="14" name="Phase 1"/>
          <p:cNvSpPr txBox="1"/>
          <p:nvPr/>
        </p:nvSpPr>
        <p:spPr>
          <a:xfrm>
            <a:off x="548640" y="2240280"/>
            <a:ext cx="2602154" cy="237744"/>
          </a:xfrm>
          <a:prstGeom prst="rect">
            <a:avLst/>
          </a:prstGeom>
          <a:noFill/>
          <a:ln>
            <a:noFill/>
          </a:ln>
        </p:spPr>
        <p:txBody>
          <a:bodyPr wrap="square" lIns="0" tIns="0" rIns="0" bIns="0" anchor="b" rtlCol="0">
            <a:normAutofit/>
          </a:bodyPr>
          <a:lstStyle/>
          <a:p>
            <a:pPr algn="l">
              <a:spcAft>
                <a:spcPts val="0"/>
              </a:spcAft>
              <a:buNone/>
            </a:pPr>
            <a:r>
              <a:rPr lang="en-US" altLang="zh-CN" sz="1000" b="1" i="0" spc="100" dirty="0">
                <a:solidFill>
                  <a:srgbClr val="E5532D"/>
                </a:solidFill>
                <a:latin typeface="Arial"/>
                <a:ea typeface="Microsoft YaHei"/>
                <a:cs typeface="Arial"/>
              </a:rPr>
              <a:t>PHASE 01</a:t>
            </a:r>
          </a:p>
        </p:txBody>
      </p:sp>
      <p:sp>
        <p:nvSpPr>
          <p:cNvPr id="15" name="Date 1"/>
          <p:cNvSpPr txBox="1"/>
          <p:nvPr/>
        </p:nvSpPr>
        <p:spPr>
          <a:xfrm>
            <a:off x="548640" y="2478024"/>
            <a:ext cx="2602154"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4245AF"/>
                </a:solidFill>
                <a:latin typeface="Arial"/>
                <a:ea typeface="Microsoft YaHei"/>
                <a:cs typeface="Arial"/>
              </a:rPr>
              <a:t>November–December 2026</a:t>
            </a:r>
          </a:p>
        </p:txBody>
      </p:sp>
      <p:sp>
        <p:nvSpPr>
          <p:cNvPr id="16" name="Node 1"/>
          <p:cNvSpPr/>
          <p:nvPr/>
        </p:nvSpPr>
        <p:spPr>
          <a:xfrm>
            <a:off x="548640" y="2761488"/>
            <a:ext cx="237744" cy="237744"/>
          </a:xfrm>
          <a:prstGeom prst="ellipse">
            <a:avLst/>
          </a:prstGeom>
          <a:solidFill>
            <a:srgbClr val="4245AF"/>
          </a:solidFill>
          <a:ln w="25400">
            <a:solidFill>
              <a:srgbClr val="FFFFFF"/>
            </a:solidFill>
          </a:ln>
        </p:spPr>
        <p:txBody>
          <a:bodyPr wrap="square" lIns="0" tIns="0" rIns="0" bIns="0" anchor="t" rtlCol="0">
            <a:normAutofit/>
          </a:bodyPr>
          <a:lstStyle/>
          <a:p>
            <a:endParaRPr lang="en-US"/>
          </a:p>
        </p:txBody>
      </p:sp>
      <p:sp>
        <p:nvSpPr>
          <p:cNvPr id="17" name="Phase card 1"/>
          <p:cNvSpPr/>
          <p:nvPr/>
        </p:nvSpPr>
        <p:spPr>
          <a:xfrm>
            <a:off x="548640" y="3227832"/>
            <a:ext cx="2602154" cy="2834640"/>
          </a:xfrm>
          <a:prstGeom prst="roundRect">
            <a:avLst>
              <a:gd name="adj" fmla="val 5000"/>
            </a:avLst>
          </a:prstGeom>
          <a:solidFill>
            <a:srgbClr val="EEEEF8"/>
          </a:solidFill>
          <a:ln>
            <a:noFill/>
          </a:ln>
        </p:spPr>
        <p:txBody>
          <a:bodyPr wrap="square" lIns="0" tIns="0" rIns="0" bIns="0" anchor="t" rtlCol="0">
            <a:normAutofit/>
          </a:bodyPr>
          <a:lstStyle/>
          <a:p>
            <a:endParaRPr lang="en-US"/>
          </a:p>
        </p:txBody>
      </p:sp>
      <p:sp>
        <p:nvSpPr>
          <p:cNvPr id="18" name="Phase text 1"/>
          <p:cNvSpPr txBox="1"/>
          <p:nvPr/>
        </p:nvSpPr>
        <p:spPr>
          <a:xfrm>
            <a:off x="777240" y="3447288"/>
            <a:ext cx="2190674" cy="2468880"/>
          </a:xfrm>
          <a:prstGeom prst="rect">
            <a:avLst/>
          </a:prstGeom>
          <a:noFill/>
          <a:ln>
            <a:noFill/>
          </a:ln>
        </p:spPr>
        <p:txBody>
          <a:bodyPr wrap="square" lIns="0" tIns="0" rIns="0" bIns="0" anchor="t" rtlCol="0">
            <a:normAutofit/>
          </a:bodyPr>
          <a:lstStyle/>
          <a:p>
            <a:pPr algn="l">
              <a:lnSpc>
                <a:spcPct val="110000"/>
              </a:lnSpc>
              <a:spcAft>
                <a:spcPts val="1200"/>
              </a:spcAft>
              <a:buNone/>
            </a:pPr>
            <a:r>
              <a:rPr lang="en-US" altLang="zh-CN" sz="1500" b="1" i="0" dirty="0">
                <a:solidFill>
                  <a:srgbClr val="1E1E2E"/>
                </a:solidFill>
                <a:latin typeface="Arial"/>
                <a:ea typeface="Microsoft YaHei"/>
                <a:cs typeface="Arial"/>
              </a:rPr>
              <a:t>Editorial Board Formation &amp; Strategic Planning</a:t>
            </a:r>
          </a:p>
          <a:p>
            <a:pPr marL="155448" indent="-155448">
              <a:lnSpc>
                <a:spcPct val="128000"/>
              </a:lnSpc>
              <a:spcAft>
                <a:spcPts val="800"/>
              </a:spcAft>
              <a:buClr>
                <a:srgbClr val="4245AF"/>
              </a:buClr>
              <a:buSzPct val="100000"/>
              <a:buFont typeface="Arial"/>
              <a:buChar char="•"/>
            </a:pPr>
            <a:r>
              <a:rPr lang="en-US" altLang="zh-CN" sz="1250" b="0" i="0" dirty="0">
                <a:solidFill>
                  <a:srgbClr val="5B5D72"/>
                </a:solidFill>
                <a:latin typeface="Arial"/>
                <a:ea typeface="Microsoft YaHei"/>
                <a:cs typeface="Arial"/>
              </a:rPr>
              <a:t>Convene the inaugural Editorial Board meeting.</a:t>
            </a:r>
          </a:p>
          <a:p>
            <a:pPr marL="155448" indent="-155448">
              <a:lnSpc>
                <a:spcPct val="128000"/>
              </a:lnSpc>
              <a:spcAft>
                <a:spcPts val="800"/>
              </a:spcAft>
              <a:buClr>
                <a:srgbClr val="4245AF"/>
              </a:buClr>
              <a:buSzPct val="100000"/>
              <a:buFont typeface="Arial"/>
              <a:buChar char="•"/>
            </a:pPr>
            <a:r>
              <a:rPr lang="en-US" altLang="zh-CN" sz="1250" b="0" i="0" dirty="0">
                <a:solidFill>
                  <a:srgbClr val="5B5D72"/>
                </a:solidFill>
                <a:latin typeface="Arial"/>
                <a:ea typeface="Microsoft YaHei"/>
                <a:cs typeface="Arial"/>
              </a:rPr>
              <a:t>Finalize the journal’s vision, scope, editorial structure, and launch strategy.</a:t>
            </a:r>
          </a:p>
        </p:txBody>
      </p:sp>
      <p:sp>
        <p:nvSpPr>
          <p:cNvPr id="19" name="Phase 2"/>
          <p:cNvSpPr txBox="1"/>
          <p:nvPr/>
        </p:nvSpPr>
        <p:spPr>
          <a:xfrm>
            <a:off x="3379394" y="2240280"/>
            <a:ext cx="2602154" cy="237744"/>
          </a:xfrm>
          <a:prstGeom prst="rect">
            <a:avLst/>
          </a:prstGeom>
          <a:noFill/>
          <a:ln>
            <a:noFill/>
          </a:ln>
        </p:spPr>
        <p:txBody>
          <a:bodyPr wrap="square" lIns="0" tIns="0" rIns="0" bIns="0" anchor="b" rtlCol="0">
            <a:normAutofit/>
          </a:bodyPr>
          <a:lstStyle/>
          <a:p>
            <a:pPr algn="l">
              <a:spcAft>
                <a:spcPts val="0"/>
              </a:spcAft>
              <a:buNone/>
            </a:pPr>
            <a:r>
              <a:rPr lang="en-US" altLang="zh-CN" sz="1000" b="1" i="0" spc="100" dirty="0">
                <a:solidFill>
                  <a:srgbClr val="E5532D"/>
                </a:solidFill>
                <a:latin typeface="Arial"/>
                <a:ea typeface="Microsoft YaHei"/>
                <a:cs typeface="Arial"/>
              </a:rPr>
              <a:t>PHASE 02</a:t>
            </a:r>
          </a:p>
        </p:txBody>
      </p:sp>
      <p:sp>
        <p:nvSpPr>
          <p:cNvPr id="20" name="Date 2"/>
          <p:cNvSpPr txBox="1"/>
          <p:nvPr/>
        </p:nvSpPr>
        <p:spPr>
          <a:xfrm>
            <a:off x="3379394" y="2478024"/>
            <a:ext cx="2602154"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4245AF"/>
                </a:solidFill>
                <a:latin typeface="Arial"/>
                <a:ea typeface="Microsoft YaHei"/>
                <a:cs typeface="Arial"/>
              </a:rPr>
              <a:t>February 2027</a:t>
            </a:r>
          </a:p>
        </p:txBody>
      </p:sp>
      <p:sp>
        <p:nvSpPr>
          <p:cNvPr id="21" name="Node 2"/>
          <p:cNvSpPr/>
          <p:nvPr/>
        </p:nvSpPr>
        <p:spPr>
          <a:xfrm>
            <a:off x="3379394" y="2761488"/>
            <a:ext cx="237744" cy="237744"/>
          </a:xfrm>
          <a:prstGeom prst="ellipse">
            <a:avLst/>
          </a:prstGeom>
          <a:solidFill>
            <a:srgbClr val="4245AF"/>
          </a:solidFill>
          <a:ln w="25400">
            <a:solidFill>
              <a:srgbClr val="FFFFFF"/>
            </a:solidFill>
          </a:ln>
        </p:spPr>
        <p:txBody>
          <a:bodyPr wrap="square" lIns="0" tIns="0" rIns="0" bIns="0" anchor="t" rtlCol="0">
            <a:normAutofit/>
          </a:bodyPr>
          <a:lstStyle/>
          <a:p>
            <a:endParaRPr lang="en-US"/>
          </a:p>
        </p:txBody>
      </p:sp>
      <p:sp>
        <p:nvSpPr>
          <p:cNvPr id="22" name="Phase card 2"/>
          <p:cNvSpPr/>
          <p:nvPr/>
        </p:nvSpPr>
        <p:spPr>
          <a:xfrm>
            <a:off x="3379394" y="3227832"/>
            <a:ext cx="2602154" cy="2834640"/>
          </a:xfrm>
          <a:prstGeom prst="roundRect">
            <a:avLst>
              <a:gd name="adj" fmla="val 5000"/>
            </a:avLst>
          </a:prstGeom>
          <a:solidFill>
            <a:srgbClr val="EEEEF8"/>
          </a:solidFill>
          <a:ln>
            <a:noFill/>
          </a:ln>
        </p:spPr>
        <p:txBody>
          <a:bodyPr wrap="square" lIns="0" tIns="0" rIns="0" bIns="0" anchor="t" rtlCol="0">
            <a:normAutofit/>
          </a:bodyPr>
          <a:lstStyle/>
          <a:p>
            <a:endParaRPr lang="en-US"/>
          </a:p>
        </p:txBody>
      </p:sp>
      <p:sp>
        <p:nvSpPr>
          <p:cNvPr id="23" name="Phase text 2"/>
          <p:cNvSpPr txBox="1"/>
          <p:nvPr/>
        </p:nvSpPr>
        <p:spPr>
          <a:xfrm>
            <a:off x="3607994" y="3447288"/>
            <a:ext cx="2190674" cy="2468880"/>
          </a:xfrm>
          <a:prstGeom prst="rect">
            <a:avLst/>
          </a:prstGeom>
          <a:noFill/>
          <a:ln>
            <a:noFill/>
          </a:ln>
        </p:spPr>
        <p:txBody>
          <a:bodyPr wrap="square" lIns="0" tIns="0" rIns="0" bIns="0" anchor="t" rtlCol="0">
            <a:normAutofit/>
          </a:bodyPr>
          <a:lstStyle/>
          <a:p>
            <a:pPr algn="l">
              <a:lnSpc>
                <a:spcPct val="110000"/>
              </a:lnSpc>
              <a:spcAft>
                <a:spcPts val="1200"/>
              </a:spcAft>
              <a:buNone/>
            </a:pPr>
            <a:r>
              <a:rPr lang="en-US" altLang="zh-CN" sz="1500" b="1" i="0" dirty="0">
                <a:solidFill>
                  <a:srgbClr val="1E1E2E"/>
                </a:solidFill>
                <a:latin typeface="Arial"/>
                <a:ea typeface="Microsoft YaHei"/>
                <a:cs typeface="Arial"/>
              </a:rPr>
              <a:t>APNHR–AHRC Conference, Melbourne</a:t>
            </a:r>
          </a:p>
          <a:p>
            <a:pPr marL="155448" indent="-155448">
              <a:lnSpc>
                <a:spcPct val="128000"/>
              </a:lnSpc>
              <a:spcAft>
                <a:spcPts val="800"/>
              </a:spcAft>
              <a:buClr>
                <a:srgbClr val="4245AF"/>
              </a:buClr>
              <a:buSzPct val="100000"/>
              <a:buFont typeface="Arial"/>
              <a:buChar char="•"/>
            </a:pPr>
            <a:r>
              <a:rPr lang="en-US" altLang="zh-CN" sz="1250" b="0" i="0" dirty="0">
                <a:solidFill>
                  <a:srgbClr val="5B5D72"/>
                </a:solidFill>
                <a:latin typeface="Arial"/>
                <a:ea typeface="Microsoft YaHei"/>
                <a:cs typeface="Arial"/>
              </a:rPr>
              <a:t>Introduce the journal to international research networks.</a:t>
            </a:r>
          </a:p>
          <a:p>
            <a:pPr marL="155448" indent="-155448">
              <a:lnSpc>
                <a:spcPct val="128000"/>
              </a:lnSpc>
              <a:spcAft>
                <a:spcPts val="800"/>
              </a:spcAft>
              <a:buClr>
                <a:srgbClr val="4245AF"/>
              </a:buClr>
              <a:buSzPct val="100000"/>
              <a:buFont typeface="Arial"/>
              <a:buChar char="•"/>
            </a:pPr>
            <a:r>
              <a:rPr lang="en-US" altLang="zh-CN" sz="1250" b="0" i="0" dirty="0">
                <a:solidFill>
                  <a:srgbClr val="5B5D72"/>
                </a:solidFill>
                <a:latin typeface="Arial"/>
                <a:ea typeface="Microsoft YaHei"/>
                <a:cs typeface="Arial"/>
              </a:rPr>
              <a:t>Engage potential editors, contributors, and institutional partners.</a:t>
            </a:r>
          </a:p>
        </p:txBody>
      </p:sp>
      <p:sp>
        <p:nvSpPr>
          <p:cNvPr id="24" name="Phase 3"/>
          <p:cNvSpPr txBox="1"/>
          <p:nvPr/>
        </p:nvSpPr>
        <p:spPr>
          <a:xfrm>
            <a:off x="6210148" y="2240280"/>
            <a:ext cx="2602154" cy="237744"/>
          </a:xfrm>
          <a:prstGeom prst="rect">
            <a:avLst/>
          </a:prstGeom>
          <a:noFill/>
          <a:ln>
            <a:noFill/>
          </a:ln>
        </p:spPr>
        <p:txBody>
          <a:bodyPr wrap="square" lIns="0" tIns="0" rIns="0" bIns="0" anchor="b" rtlCol="0">
            <a:normAutofit/>
          </a:bodyPr>
          <a:lstStyle/>
          <a:p>
            <a:pPr algn="l">
              <a:spcAft>
                <a:spcPts val="0"/>
              </a:spcAft>
              <a:buNone/>
            </a:pPr>
            <a:r>
              <a:rPr lang="en-US" altLang="zh-CN" sz="1000" b="1" i="0" spc="100" dirty="0">
                <a:solidFill>
                  <a:srgbClr val="E5532D"/>
                </a:solidFill>
                <a:latin typeface="Arial"/>
                <a:ea typeface="Microsoft YaHei"/>
                <a:cs typeface="Arial"/>
              </a:rPr>
              <a:t>PHASE 03</a:t>
            </a:r>
          </a:p>
        </p:txBody>
      </p:sp>
      <p:sp>
        <p:nvSpPr>
          <p:cNvPr id="25" name="Date 3"/>
          <p:cNvSpPr txBox="1"/>
          <p:nvPr/>
        </p:nvSpPr>
        <p:spPr>
          <a:xfrm>
            <a:off x="6210148" y="2478024"/>
            <a:ext cx="2602154"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4245AF"/>
                </a:solidFill>
                <a:latin typeface="Arial"/>
                <a:ea typeface="Microsoft YaHei"/>
                <a:cs typeface="Arial"/>
              </a:rPr>
              <a:t>April 2027</a:t>
            </a:r>
          </a:p>
        </p:txBody>
      </p:sp>
      <p:sp>
        <p:nvSpPr>
          <p:cNvPr id="26" name="Node 3"/>
          <p:cNvSpPr/>
          <p:nvPr/>
        </p:nvSpPr>
        <p:spPr>
          <a:xfrm>
            <a:off x="6210148" y="2761488"/>
            <a:ext cx="237744" cy="237744"/>
          </a:xfrm>
          <a:prstGeom prst="ellipse">
            <a:avLst/>
          </a:prstGeom>
          <a:solidFill>
            <a:srgbClr val="4245AF"/>
          </a:solidFill>
          <a:ln w="25400">
            <a:solidFill>
              <a:srgbClr val="FFFFFF"/>
            </a:solidFill>
          </a:ln>
        </p:spPr>
        <p:txBody>
          <a:bodyPr wrap="square" lIns="0" tIns="0" rIns="0" bIns="0" anchor="t" rtlCol="0">
            <a:normAutofit/>
          </a:bodyPr>
          <a:lstStyle/>
          <a:p>
            <a:endParaRPr lang="en-US"/>
          </a:p>
        </p:txBody>
      </p:sp>
      <p:sp>
        <p:nvSpPr>
          <p:cNvPr id="27" name="Phase card 3"/>
          <p:cNvSpPr/>
          <p:nvPr/>
        </p:nvSpPr>
        <p:spPr>
          <a:xfrm>
            <a:off x="6210148" y="3227832"/>
            <a:ext cx="2602154" cy="2834640"/>
          </a:xfrm>
          <a:prstGeom prst="roundRect">
            <a:avLst>
              <a:gd name="adj" fmla="val 5000"/>
            </a:avLst>
          </a:prstGeom>
          <a:solidFill>
            <a:srgbClr val="EEEEF8"/>
          </a:solidFill>
          <a:ln>
            <a:noFill/>
          </a:ln>
        </p:spPr>
        <p:txBody>
          <a:bodyPr wrap="square" lIns="0" tIns="0" rIns="0" bIns="0" anchor="t" rtlCol="0">
            <a:normAutofit/>
          </a:bodyPr>
          <a:lstStyle/>
          <a:p>
            <a:endParaRPr lang="en-US"/>
          </a:p>
        </p:txBody>
      </p:sp>
      <p:sp>
        <p:nvSpPr>
          <p:cNvPr id="28" name="Phase text 3"/>
          <p:cNvSpPr txBox="1"/>
          <p:nvPr/>
        </p:nvSpPr>
        <p:spPr>
          <a:xfrm>
            <a:off x="6438748" y="3447288"/>
            <a:ext cx="2190674" cy="2468880"/>
          </a:xfrm>
          <a:prstGeom prst="rect">
            <a:avLst/>
          </a:prstGeom>
          <a:noFill/>
          <a:ln>
            <a:noFill/>
          </a:ln>
        </p:spPr>
        <p:txBody>
          <a:bodyPr wrap="square" lIns="0" tIns="0" rIns="0" bIns="0" anchor="t" rtlCol="0">
            <a:normAutofit/>
          </a:bodyPr>
          <a:lstStyle/>
          <a:p>
            <a:pPr algn="l">
              <a:lnSpc>
                <a:spcPct val="110000"/>
              </a:lnSpc>
              <a:spcAft>
                <a:spcPts val="1200"/>
              </a:spcAft>
              <a:buNone/>
            </a:pPr>
            <a:r>
              <a:rPr lang="en-US" altLang="zh-CN" sz="1500" b="1" i="0" dirty="0">
                <a:solidFill>
                  <a:srgbClr val="1E1E2E"/>
                </a:solidFill>
                <a:latin typeface="Arial"/>
                <a:ea typeface="Microsoft YaHei"/>
                <a:cs typeface="Arial"/>
              </a:rPr>
              <a:t>UAA Conference, New York</a:t>
            </a:r>
          </a:p>
          <a:p>
            <a:pPr marL="155448" indent="-155448">
              <a:lnSpc>
                <a:spcPct val="128000"/>
              </a:lnSpc>
              <a:spcAft>
                <a:spcPts val="800"/>
              </a:spcAft>
              <a:buClr>
                <a:srgbClr val="4245AF"/>
              </a:buClr>
              <a:buSzPct val="100000"/>
              <a:buFont typeface="Arial"/>
              <a:buChar char="•"/>
            </a:pPr>
            <a:r>
              <a:rPr lang="en-US" altLang="zh-CN" sz="1250" b="0" i="0" dirty="0">
                <a:solidFill>
                  <a:srgbClr val="5B5D72"/>
                </a:solidFill>
                <a:latin typeface="Arial"/>
                <a:ea typeface="Microsoft YaHei"/>
                <a:cs typeface="Arial"/>
              </a:rPr>
              <a:t>Expand international networking and raise awareness of the journal.</a:t>
            </a:r>
          </a:p>
          <a:p>
            <a:pPr marL="155448" indent="-155448">
              <a:lnSpc>
                <a:spcPct val="128000"/>
              </a:lnSpc>
              <a:spcAft>
                <a:spcPts val="800"/>
              </a:spcAft>
              <a:buClr>
                <a:srgbClr val="4245AF"/>
              </a:buClr>
              <a:buSzPct val="100000"/>
              <a:buFont typeface="Arial"/>
              <a:buChar char="•"/>
            </a:pPr>
            <a:r>
              <a:rPr lang="en-US" altLang="zh-CN" sz="1250" b="0" i="0" dirty="0">
                <a:solidFill>
                  <a:srgbClr val="5B5D72"/>
                </a:solidFill>
                <a:latin typeface="Arial"/>
                <a:ea typeface="Microsoft YaHei"/>
                <a:cs typeface="Arial"/>
              </a:rPr>
              <a:t>Invite prospective submissions and explore special issue opportunities.</a:t>
            </a:r>
          </a:p>
        </p:txBody>
      </p:sp>
      <p:sp>
        <p:nvSpPr>
          <p:cNvPr id="29" name="Phase 4"/>
          <p:cNvSpPr txBox="1"/>
          <p:nvPr/>
        </p:nvSpPr>
        <p:spPr>
          <a:xfrm>
            <a:off x="9040901" y="2240280"/>
            <a:ext cx="2602154" cy="237744"/>
          </a:xfrm>
          <a:prstGeom prst="rect">
            <a:avLst/>
          </a:prstGeom>
          <a:noFill/>
          <a:ln>
            <a:noFill/>
          </a:ln>
        </p:spPr>
        <p:txBody>
          <a:bodyPr wrap="square" lIns="0" tIns="0" rIns="0" bIns="0" anchor="b" rtlCol="0">
            <a:normAutofit/>
          </a:bodyPr>
          <a:lstStyle/>
          <a:p>
            <a:pPr algn="l">
              <a:spcAft>
                <a:spcPts val="0"/>
              </a:spcAft>
              <a:buNone/>
            </a:pPr>
            <a:r>
              <a:rPr lang="en-US" altLang="zh-CN" sz="1000" b="1" i="0" spc="100" dirty="0">
                <a:solidFill>
                  <a:srgbClr val="E5532D"/>
                </a:solidFill>
                <a:latin typeface="Arial"/>
                <a:ea typeface="Microsoft YaHei"/>
                <a:cs typeface="Arial"/>
              </a:rPr>
              <a:t>PHASE 04</a:t>
            </a:r>
          </a:p>
        </p:txBody>
      </p:sp>
      <p:sp>
        <p:nvSpPr>
          <p:cNvPr id="30" name="Date 4"/>
          <p:cNvSpPr txBox="1"/>
          <p:nvPr/>
        </p:nvSpPr>
        <p:spPr>
          <a:xfrm>
            <a:off x="9040901" y="2478024"/>
            <a:ext cx="2602154"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4C8C2B"/>
                </a:solidFill>
                <a:latin typeface="Arial"/>
                <a:ea typeface="Microsoft YaHei"/>
                <a:cs typeface="Arial"/>
              </a:rPr>
              <a:t>August 2027</a:t>
            </a:r>
          </a:p>
        </p:txBody>
      </p:sp>
      <p:sp>
        <p:nvSpPr>
          <p:cNvPr id="31" name="Node 4"/>
          <p:cNvSpPr/>
          <p:nvPr/>
        </p:nvSpPr>
        <p:spPr>
          <a:xfrm>
            <a:off x="9040901" y="2761488"/>
            <a:ext cx="237744" cy="237744"/>
          </a:xfrm>
          <a:prstGeom prst="ellipse">
            <a:avLst/>
          </a:prstGeom>
          <a:solidFill>
            <a:srgbClr val="4C8C2B"/>
          </a:solidFill>
          <a:ln w="25400">
            <a:solidFill>
              <a:srgbClr val="FFFFFF"/>
            </a:solidFill>
          </a:ln>
        </p:spPr>
        <p:txBody>
          <a:bodyPr wrap="square" lIns="0" tIns="0" rIns="0" bIns="0" anchor="t" rtlCol="0">
            <a:normAutofit/>
          </a:bodyPr>
          <a:lstStyle/>
          <a:p>
            <a:endParaRPr lang="en-US"/>
          </a:p>
        </p:txBody>
      </p:sp>
      <p:sp>
        <p:nvSpPr>
          <p:cNvPr id="32" name="Phase card 4"/>
          <p:cNvSpPr/>
          <p:nvPr/>
        </p:nvSpPr>
        <p:spPr>
          <a:xfrm>
            <a:off x="9040901" y="3227832"/>
            <a:ext cx="2602154" cy="2834640"/>
          </a:xfrm>
          <a:prstGeom prst="roundRect">
            <a:avLst>
              <a:gd name="adj" fmla="val 5000"/>
            </a:avLst>
          </a:prstGeom>
          <a:solidFill>
            <a:srgbClr val="4245AF"/>
          </a:solidFill>
          <a:ln>
            <a:noFill/>
          </a:ln>
        </p:spPr>
        <p:txBody>
          <a:bodyPr wrap="square" lIns="0" tIns="0" rIns="0" bIns="0" anchor="t" rtlCol="0">
            <a:normAutofit/>
          </a:bodyPr>
          <a:lstStyle/>
          <a:p>
            <a:endParaRPr lang="en-US"/>
          </a:p>
        </p:txBody>
      </p:sp>
      <p:sp>
        <p:nvSpPr>
          <p:cNvPr id="33" name="Phase text 4"/>
          <p:cNvSpPr txBox="1"/>
          <p:nvPr/>
        </p:nvSpPr>
        <p:spPr>
          <a:xfrm>
            <a:off x="9269501" y="3447288"/>
            <a:ext cx="2190674" cy="2468880"/>
          </a:xfrm>
          <a:prstGeom prst="rect">
            <a:avLst/>
          </a:prstGeom>
          <a:noFill/>
          <a:ln>
            <a:noFill/>
          </a:ln>
        </p:spPr>
        <p:txBody>
          <a:bodyPr wrap="square" lIns="0" tIns="0" rIns="0" bIns="0" anchor="t" rtlCol="0">
            <a:normAutofit/>
          </a:bodyPr>
          <a:lstStyle/>
          <a:p>
            <a:pPr algn="l">
              <a:lnSpc>
                <a:spcPct val="110000"/>
              </a:lnSpc>
              <a:spcAft>
                <a:spcPts val="1200"/>
              </a:spcAft>
              <a:buNone/>
            </a:pPr>
            <a:r>
              <a:rPr lang="en-US" altLang="zh-CN" sz="1500" b="1" i="0" dirty="0">
                <a:solidFill>
                  <a:srgbClr val="FFFFFF"/>
                </a:solidFill>
                <a:latin typeface="Arial"/>
                <a:ea typeface="Microsoft YaHei"/>
                <a:cs typeface="Arial"/>
              </a:rPr>
              <a:t>IGU Urban Commission Meeting</a:t>
            </a:r>
          </a:p>
          <a:p>
            <a:pPr marL="155448" indent="-155448">
              <a:lnSpc>
                <a:spcPct val="128000"/>
              </a:lnSpc>
              <a:spcAft>
                <a:spcPts val="800"/>
              </a:spcAft>
              <a:buClr>
                <a:srgbClr val="F6B26B"/>
              </a:buClr>
              <a:buSzPct val="100000"/>
              <a:buFont typeface="Arial"/>
              <a:buChar char="•"/>
            </a:pPr>
            <a:r>
              <a:rPr lang="en-US" altLang="zh-CN" sz="1250" b="1" i="0" dirty="0">
                <a:solidFill>
                  <a:srgbClr val="F6B26B"/>
                </a:solidFill>
                <a:latin typeface="Arial"/>
                <a:ea typeface="Microsoft YaHei"/>
                <a:cs typeface="Arial"/>
              </a:rPr>
              <a:t>Official Launch of The Innovation Urban.</a:t>
            </a:r>
          </a:p>
          <a:p>
            <a:pPr marL="155448" indent="-155448">
              <a:lnSpc>
                <a:spcPct val="128000"/>
              </a:lnSpc>
              <a:spcAft>
                <a:spcPts val="800"/>
              </a:spcAft>
              <a:buClr>
                <a:srgbClr val="F6B26B"/>
              </a:buClr>
              <a:buSzPct val="100000"/>
              <a:buFont typeface="Arial"/>
              <a:buChar char="•"/>
            </a:pPr>
            <a:r>
              <a:rPr lang="en-US" altLang="zh-CN" sz="1250" b="0" i="0" dirty="0">
                <a:solidFill>
                  <a:srgbClr val="D9DAF5"/>
                </a:solidFill>
                <a:latin typeface="Arial"/>
                <a:ea typeface="Microsoft YaHei"/>
                <a:cs typeface="Arial"/>
              </a:rPr>
              <a:t>Announce the editorial team, journal scope, and call for papers.</a:t>
            </a:r>
          </a:p>
        </p:txBody>
      </p:sp>
      <p:sp>
        <p:nvSpPr>
          <p:cNvPr id="901" name="Page number"/>
          <p:cNvSpPr txBox="1"/>
          <p:nvPr/>
        </p:nvSpPr>
        <p:spPr>
          <a:xfrm>
            <a:off x="10728655" y="6492240"/>
            <a:ext cx="914400" cy="237744"/>
          </a:xfrm>
          <a:prstGeom prst="rect">
            <a:avLst/>
          </a:prstGeom>
          <a:noFill/>
          <a:ln>
            <a:noFill/>
          </a:ln>
        </p:spPr>
        <p:txBody>
          <a:bodyPr wrap="square" lIns="0" tIns="0" rIns="0" bIns="0" anchor="ctr" rtlCol="0">
            <a:normAutofit/>
          </a:bodyPr>
          <a:lstStyle/>
          <a:p>
            <a:pPr algn="r">
              <a:spcAft>
                <a:spcPts val="0"/>
              </a:spcAft>
              <a:buNone/>
            </a:pPr>
            <a:r>
              <a:rPr lang="en-US" altLang="zh-CN" sz="1000" b="1" i="0" spc="100" dirty="0">
                <a:solidFill>
                  <a:srgbClr val="5B5D72"/>
                </a:solidFill>
                <a:latin typeface="Arial"/>
                <a:ea typeface="Microsoft YaHei"/>
                <a:cs typeface="Arial"/>
              </a:rPr>
              <a:t>09</a:t>
            </a:r>
          </a:p>
        </p:txBody>
      </p:sp>
    </p:spTree>
    <p:extLst>
      <p:ext uri="{BB962C8B-B14F-4D97-AF65-F5344CB8AC3E}">
        <p14:creationId xmlns:p14="http://schemas.microsoft.com/office/powerpoint/2010/main" val="311062155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TotalTime>
  <Words>3235</Words>
  <Application>Microsoft Office PowerPoint</Application>
  <PresentationFormat>宽屏</PresentationFormat>
  <Paragraphs>110</Paragraphs>
  <Slides>9</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9</vt:i4>
      </vt:variant>
    </vt:vector>
  </HeadingPairs>
  <TitlesOfParts>
    <vt:vector size="15" baseType="lpstr">
      <vt:lpstr>Noto Sans CJK SC</vt:lpstr>
      <vt:lpstr>等线</vt:lpstr>
      <vt:lpstr>等线 Light</vt:lpstr>
      <vt:lpstr>Arial</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Xiang Yan</dc:creator>
  <cp:lastModifiedBy>Xiang Yan</cp:lastModifiedBy>
  <cp:revision>16</cp:revision>
  <dcterms:created xsi:type="dcterms:W3CDTF">2026-10-11T03:25:45Z</dcterms:created>
  <dcterms:modified xsi:type="dcterms:W3CDTF">2026-10-11T06:07:07Z</dcterms:modified>
</cp:coreProperties>
</file>