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050" y="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B7E08-442D-7537-3BB8-05A070F42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833787-21F9-A7F5-F31C-4B3AC3CBB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18EFC-89D2-ED18-58B4-E6E331E7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8B04B-7286-9177-9161-A37F5968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3DD75-EF64-37C0-D647-EAEE8E64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775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EEC35-F089-AA04-17FB-0E6189FF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FB732-1946-351E-5081-5322A0417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D4744D-DE1B-21C6-4675-2F7208A7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86D13-FEAA-CBF8-C161-8E3F0474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D9B545-62CB-04CC-6001-2FEC56AE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8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089C0-9986-5EFD-AF08-8ABB64B3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6F522D-C131-5088-FC81-0CE680D4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219858-DC77-F4B3-1482-64176643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12131-45A5-F112-EACB-0F1C68ED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DC198D-9589-887D-34C6-1AF50E47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355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A0D93-FCE3-C6F3-139C-C1E0BC43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64C12-F622-53E7-1341-AEBDBE190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7DF23-3164-F5A8-87AE-12650ABB1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B8D20F-85E6-D4EB-57BB-65A7D742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ABD7D6-23A7-BB35-2F3B-CE1819F6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CFBEBC-AF66-FE08-1EE7-32149A1C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17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1EE4E-5EC0-78BB-22EC-5796D50C0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28205D-DA2D-DF3F-5870-54378DF95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010DD2-327D-5069-236F-99E423595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535DE7-809F-C0BD-FF1B-016497AEC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05FC93-71F2-00DF-008E-F421364B2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C9EAEE-1C3B-BA83-DD99-BE364B66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9F4AF3-973B-4362-160E-689440E3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797EEF-9F51-94E4-8D2D-06B49F07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067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3FFF9-436B-1FBF-98FB-5CF5C71F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A92861-6E28-5860-D353-26C6DC74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266A49-8C52-A474-AD2B-D53F984C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0D2BAC-FBCF-F218-CC26-667BF048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77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D5C4E3-C4DA-8CD3-A827-FE482DA8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C7A1D-DD41-F951-E64E-5FEA6885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44D3C0-7EDF-7A3C-B133-8B3DACCC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82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8BA60-021F-2AAB-4189-47D708D2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7A12A7-108F-EBEE-E5C7-85DD366B8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54675E-954D-07B6-9E8F-D94AE7157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C2704B-0B1C-E425-AC48-5C0CE459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AD5301-04CC-F9C5-DF54-70BFD5FE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FC37CD-D408-A413-967C-8003D377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30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A16E5-9060-04A3-6151-A4DB8ED1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D524BF-3D86-71CF-E8E4-2D0667F2707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424768-6262-42A1-2ACE-40B3981E1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971BF7-5436-812C-0197-B784DFD8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B8BFBF-258D-ACBE-D279-40FE85F2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DAAD80-946E-F09C-93D9-6ED45738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82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2910D-B9B1-82CC-55A6-6514EEE2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ED1190-5FD9-11A2-EA9A-B80B1E1D4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30AB3-9035-45D6-E1BA-0AA79C30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60D189-67E1-96B1-43FC-A6E1623C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2D5793-839C-CF07-FC68-AA8CA741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12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7D2D02-D59D-A506-833A-BFFE2C395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B083D9-530C-A428-7DA4-8EAD708BF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7A19C5-09F7-C14C-6A36-85AE2760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37A4F-FD94-065C-FA46-0589538C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507972-9ECB-AAF9-1568-8D02176D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9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607E11-537A-A5AC-7849-1A6CA3A9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4232E7-0F2A-467E-C680-76F6FDA90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D83F14-E303-F266-B76B-7EA87431D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C87C4-D99C-497E-B1F4-1737D0FB808A}" type="datetimeFigureOut">
              <a:rPr lang="zh-CN" altLang="en-US" smtClean="0"/>
              <a:t>2026/10/11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4F5D62-24DC-D3C7-253E-FAFC2F68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0959D6-57CF-5D7B-56A1-87EFBBB87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27884-5888-4105-B70E-1B888E3293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72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b_1_image1.png"/><Relationship Id="rId3" Type="http://schemas.openxmlformats.org/officeDocument/2006/relationships/image" Target="../media/mb_1_image5.jpeg"/><Relationship Id="rId4" Type="http://schemas.openxmlformats.org/officeDocument/2006/relationships/image" Target="../media/mb_1_image2.jpeg"/><Relationship Id="rId5" Type="http://schemas.openxmlformats.org/officeDocument/2006/relationships/image" Target="../media/mb_1_image3.jpeg"/><Relationship Id="rId6" Type="http://schemas.openxmlformats.org/officeDocument/2006/relationships/image" Target="../media/mb_1_image4.jpeg"/><Relationship Id="rId7" Type="http://schemas.openxmlformats.org/officeDocument/2006/relationships/image" Target="../media/mb_1_image6.jpeg"/><Relationship Id="rId8" Type="http://schemas.openxmlformats.org/officeDocument/2006/relationships/image" Target="../media/mb_1_image7.jpeg"/><Relationship Id="rId9" Type="http://schemas.openxmlformats.org/officeDocument/2006/relationships/image" Target="../media/mb_1_image8.jpeg"/><Relationship Id="rId10" Type="http://schemas.openxmlformats.org/officeDocument/2006/relationships/image" Target="../media/mb_1_image9.jpeg"/><Relationship Id="rId11" Type="http://schemas.openxmlformats.org/officeDocument/2006/relationships/image" Target="../media/mb_1_image10.jpeg"/><Relationship Id="rId12" Type="http://schemas.openxmlformats.org/officeDocument/2006/relationships/image" Target="../media/mb_2_image11.jpeg"/><Relationship Id="rId13" Type="http://schemas.openxmlformats.org/officeDocument/2006/relationships/image" Target="../media/mb_2_image12.jpeg"/><Relationship Id="rId14" Type="http://schemas.openxmlformats.org/officeDocument/2006/relationships/image" Target="../media/mb_2_image13.jpeg"/><Relationship Id="rId15" Type="http://schemas.openxmlformats.org/officeDocument/2006/relationships/image" Target="../media/mb_2_image14.jpeg"/><Relationship Id="rId16" Type="http://schemas.openxmlformats.org/officeDocument/2006/relationships/image" Target="../media/mb_2_image15.jpeg"/><Relationship Id="rId17" Type="http://schemas.openxmlformats.org/officeDocument/2006/relationships/image" Target="../media/mb_2_image16.jpeg"/><Relationship Id="rId18" Type="http://schemas.openxmlformats.org/officeDocument/2006/relationships/image" Target="../media/mb_2_image17.jpe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ap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sp>
        <p:nvSpPr>
          <p:cNvPr id="3" name="Strap text"/>
          <p:cNvSpPr txBox="1"/>
          <p:nvPr/>
        </p:nvSpPr>
        <p:spPr>
          <a:xfrm>
            <a:off x="548640" y="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altLang="zh-CN" sz="1100" b="0" i="0" dirty="0">
                <a:solidFill>
                  <a:srgbClr val="E5532D"/>
                </a:solidFill>
                <a:latin typeface="Arial"/>
                <a:ea typeface="Microsoft YaHei"/>
                <a:cs typeface="Arial"/>
              </a:rPr>
              <a:t>The Innovation Urban  |  A proposed sister journal of The Innovation</a:t>
            </a:r>
          </a:p>
        </p:txBody>
      </p:sp>
      <p:sp>
        <p:nvSpPr>
          <p:cNvPr id="4" name="Page number"/>
          <p:cNvSpPr txBox="1"/>
          <p:nvPr/>
        </p:nvSpPr>
        <p:spPr>
          <a:xfrm>
            <a:off x="10728655" y="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altLang="zh-CN" sz="11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5" name="Navigation bar"/>
          <p:cNvSpPr/>
          <p:nvPr/>
        </p:nvSpPr>
        <p:spPr>
          <a:xfrm>
            <a:off x="0" y="365760"/>
            <a:ext cx="12191695" cy="713232"/>
          </a:xfrm>
          <a:prstGeom prst="rect">
            <a:avLst/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sp>
        <p:nvSpPr>
          <p:cNvPr id="6" name="Journal name"/>
          <p:cNvSpPr txBox="1"/>
          <p:nvPr/>
        </p:nvSpPr>
        <p:spPr>
          <a:xfrm>
            <a:off x="548640" y="36576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altLang="zh-CN" sz="22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The Innovation Urban</a:t>
            </a:r>
          </a:p>
        </p:txBody>
      </p:sp>
      <p:sp>
        <p:nvSpPr>
          <p:cNvPr id="7" name="Nav Background"/>
          <p:cNvSpPr/>
          <p:nvPr/>
        </p:nvSpPr>
        <p:spPr>
          <a:xfrm>
            <a:off x="5928055" y="429768"/>
            <a:ext cx="13258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400" b="0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Background</a:t>
            </a:r>
          </a:p>
        </p:txBody>
      </p:sp>
      <p:sp>
        <p:nvSpPr>
          <p:cNvPr id="8" name="Nav Vision"/>
          <p:cNvSpPr/>
          <p:nvPr/>
        </p:nvSpPr>
        <p:spPr>
          <a:xfrm>
            <a:off x="7253935" y="429768"/>
            <a:ext cx="86868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400" b="0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Vision</a:t>
            </a:r>
          </a:p>
        </p:txBody>
      </p:sp>
      <p:sp>
        <p:nvSpPr>
          <p:cNvPr id="9" name="Nav Mission"/>
          <p:cNvSpPr/>
          <p:nvPr/>
        </p:nvSpPr>
        <p:spPr>
          <a:xfrm>
            <a:off x="8122615" y="429768"/>
            <a:ext cx="100584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400" b="0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Mission</a:t>
            </a:r>
          </a:p>
        </p:txBody>
      </p:sp>
      <p:sp>
        <p:nvSpPr>
          <p:cNvPr id="10" name="Nav Topics"/>
          <p:cNvSpPr/>
          <p:nvPr/>
        </p:nvSpPr>
        <p:spPr>
          <a:xfrm>
            <a:off x="9128455" y="429768"/>
            <a:ext cx="9144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400" b="0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Topics</a:t>
            </a:r>
          </a:p>
        </p:txBody>
      </p:sp>
      <p:sp>
        <p:nvSpPr>
          <p:cNvPr id="11" name="Nav Editorial Board"/>
          <p:cNvSpPr/>
          <p:nvPr/>
        </p:nvSpPr>
        <p:spPr>
          <a:xfrm>
            <a:off x="10042855" y="429768"/>
            <a:ext cx="1600200" cy="585216"/>
          </a:xfrm>
          <a:prstGeom prst="rect">
            <a:avLst/>
          </a:prstGeom>
          <a:solidFill>
            <a:srgbClr val="4C8C2B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4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Editorial Board</a:t>
            </a:r>
          </a:p>
        </p:txBody>
      </p:sp>
      <p:sp>
        <p:nvSpPr>
          <p:cNvPr id="12" name="Kicker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altLang="zh-CN" sz="1100" b="1" i="0" spc="100" dirty="0">
                <a:solidFill>
                  <a:srgbClr val="E5532D"/>
                </a:solidFill>
                <a:latin typeface="Arial"/>
                <a:ea typeface="Microsoft YaHei"/>
                <a:cs typeface="Arial"/>
              </a:rPr>
              <a:t>EDITORIAL BOARD MEMBERS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548640" y="160020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altLang="zh-CN" sz="32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Editorial Board</a:t>
            </a:r>
          </a:p>
        </p:txBody>
      </p:sp>
      <p:sp>
        <p:nvSpPr>
          <p:cNvPr id="14" name="To be invited"/>
          <p:cNvSpPr txBox="1"/>
          <p:nvPr/>
        </p:nvSpPr>
        <p:spPr>
          <a:xfrm>
            <a:off x="6156655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en-US" altLang="zh-CN" sz="1200" b="0" i="1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More prospective Editorial Board members to be invited …</a:t>
            </a:r>
          </a:p>
        </p:txBody>
      </p:sp>
      <p:sp>
        <p:nvSpPr>
          <p:cNvPr id="15" name="Group Academicians"/>
          <p:cNvSpPr txBox="1"/>
          <p:nvPr/>
        </p:nvSpPr>
        <p:spPr>
          <a:xfrm>
            <a:off x="548640" y="228600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altLang="zh-CN" sz="1100" b="1" i="0" spc="100" dirty="0">
                <a:solidFill>
                  <a:srgbClr val="E5532D"/>
                </a:solidFill>
                <a:latin typeface="Arial"/>
                <a:ea typeface="Microsoft YaHei"/>
                <a:cs typeface="Arial"/>
              </a:rPr>
              <a:t>ACADEMICIANS</a:t>
            </a:r>
            <a:r>
              <a:rPr lang="en-US" altLang="zh-CN" sz="1100" b="1" i="0" dirty="0">
                <a:solidFill>
                  <a:srgbClr val="E5532D"/>
                </a:solidFill>
                <a:latin typeface="Arial"/>
                <a:ea typeface="Microsoft YaHei"/>
                <a:cs typeface="Arial"/>
              </a:rPr>
              <a:t xml:space="preserve">  院士</a:t>
            </a:r>
          </a:p>
        </p:txBody>
      </p:sp>
      <p:sp>
        <p:nvSpPr>
          <p:cNvPr id="16" name="Academician card 叶嘉安"/>
          <p:cNvSpPr/>
          <p:nvPr/>
        </p:nvSpPr>
        <p:spPr>
          <a:xfrm>
            <a:off x="548640" y="2578608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17" name="Portrait 叶嘉安" descr="叶嘉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51760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18" name="Academician badge 叶嘉安"/>
          <p:cNvSpPr/>
          <p:nvPr/>
        </p:nvSpPr>
        <p:spPr>
          <a:xfrm>
            <a:off x="832104" y="3346704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19" name="Academician text 叶嘉安"/>
          <p:cNvSpPr txBox="1"/>
          <p:nvPr/>
        </p:nvSpPr>
        <p:spPr>
          <a:xfrm>
            <a:off x="1527048" y="2633472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叶嘉安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HKU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智慧城市，地理信息系统，城市规划</a:t>
            </a:r>
          </a:p>
        </p:txBody>
      </p:sp>
      <p:sp>
        <p:nvSpPr>
          <p:cNvPr id="20" name="Academician card William Clark"/>
          <p:cNvSpPr/>
          <p:nvPr/>
        </p:nvSpPr>
        <p:spPr>
          <a:xfrm>
            <a:off x="2794955" y="2578608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21" name="Portrait William Clark" descr="William Clark"/>
          <p:cNvPicPr>
            <a:picLocks noChangeAspect="1"/>
          </p:cNvPicPr>
          <p:nvPr/>
        </p:nvPicPr>
        <p:blipFill>
          <a:blip r:embed="rId3"/>
          <a:srcRect l="3408" t="5481" r="1609" b="23282"/>
          <a:stretch>
            <a:fillRect/>
          </a:stretch>
        </p:blipFill>
        <p:spPr>
          <a:xfrm>
            <a:off x="2904683" y="2651760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22" name="Academician badge William Clark"/>
          <p:cNvSpPr/>
          <p:nvPr/>
        </p:nvSpPr>
        <p:spPr>
          <a:xfrm>
            <a:off x="3078419" y="3346704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23" name="Academician text William Clark"/>
          <p:cNvSpPr txBox="1"/>
          <p:nvPr/>
        </p:nvSpPr>
        <p:spPr>
          <a:xfrm>
            <a:off x="3773363" y="2633472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William Clark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UCLA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城市地理，城市空间，人口迁移</a:t>
            </a:r>
          </a:p>
        </p:txBody>
      </p:sp>
      <p:sp>
        <p:nvSpPr>
          <p:cNvPr id="24" name="Academician card 吴缚龙"/>
          <p:cNvSpPr/>
          <p:nvPr/>
        </p:nvSpPr>
        <p:spPr>
          <a:xfrm>
            <a:off x="5041270" y="2578608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25" name="Portrait 吴缚龙" descr="吴缚龙"/>
          <p:cNvPicPr>
            <a:picLocks noChangeAspect="1"/>
          </p:cNvPicPr>
          <p:nvPr/>
        </p:nvPicPr>
        <p:blipFill>
          <a:blip r:embed="rId4"/>
          <a:srcRect l="17409" t="8275" r="19685" b="801"/>
          <a:stretch>
            <a:fillRect/>
          </a:stretch>
        </p:blipFill>
        <p:spPr>
          <a:xfrm>
            <a:off x="5150998" y="2651760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26" name="Academician badge 吴缚龙"/>
          <p:cNvSpPr/>
          <p:nvPr/>
        </p:nvSpPr>
        <p:spPr>
          <a:xfrm>
            <a:off x="5324734" y="3346704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27" name="Academician text 吴缚龙"/>
          <p:cNvSpPr txBox="1"/>
          <p:nvPr/>
        </p:nvSpPr>
        <p:spPr>
          <a:xfrm>
            <a:off x="6019678" y="2633472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吴缚龙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UCL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城市规划，城市治理</a:t>
            </a:r>
          </a:p>
        </p:txBody>
      </p:sp>
      <p:sp>
        <p:nvSpPr>
          <p:cNvPr id="28" name="Academician card 傅伯杰"/>
          <p:cNvSpPr/>
          <p:nvPr/>
        </p:nvSpPr>
        <p:spPr>
          <a:xfrm>
            <a:off x="7287585" y="2578608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29" name="Portrait 傅伯杰" descr="傅伯杰"/>
          <p:cNvPicPr>
            <a:picLocks noChangeAspect="1"/>
          </p:cNvPicPr>
          <p:nvPr/>
        </p:nvPicPr>
        <p:blipFill>
          <a:blip r:embed="rId5"/>
          <a:srcRect t="2672" b="2672"/>
          <a:stretch>
            <a:fillRect/>
          </a:stretch>
        </p:blipFill>
        <p:spPr>
          <a:xfrm>
            <a:off x="7397313" y="2651760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30" name="Academician badge 傅伯杰"/>
          <p:cNvSpPr/>
          <p:nvPr/>
        </p:nvSpPr>
        <p:spPr>
          <a:xfrm>
            <a:off x="7571049" y="3346704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31" name="Academician text 傅伯杰"/>
          <p:cNvSpPr txBox="1"/>
          <p:nvPr/>
        </p:nvSpPr>
        <p:spPr>
          <a:xfrm>
            <a:off x="8265993" y="2633472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傅伯杰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中国科学院生态环境研究中心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景观生态、生态系统服务</a:t>
            </a:r>
          </a:p>
        </p:txBody>
      </p:sp>
      <p:sp>
        <p:nvSpPr>
          <p:cNvPr id="32" name="Academician card 樊杰"/>
          <p:cNvSpPr/>
          <p:nvPr/>
        </p:nvSpPr>
        <p:spPr>
          <a:xfrm>
            <a:off x="9533900" y="2578608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33" name="Portrait 樊杰" descr="樊杰"/>
          <p:cNvPicPr>
            <a:picLocks noChangeAspect="1"/>
          </p:cNvPicPr>
          <p:nvPr/>
        </p:nvPicPr>
        <p:blipFill>
          <a:blip r:embed="rId6"/>
          <a:srcRect l="-1653" t="3825" r="1653" b="18415"/>
          <a:stretch>
            <a:fillRect/>
          </a:stretch>
        </p:blipFill>
        <p:spPr>
          <a:xfrm>
            <a:off x="9643628" y="2651760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34" name="Academician badge 樊杰"/>
          <p:cNvSpPr/>
          <p:nvPr/>
        </p:nvSpPr>
        <p:spPr>
          <a:xfrm>
            <a:off x="9817364" y="3346704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35" name="Academician text 樊杰"/>
          <p:cNvSpPr txBox="1"/>
          <p:nvPr/>
        </p:nvSpPr>
        <p:spPr>
          <a:xfrm>
            <a:off x="10512308" y="2633472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樊杰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中科院地理所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国土空间规划、区域发展</a:t>
            </a:r>
          </a:p>
        </p:txBody>
      </p:sp>
      <p:sp>
        <p:nvSpPr>
          <p:cNvPr id="36" name="Academician card 宫鹏"/>
          <p:cNvSpPr/>
          <p:nvPr/>
        </p:nvSpPr>
        <p:spPr>
          <a:xfrm>
            <a:off x="548640" y="3694176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37" name="Portrait 宫鹏" descr="宫鹏"/>
          <p:cNvPicPr>
            <a:picLocks noChangeAspect="1"/>
          </p:cNvPicPr>
          <p:nvPr/>
        </p:nvPicPr>
        <p:blipFill>
          <a:blip r:embed="rId7"/>
          <a:srcRect l="9294" t="4766" r="7651" b="39863"/>
          <a:stretch>
            <a:fillRect/>
          </a:stretch>
        </p:blipFill>
        <p:spPr>
          <a:xfrm>
            <a:off x="658368" y="3767328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38" name="Academician badge 宫鹏"/>
          <p:cNvSpPr/>
          <p:nvPr/>
        </p:nvSpPr>
        <p:spPr>
          <a:xfrm>
            <a:off x="832104" y="4462272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39" name="Academician text 宫鹏"/>
          <p:cNvSpPr txBox="1"/>
          <p:nvPr/>
        </p:nvSpPr>
        <p:spPr>
          <a:xfrm>
            <a:off x="1527048" y="3749040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宫鹏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HKU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遥感，全球环境变化，城市化与健康</a:t>
            </a:r>
          </a:p>
        </p:txBody>
      </p:sp>
      <p:sp>
        <p:nvSpPr>
          <p:cNvPr id="40" name="Academician card 陈德亮"/>
          <p:cNvSpPr/>
          <p:nvPr/>
        </p:nvSpPr>
        <p:spPr>
          <a:xfrm>
            <a:off x="2794955" y="3694176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41" name="Portrait 陈德亮" descr="陈德亮"/>
          <p:cNvPicPr>
            <a:picLocks noChangeAspect="1"/>
          </p:cNvPicPr>
          <p:nvPr/>
        </p:nvPicPr>
        <p:blipFill>
          <a:blip r:embed="rId8"/>
          <a:srcRect l="30000" r="30000"/>
          <a:stretch>
            <a:fillRect/>
          </a:stretch>
        </p:blipFill>
        <p:spPr>
          <a:xfrm>
            <a:off x="2904683" y="3767328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42" name="Academician badge 陈德亮"/>
          <p:cNvSpPr/>
          <p:nvPr/>
        </p:nvSpPr>
        <p:spPr>
          <a:xfrm>
            <a:off x="3078419" y="4462272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43" name="Academician text 陈德亮"/>
          <p:cNvSpPr txBox="1"/>
          <p:nvPr/>
        </p:nvSpPr>
        <p:spPr>
          <a:xfrm>
            <a:off x="3773363" y="3749040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陈德亮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瑞典哥德堡大学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地球系统科学、全球环境变化、气候动力学与数值模拟</a:t>
            </a:r>
          </a:p>
        </p:txBody>
      </p:sp>
      <p:sp>
        <p:nvSpPr>
          <p:cNvPr id="44" name="Academician card 申作军"/>
          <p:cNvSpPr/>
          <p:nvPr/>
        </p:nvSpPr>
        <p:spPr>
          <a:xfrm>
            <a:off x="5041270" y="3694176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45" name="Portrait 申作军" descr="申作军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150998" y="3767328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46" name="Academician badge 申作军"/>
          <p:cNvSpPr/>
          <p:nvPr/>
        </p:nvSpPr>
        <p:spPr>
          <a:xfrm>
            <a:off x="5324734" y="4462272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47" name="Academician text 申作军"/>
          <p:cNvSpPr txBox="1"/>
          <p:nvPr/>
        </p:nvSpPr>
        <p:spPr>
          <a:xfrm>
            <a:off x="6019678" y="3749040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申作军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HKU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供应链设计与管理、数据驱动物流优化</a:t>
            </a:r>
          </a:p>
        </p:txBody>
      </p:sp>
      <p:sp>
        <p:nvSpPr>
          <p:cNvPr id="48" name="Academician card 刘丛强"/>
          <p:cNvSpPr/>
          <p:nvPr/>
        </p:nvSpPr>
        <p:spPr>
          <a:xfrm>
            <a:off x="7287585" y="3694176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49" name="Portrait 刘丛强" descr="刘丛强"/>
          <p:cNvPicPr>
            <a:picLocks noChangeAspect="1"/>
          </p:cNvPicPr>
          <p:nvPr/>
        </p:nvPicPr>
        <p:blipFill>
          <a:blip r:embed="rId10"/>
          <a:srcRect l="952" t="8956" r="-952" b="15044"/>
          <a:stretch>
            <a:fillRect/>
          </a:stretch>
        </p:blipFill>
        <p:spPr>
          <a:xfrm>
            <a:off x="7397313" y="3767328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50" name="Academician badge 刘丛强"/>
          <p:cNvSpPr/>
          <p:nvPr/>
        </p:nvSpPr>
        <p:spPr>
          <a:xfrm>
            <a:off x="7571049" y="4462272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51" name="Academician text 刘丛强"/>
          <p:cNvSpPr txBox="1"/>
          <p:nvPr/>
        </p:nvSpPr>
        <p:spPr>
          <a:xfrm>
            <a:off x="8265993" y="3749040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刘丛强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天津大学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地球关键带过程与生态功能</a:t>
            </a:r>
          </a:p>
        </p:txBody>
      </p:sp>
      <p:sp>
        <p:nvSpPr>
          <p:cNvPr id="52" name="Academician card 蔡文炬"/>
          <p:cNvSpPr/>
          <p:nvPr/>
        </p:nvSpPr>
        <p:spPr>
          <a:xfrm>
            <a:off x="9533900" y="3694176"/>
            <a:ext cx="2109155" cy="1024128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53" name="Portrait 蔡文炬" descr="蔡文炬"/>
          <p:cNvPicPr>
            <a:picLocks noChangeAspect="1"/>
          </p:cNvPicPr>
          <p:nvPr/>
        </p:nvPicPr>
        <p:blipFill>
          <a:blip r:embed="rId11"/>
          <a:srcRect l="37924" t="1774" r="16714" b="30183"/>
          <a:stretch>
            <a:fillRect/>
          </a:stretch>
        </p:blipFill>
        <p:spPr>
          <a:xfrm>
            <a:off x="9643628" y="3767328"/>
            <a:ext cx="786384" cy="78638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54" name="Academician badge 蔡文炬"/>
          <p:cNvSpPr/>
          <p:nvPr/>
        </p:nvSpPr>
        <p:spPr>
          <a:xfrm>
            <a:off x="9817364" y="4462272"/>
            <a:ext cx="438912" cy="192024"/>
          </a:xfrm>
          <a:prstGeom prst="roundRect">
            <a:avLst>
              <a:gd name="adj" fmla="val 50000"/>
            </a:avLst>
          </a:prstGeom>
          <a:solidFill>
            <a:srgbClr val="4245AF"/>
          </a:solidFill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院士</a:t>
            </a:r>
          </a:p>
        </p:txBody>
      </p:sp>
      <p:sp>
        <p:nvSpPr>
          <p:cNvPr id="55" name="Academician text 蔡文炬"/>
          <p:cNvSpPr txBox="1"/>
          <p:nvPr/>
        </p:nvSpPr>
        <p:spPr>
          <a:xfrm>
            <a:off x="10512308" y="3749040"/>
            <a:ext cx="10575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altLang="zh-CN" sz="130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蔡文炬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澳大利亚联邦科学与工业研究组织 CSIRO</a:t>
            </a:r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en-US" altLang="zh-CN" sz="90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气候科学、全球变化</a:t>
            </a:r>
          </a:p>
        </p:txBody>
      </p:sp>
      <p:sp>
        <p:nvSpPr>
          <p:cNvPr id="56" name="Group Distinguished Scholars"/>
          <p:cNvSpPr txBox="1"/>
          <p:nvPr/>
        </p:nvSpPr>
        <p:spPr>
          <a:xfrm>
            <a:off x="548640" y="482803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altLang="zh-CN" sz="1100" b="1" i="0" spc="100" dirty="0">
                <a:solidFill>
                  <a:srgbClr val="E5532D"/>
                </a:solidFill>
                <a:latin typeface="Arial"/>
                <a:ea typeface="Microsoft YaHei"/>
                <a:cs typeface="Arial"/>
              </a:rPr>
              <a:t>DISTINGUISHED SCHOLARS</a:t>
            </a:r>
            <a:r>
              <a:rPr lang="en-US" altLang="zh-CN" sz="1100" b="1" i="0" dirty="0">
                <a:solidFill>
                  <a:srgbClr val="E5532D"/>
                </a:solidFill>
                <a:latin typeface="Arial"/>
                <a:ea typeface="Microsoft YaHei"/>
                <a:cs typeface="Arial"/>
              </a:rPr>
              <a:t xml:space="preserve">  国际知名学者</a:t>
            </a:r>
          </a:p>
        </p:txBody>
      </p:sp>
      <p:sp>
        <p:nvSpPr>
          <p:cNvPr id="57" name="Scholar card Patrick Roberts"/>
          <p:cNvSpPr/>
          <p:nvPr/>
        </p:nvSpPr>
        <p:spPr>
          <a:xfrm>
            <a:off x="548640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58" name="Portrait Patrick Roberts" descr="Patrick Roberts"/>
          <p:cNvPicPr>
            <a:picLocks noChangeAspect="1"/>
          </p:cNvPicPr>
          <p:nvPr/>
        </p:nvPicPr>
        <p:blipFill>
          <a:blip r:embed="rId12"/>
          <a:srcRect l="2186" t="2897" r="2274" b="30175"/>
          <a:stretch>
            <a:fillRect/>
          </a:stretch>
        </p:blipFill>
        <p:spPr>
          <a:xfrm>
            <a:off x="992320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59" name="Scholar name Patrick Roberts"/>
          <p:cNvSpPr txBox="1"/>
          <p:nvPr/>
        </p:nvSpPr>
        <p:spPr>
          <a:xfrm>
            <a:off x="603504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Patrick Roberts</a:t>
            </a:r>
          </a:p>
        </p:txBody>
      </p:sp>
      <p:sp>
        <p:nvSpPr>
          <p:cNvPr id="60" name="Scholar text Patrick Roberts"/>
          <p:cNvSpPr txBox="1"/>
          <p:nvPr/>
        </p:nvSpPr>
        <p:spPr>
          <a:xfrm>
            <a:off x="621792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马克斯·普朗克地球人类学研究所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考古科学、古生态、土地利用与城市化协同演化</a:t>
            </a:r>
          </a:p>
        </p:txBody>
      </p:sp>
      <p:sp>
        <p:nvSpPr>
          <p:cNvPr id="61" name="Scholar card Luis Bettencourt"/>
          <p:cNvSpPr/>
          <p:nvPr/>
        </p:nvSpPr>
        <p:spPr>
          <a:xfrm>
            <a:off x="2149232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62" name="Portrait Luis Bettencourt" descr="Luis Bettencourt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2592912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63" name="Scholar name Luis Bettencourt"/>
          <p:cNvSpPr txBox="1"/>
          <p:nvPr/>
        </p:nvSpPr>
        <p:spPr>
          <a:xfrm>
            <a:off x="2204096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Luis Bettencourt</a:t>
            </a:r>
          </a:p>
        </p:txBody>
      </p:sp>
      <p:sp>
        <p:nvSpPr>
          <p:cNvPr id="64" name="Scholar text Luis Bettencourt"/>
          <p:cNvSpPr txBox="1"/>
          <p:nvPr/>
        </p:nvSpPr>
        <p:spPr>
          <a:xfrm>
            <a:off x="2222384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芝加哥大学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城市复杂系统、网络、城市尺度理论</a:t>
            </a:r>
          </a:p>
        </p:txBody>
      </p:sp>
      <p:sp>
        <p:nvSpPr>
          <p:cNvPr id="65" name="Scholar card Rebecca Bentley"/>
          <p:cNvSpPr/>
          <p:nvPr/>
        </p:nvSpPr>
        <p:spPr>
          <a:xfrm>
            <a:off x="3749824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66" name="Portrait Rebecca Bentley" descr="Rebecca Bentley"/>
          <p:cNvPicPr>
            <a:picLocks noChangeAspect="1"/>
          </p:cNvPicPr>
          <p:nvPr/>
        </p:nvPicPr>
        <p:blipFill>
          <a:blip r:embed="rId14"/>
          <a:srcRect t="83" b="83"/>
          <a:stretch>
            <a:fillRect/>
          </a:stretch>
        </p:blipFill>
        <p:spPr>
          <a:xfrm>
            <a:off x="4193504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67" name="Scholar name Rebecca Bentley"/>
          <p:cNvSpPr txBox="1"/>
          <p:nvPr/>
        </p:nvSpPr>
        <p:spPr>
          <a:xfrm>
            <a:off x="3804688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Rebecca Bentley</a:t>
            </a:r>
          </a:p>
        </p:txBody>
      </p:sp>
      <p:sp>
        <p:nvSpPr>
          <p:cNvPr id="68" name="Scholar text Rebecca Bentley"/>
          <p:cNvSpPr txBox="1"/>
          <p:nvPr/>
        </p:nvSpPr>
        <p:spPr>
          <a:xfrm>
            <a:off x="3822976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墨尔本大学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住房与建成环境、流行病学、城市健康</a:t>
            </a:r>
          </a:p>
        </p:txBody>
      </p:sp>
      <p:sp>
        <p:nvSpPr>
          <p:cNvPr id="69" name="Scholar card Emma Baker"/>
          <p:cNvSpPr/>
          <p:nvPr/>
        </p:nvSpPr>
        <p:spPr>
          <a:xfrm>
            <a:off x="5350416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70" name="Portrait Emma Baker" descr="Emma Baker"/>
          <p:cNvPicPr>
            <a:picLocks noChangeAspect="1"/>
          </p:cNvPicPr>
          <p:nvPr/>
        </p:nvPicPr>
        <p:blipFill>
          <a:blip r:embed="rId15"/>
          <a:srcRect l="10920" t="23557" r="11660" b="12798"/>
          <a:stretch>
            <a:fillRect/>
          </a:stretch>
        </p:blipFill>
        <p:spPr>
          <a:xfrm>
            <a:off x="5794096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71" name="Scholar name Emma Baker"/>
          <p:cNvSpPr txBox="1"/>
          <p:nvPr/>
        </p:nvSpPr>
        <p:spPr>
          <a:xfrm>
            <a:off x="5405280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Emma Baker</a:t>
            </a:r>
          </a:p>
        </p:txBody>
      </p:sp>
      <p:sp>
        <p:nvSpPr>
          <p:cNvPr id="72" name="Scholar text Emma Baker"/>
          <p:cNvSpPr txBox="1"/>
          <p:nvPr/>
        </p:nvSpPr>
        <p:spPr>
          <a:xfrm>
            <a:off x="5423568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阿德莱德大学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城市健康与居住环境</a:t>
            </a:r>
          </a:p>
        </p:txBody>
      </p:sp>
      <p:sp>
        <p:nvSpPr>
          <p:cNvPr id="73" name="Scholar card Orlando Woods"/>
          <p:cNvSpPr/>
          <p:nvPr/>
        </p:nvSpPr>
        <p:spPr>
          <a:xfrm>
            <a:off x="6951008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74" name="Portrait Orlando Woods" descr="Orlando Woods"/>
          <p:cNvPicPr>
            <a:picLocks noChangeAspect="1"/>
          </p:cNvPicPr>
          <p:nvPr/>
        </p:nvPicPr>
        <p:blipFill>
          <a:blip r:embed="rId16"/>
          <a:srcRect t="134" b="19866"/>
          <a:stretch>
            <a:fillRect/>
          </a:stretch>
        </p:blipFill>
        <p:spPr>
          <a:xfrm>
            <a:off x="7394687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75" name="Scholar name Orlando Woods"/>
          <p:cNvSpPr txBox="1"/>
          <p:nvPr/>
        </p:nvSpPr>
        <p:spPr>
          <a:xfrm>
            <a:off x="7005872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Orlando Woods</a:t>
            </a:r>
          </a:p>
        </p:txBody>
      </p:sp>
      <p:sp>
        <p:nvSpPr>
          <p:cNvPr id="76" name="Scholar text Orlando Woods"/>
          <p:cNvSpPr txBox="1"/>
          <p:nvPr/>
        </p:nvSpPr>
        <p:spPr>
          <a:xfrm>
            <a:off x="7024160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新加坡管理大学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智慧城市，数字平台治理</a:t>
            </a:r>
          </a:p>
        </p:txBody>
      </p:sp>
      <p:sp>
        <p:nvSpPr>
          <p:cNvPr id="77" name="Scholar card 刘春华"/>
          <p:cNvSpPr/>
          <p:nvPr/>
        </p:nvSpPr>
        <p:spPr>
          <a:xfrm>
            <a:off x="8551599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78" name="Portrait 刘春华" descr="刘春华"/>
          <p:cNvPicPr>
            <a:picLocks noChangeAspect="1"/>
          </p:cNvPicPr>
          <p:nvPr/>
        </p:nvPicPr>
        <p:blipFill>
          <a:blip r:embed="rId17"/>
          <a:srcRect t="12548" b="12548"/>
          <a:stretch>
            <a:fillRect/>
          </a:stretch>
        </p:blipFill>
        <p:spPr>
          <a:xfrm>
            <a:off x="8995279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79" name="Scholar name 刘春华"/>
          <p:cNvSpPr txBox="1"/>
          <p:nvPr/>
        </p:nvSpPr>
        <p:spPr>
          <a:xfrm>
            <a:off x="8606463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刘春华</a:t>
            </a:r>
          </a:p>
        </p:txBody>
      </p:sp>
      <p:sp>
        <p:nvSpPr>
          <p:cNvPr id="80" name="Scholar text 刘春华"/>
          <p:cNvSpPr txBox="1"/>
          <p:nvPr/>
        </p:nvSpPr>
        <p:spPr>
          <a:xfrm>
            <a:off x="8624751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香港城市大学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智慧能源、电动交通</a:t>
            </a:r>
          </a:p>
        </p:txBody>
      </p:sp>
      <p:sp>
        <p:nvSpPr>
          <p:cNvPr id="81" name="Scholar card 黄波"/>
          <p:cNvSpPr/>
          <p:nvPr/>
        </p:nvSpPr>
        <p:spPr>
          <a:xfrm>
            <a:off x="10152191" y="5084064"/>
            <a:ext cx="1490864" cy="1554480"/>
          </a:xfrm>
          <a:prstGeom prst="roundRect">
            <a:avLst>
              <a:gd name="adj" fmla="val 8000"/>
            </a:avLst>
          </a:prstGeom>
          <a:solidFill>
            <a:srgbClr val="EEEEF8"/>
          </a:solidFill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endParaRPr lang="en-US"/>
          </a:p>
        </p:txBody>
      </p:sp>
      <p:pic>
        <p:nvPicPr>
          <p:cNvPr id="82" name="Portrait 黄波" descr="黄波"/>
          <p:cNvPicPr>
            <a:picLocks noChangeAspect="1"/>
          </p:cNvPicPr>
          <p:nvPr/>
        </p:nvPicPr>
        <p:blipFill>
          <a:blip r:embed="rId18"/>
          <a:srcRect t="713" b="713"/>
          <a:stretch>
            <a:fillRect/>
          </a:stretch>
        </p:blipFill>
        <p:spPr>
          <a:xfrm>
            <a:off x="10595871" y="5157216"/>
            <a:ext cx="603504" cy="603504"/>
          </a:xfrm>
          <a:prstGeom prst="ellipse">
            <a:avLst/>
          </a:prstGeom>
          <a:ln w="12700">
            <a:solidFill>
              <a:srgbClr val="4245AF"/>
            </a:solidFill>
          </a:ln>
        </p:spPr>
      </p:pic>
      <p:sp>
        <p:nvSpPr>
          <p:cNvPr id="83" name="Scholar name 黄波"/>
          <p:cNvSpPr txBox="1"/>
          <p:nvPr/>
        </p:nvSpPr>
        <p:spPr>
          <a:xfrm>
            <a:off x="10207055" y="5788152"/>
            <a:ext cx="138113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altLang="zh-CN" sz="1150" b="1" i="0" dirty="0">
                <a:solidFill>
                  <a:srgbClr val="1E1E2E"/>
                </a:solidFill>
                <a:latin typeface="Arial"/>
                <a:ea typeface="Microsoft YaHei"/>
                <a:cs typeface="Arial"/>
              </a:rPr>
              <a:t>黄波</a:t>
            </a:r>
          </a:p>
        </p:txBody>
      </p:sp>
      <p:sp>
        <p:nvSpPr>
          <p:cNvPr id="84" name="Scholar text 黄波"/>
          <p:cNvSpPr txBox="1"/>
          <p:nvPr/>
        </p:nvSpPr>
        <p:spPr>
          <a:xfrm>
            <a:off x="10225343" y="6007608"/>
            <a:ext cx="134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1" i="0" dirty="0">
                <a:solidFill>
                  <a:srgbClr val="2E3192"/>
                </a:solidFill>
                <a:latin typeface="Arial"/>
                <a:ea typeface="Microsoft YaHei"/>
                <a:cs typeface="Arial"/>
              </a:rPr>
              <a:t>HKU</a:t>
            </a:r>
          </a:p>
          <a:p>
            <a:pPr algn="ctr">
              <a:lnSpc>
                <a:spcPct val="90000"/>
              </a:lnSpc>
              <a:spcAft>
                <a:spcPts val="0"/>
              </a:spcAft>
              <a:buNone/>
            </a:pPr>
            <a:r>
              <a:rPr lang="en-US" altLang="zh-CN" sz="850" b="0" i="0" dirty="0">
                <a:solidFill>
                  <a:srgbClr val="5B5D72"/>
                </a:solidFill>
                <a:latin typeface="Arial"/>
                <a:ea typeface="Microsoft YaHei"/>
                <a:cs typeface="Arial"/>
              </a:rPr>
              <a:t>地理信息科学、遥感和空间数据分析</a:t>
            </a:r>
          </a:p>
        </p:txBody>
      </p:sp>
    </p:spTree>
    <p:extLst>
      <p:ext uri="{BB962C8B-B14F-4D97-AF65-F5344CB8AC3E}">
        <p14:creationId xmlns:p14="http://schemas.microsoft.com/office/powerpoint/2010/main" val="3030346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3235</Words>
  <Application>Microsoft Office PowerPoint</Application>
  <PresentationFormat>宽屏</PresentationFormat>
  <Paragraphs>110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Noto Sans CJK SC</vt:lpstr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 Yan</dc:creator>
  <cp:lastModifiedBy>Xiang Yan</cp:lastModifiedBy>
  <cp:revision>16</cp:revision>
  <dcterms:created xsi:type="dcterms:W3CDTF">2026-10-11T03:25:45Z</dcterms:created>
  <dcterms:modified xsi:type="dcterms:W3CDTF">2026-10-11T06:07:07Z</dcterms:modified>
</cp:coreProperties>
</file>