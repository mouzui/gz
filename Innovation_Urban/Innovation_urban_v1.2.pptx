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69" r:id="rId5"/>
    <p:sldId id="264" r:id="rId6"/>
    <p:sldId id="258" r:id="rId7"/>
    <p:sldId id="272" r:id="rId8"/>
    <p:sldId id="267" r:id="rId9"/>
    <p:sldId id="268"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45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showGuides="1">
      <p:cViewPr>
        <p:scale>
          <a:sx n="66" d="100"/>
          <a:sy n="66" d="100"/>
        </p:scale>
        <p:origin x="1050" y="4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B7E08-442D-7537-3BB8-05A070F422C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2833787-21F9-A7F5-F31C-4B3AC3CBB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E18EFC-89D2-ED18-58B4-E6E331E7BBBF}"/>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7418B04B-7286-9177-9161-A37F596848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A3DD75-EF64-37C0-D647-EAEE8E641AA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06077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EEC35-F089-AA04-17FB-0E6189FFB92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B6FB732-1946-351E-5081-5322A0417A7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D4744D-DE1B-21C6-4675-2F7208A7546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B4886D13-FEAA-CBF8-C161-8E3F0474AE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D9B545-62CB-04CC-6001-2FEC56AEB77D}"/>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429108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89C0-9986-5EFD-AF08-8ABB64B39E5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A6F522D-C131-5088-FC81-0CE680D47B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219858-DC77-F4B3-1482-64176643E0D1}"/>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51F12131-45A5-F112-EACB-0F1C68ED51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DC198D-9589-887D-34C6-1AF50E47B80A}"/>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41335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7A0D93-FCE3-C6F3-139C-C1E0BC43C7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C764C12-F622-53E7-1341-AEBDBE190AC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5C7DF23-3164-F5A8-87AE-12650ABB176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7B8D20F-85E6-D4EB-57BB-65A7D7427CE5}"/>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3EABD7D6-23A7-BB35-2F3B-CE1819F604A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CFBEBC-AF66-FE08-1EE7-32149A1CEC3F}"/>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80178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E1EE4E-5EC0-78BB-22EC-5796D50C03A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28205D-DA2D-DF3F-5870-54378DF95D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C010DD2-327D-5069-236F-99E4235954C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D535DE7-809F-C0BD-FF1B-016497AEC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705FC93-71F2-00DF-008E-F421364B2BA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4C9EAEE-1C3B-BA83-DD99-BE364B6672E6}"/>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8" name="页脚占位符 7">
            <a:extLst>
              <a:ext uri="{FF2B5EF4-FFF2-40B4-BE49-F238E27FC236}">
                <a16:creationId xmlns:a16="http://schemas.microsoft.com/office/drawing/2014/main" id="{319F4AF3-973B-4362-160E-689440E3AD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797EEF-9F51-94E4-8D2D-06B49F07E7C2}"/>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420067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33FFF9-436B-1FBF-98FB-5CF5C71FB5E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6A92861-6E28-5860-D353-26C6DC742CAC}"/>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4" name="页脚占位符 3">
            <a:extLst>
              <a:ext uri="{FF2B5EF4-FFF2-40B4-BE49-F238E27FC236}">
                <a16:creationId xmlns:a16="http://schemas.microsoft.com/office/drawing/2014/main" id="{A2266A49-8C52-A474-AD2B-D53F984C053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30D2BAC-FBCF-F218-CC26-667BF048A8C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27277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4D5C4E3-C4DA-8CD3-A827-FE482DA8383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3" name="页脚占位符 2">
            <a:extLst>
              <a:ext uri="{FF2B5EF4-FFF2-40B4-BE49-F238E27FC236}">
                <a16:creationId xmlns:a16="http://schemas.microsoft.com/office/drawing/2014/main" id="{7E5C7A1D-DD41-F951-E64E-5FEA6885C73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444D3C0-7EDF-7A3C-B133-8B3DACCCBB95}"/>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212828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8BA60-021F-2AAB-4189-47D708D2309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17A12A7-108F-EBEE-E5C7-85DD366B83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E54675E-954D-07B6-9E8F-D94AE7157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C2704B-0B1C-E425-AC48-5C0CE459ECB7}"/>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0AAD5301-04CC-F9C5-DF54-70BFD5FE78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FC37CD-D408-A413-967C-8003D3772B9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878304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A16E5-9060-04A3-6151-A4DB8ED17E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DD524BF-3D86-71CF-E8E4-2D0667F2707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424768-6262-42A1-2ACE-40B3981E1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3971BF7-5436-812C-0197-B784DFD8049B}"/>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6AB8BFBF-258D-ACBE-D279-40FE85F250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DAAD80-946E-F09C-93D9-6ED45738B848}"/>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708823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2910D-B9B1-82CC-55A6-6514EEE2674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8ED1190-5FD9-11A2-EA9A-B80B1E1D4C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E30AB3-9035-45D6-E1BA-0AA79C30AF89}"/>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D560D189-67E1-96B1-43FC-A6E1623CC9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2D5793-839C-CF07-FC68-AA8CA741233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75712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7D2D02-D59D-A506-833A-BFFE2C39581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B083D9-530C-A428-7DA4-8EAD708BF81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B7A19C5-09F7-C14C-6A36-85AE2760D9B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AB037A4F-FD94-065C-FA46-0589538CEF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507972-9ECB-AAF9-1568-8D02176DA3A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00197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7607E11-537A-A5AC-7849-1A6CA3A92A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54232E7-0F2A-467E-C680-76F6FDA90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D83F14-E303-F266-B76B-7EA87431D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364F5D62-24DC-D3C7-253E-FAFC2F684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10959D6-57CF-5D7B-56A1-87EFBBB87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082721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hero.jpeg"/><Relationship Id="rId3" Type="http://schemas.openxmlformats.org/officeDocument/2006/relationships/image" Target="../media/iu_cover.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fra_w.png"/><Relationship Id="rId3" Type="http://schemas.openxmlformats.org/officeDocument/2006/relationships/image" Target="../media/iu_tech_w.png"/><Relationship Id="rId4" Type="http://schemas.openxmlformats.org/officeDocument/2006/relationships/image" Target="../media/iu_climate_w.png"/><Relationship Id="rId5" Type="http://schemas.openxmlformats.org/officeDocument/2006/relationships/image" Target="../media/iu_globe_w.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tl_w.png"/><Relationship Id="rId3" Type="http://schemas.openxmlformats.org/officeDocument/2006/relationships/image" Target="../media/iu_inter_w.png"/><Relationship Id="rId4" Type="http://schemas.openxmlformats.org/officeDocument/2006/relationships/image" Target="../media/iu_gen_w.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5"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6" name="Nav Background"/>
          <p:cNvSpPr/>
          <p:nvPr/>
        </p:nvSpPr>
        <p:spPr>
          <a:xfrm>
            <a:off x="75282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7" name="Nav Vision"/>
          <p:cNvSpPr/>
          <p:nvPr/>
        </p:nvSpPr>
        <p:spPr>
          <a:xfrm>
            <a:off x="88541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8" name="Nav Mission"/>
          <p:cNvSpPr/>
          <p:nvPr/>
        </p:nvSpPr>
        <p:spPr>
          <a:xfrm>
            <a:off x="97228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9" name="Nav Topics"/>
          <p:cNvSpPr/>
          <p:nvPr/>
        </p:nvSpPr>
        <p:spPr>
          <a:xfrm>
            <a:off x="107286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pic>
        <p:nvPicPr>
          <p:cNvPr id="10" name="Hero skyline" descr="Night skyline of a city under a starry sky"/>
          <p:cNvPicPr>
            <a:picLocks noChangeAspect="1"/>
          </p:cNvPicPr>
          <p:nvPr/>
        </p:nvPicPr>
        <p:blipFill>
          <a:blip r:embed="rId2"/>
          <a:stretch>
            <a:fillRect/>
          </a:stretch>
        </p:blipFill>
        <p:spPr>
          <a:xfrm>
            <a:off x="0" y="1078992"/>
            <a:ext cx="12191695" cy="4526280"/>
          </a:xfrm>
          <a:prstGeom prst="rect">
            <a:avLst/>
          </a:prstGeom>
        </p:spPr>
      </p:pic>
      <p:sp>
        <p:nvSpPr>
          <p:cNvPr id="11" name="Hero kicker"/>
          <p:cNvSpPr txBox="1"/>
          <p:nvPr/>
        </p:nvSpPr>
        <p:spPr>
          <a:xfrm>
            <a:off x="548640" y="1463040"/>
            <a:ext cx="7680960" cy="320040"/>
          </a:xfrm>
          <a:prstGeom prst="rect">
            <a:avLst/>
          </a:prstGeom>
          <a:noFill/>
          <a:ln>
            <a:noFill/>
          </a:ln>
        </p:spPr>
        <p:txBody>
          <a:bodyPr wrap="square" lIns="0" tIns="0" rIns="0" bIns="0" anchor="t" rtlCol="0">
            <a:normAutofit/>
          </a:bodyPr>
          <a:lstStyle/>
          <a:p>
            <a:pPr algn="l">
              <a:spcAft>
                <a:spcPts val="0"/>
              </a:spcAft>
              <a:buNone/>
            </a:pPr>
            <a:r>
              <a:rPr lang="en-US" altLang="zh-CN" sz="1200" b="1" i="0" spc="200" dirty="0">
                <a:solidFill>
                  <a:srgbClr val="F6B26B"/>
                </a:solidFill>
                <a:latin typeface="Arial"/>
                <a:ea typeface="Microsoft YaHei"/>
                <a:cs typeface="Arial"/>
              </a:rPr>
              <a:t>SEE THE CITY  ·  CHANGE THE CITY</a:t>
            </a:r>
          </a:p>
        </p:txBody>
      </p:sp>
      <p:sp>
        <p:nvSpPr>
          <p:cNvPr id="12" name="Cover title"/>
          <p:cNvSpPr txBox="1"/>
          <p:nvPr/>
        </p:nvSpPr>
        <p:spPr>
          <a:xfrm>
            <a:off x="548640" y="1828800"/>
            <a:ext cx="7863840" cy="914400"/>
          </a:xfrm>
          <a:prstGeom prst="rect">
            <a:avLst/>
          </a:prstGeom>
          <a:noFill/>
          <a:ln>
            <a:noFill/>
          </a:ln>
        </p:spPr>
        <p:txBody>
          <a:bodyPr wrap="square" lIns="0" tIns="0" rIns="0" bIns="0" anchor="t" rtlCol="0">
            <a:normAutofit/>
          </a:bodyPr>
          <a:lstStyle/>
          <a:p>
            <a:pPr algn="l">
              <a:spcAft>
                <a:spcPts val="0"/>
              </a:spcAft>
              <a:buNone/>
            </a:pPr>
            <a:r>
              <a:rPr lang="en-US" altLang="zh-CN" sz="5000" b="1" i="0" dirty="0">
                <a:solidFill>
                  <a:srgbClr val="FFFFFF"/>
                </a:solidFill>
                <a:latin typeface="Arial"/>
                <a:ea typeface="Microsoft YaHei"/>
                <a:cs typeface="Arial"/>
              </a:rPr>
              <a:t xml:space="preserve">The Innovation </a:t>
            </a:r>
            <a:r>
              <a:rPr lang="en-US" altLang="zh-CN" sz="5000" b="1" i="0" dirty="0">
                <a:solidFill>
                  <a:srgbClr val="F6B26B"/>
                </a:solidFill>
                <a:latin typeface="Arial"/>
                <a:ea typeface="Microsoft YaHei"/>
                <a:cs typeface="Arial"/>
              </a:rPr>
              <a:t>Urban</a:t>
            </a:r>
          </a:p>
        </p:txBody>
      </p:sp>
      <p:sp>
        <p:nvSpPr>
          <p:cNvPr id="13" name="Cover subtitle"/>
          <p:cNvSpPr txBox="1"/>
          <p:nvPr/>
        </p:nvSpPr>
        <p:spPr>
          <a:xfrm>
            <a:off x="548640" y="2788920"/>
            <a:ext cx="8229600" cy="914400"/>
          </a:xfrm>
          <a:prstGeom prst="rect">
            <a:avLst/>
          </a:prstGeom>
          <a:noFill/>
          <a:ln>
            <a:noFill/>
          </a:ln>
        </p:spPr>
        <p:txBody>
          <a:bodyPr wrap="square" lIns="0" tIns="0" rIns="0" bIns="0" anchor="t" rtlCol="0">
            <a:normAutofit/>
          </a:bodyPr>
          <a:lstStyle/>
          <a:p>
            <a:pPr algn="l">
              <a:lnSpc>
                <a:spcPct val="95000"/>
              </a:lnSpc>
              <a:spcAft>
                <a:spcPts val="0"/>
              </a:spcAft>
              <a:buNone/>
            </a:pPr>
            <a:r>
              <a:rPr lang="en-US" altLang="zh-CN" sz="2200" b="0" i="1" dirty="0">
                <a:solidFill>
                  <a:srgbClr val="E6E6F7"/>
                </a:solidFill>
                <a:latin typeface="Times New Roman"/>
                <a:ea typeface="Microsoft YaHei"/>
                <a:cs typeface="Times New Roman"/>
              </a:rPr>
              <a:t>Linking Infrastructure, Technology, Governance, and Climate Action</a:t>
            </a:r>
          </a:p>
        </p:txBody>
      </p:sp>
      <p:sp>
        <p:nvSpPr>
          <p:cNvPr id="14" name="Pillar Infrastructure"/>
          <p:cNvSpPr txBox="1"/>
          <p:nvPr/>
        </p:nvSpPr>
        <p:spPr>
          <a:xfrm>
            <a:off x="548640" y="393192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01</a:t>
            </a:r>
          </a:p>
          <a:p>
            <a:pPr algn="l">
              <a:spcAft>
                <a:spcPts val="0"/>
              </a:spcAft>
              <a:buNone/>
            </a:pPr>
            <a:r>
              <a:rPr lang="en-US" altLang="zh-CN" sz="1200" b="0" i="0" dirty="0">
                <a:solidFill>
                  <a:srgbClr val="D9DAF5"/>
                </a:solidFill>
                <a:latin typeface="Arial"/>
                <a:ea typeface="Microsoft YaHei"/>
                <a:cs typeface="Arial"/>
              </a:rPr>
              <a:t>Infrastructure</a:t>
            </a:r>
          </a:p>
        </p:txBody>
      </p:sp>
      <p:sp>
        <p:nvSpPr>
          <p:cNvPr id="15" name="Pillar divider 1"/>
          <p:cNvSpPr/>
          <p:nvPr/>
        </p:nvSpPr>
        <p:spPr>
          <a:xfrm>
            <a:off x="2313432" y="395020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6" name="Pillar Technology"/>
          <p:cNvSpPr txBox="1"/>
          <p:nvPr/>
        </p:nvSpPr>
        <p:spPr>
          <a:xfrm>
            <a:off x="2468880" y="393192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02</a:t>
            </a:r>
          </a:p>
          <a:p>
            <a:pPr algn="l">
              <a:spcAft>
                <a:spcPts val="0"/>
              </a:spcAft>
              <a:buNone/>
            </a:pPr>
            <a:r>
              <a:rPr lang="en-US" altLang="zh-CN" sz="1200" b="0" i="0" dirty="0">
                <a:solidFill>
                  <a:srgbClr val="D9DAF5"/>
                </a:solidFill>
                <a:latin typeface="Arial"/>
                <a:ea typeface="Microsoft YaHei"/>
                <a:cs typeface="Arial"/>
              </a:rPr>
              <a:t>Technology</a:t>
            </a:r>
          </a:p>
        </p:txBody>
      </p:sp>
      <p:sp>
        <p:nvSpPr>
          <p:cNvPr id="17" name="Pillar divider 2"/>
          <p:cNvSpPr/>
          <p:nvPr/>
        </p:nvSpPr>
        <p:spPr>
          <a:xfrm>
            <a:off x="4096512" y="395020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8" name="Pillar Governance"/>
          <p:cNvSpPr txBox="1"/>
          <p:nvPr/>
        </p:nvSpPr>
        <p:spPr>
          <a:xfrm>
            <a:off x="4251960" y="393192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03</a:t>
            </a:r>
          </a:p>
          <a:p>
            <a:pPr algn="l">
              <a:spcAft>
                <a:spcPts val="0"/>
              </a:spcAft>
              <a:buNone/>
            </a:pPr>
            <a:r>
              <a:rPr lang="en-US" altLang="zh-CN" sz="1200" b="0" i="0" dirty="0">
                <a:solidFill>
                  <a:srgbClr val="D9DAF5"/>
                </a:solidFill>
                <a:latin typeface="Arial"/>
                <a:ea typeface="Microsoft YaHei"/>
                <a:cs typeface="Arial"/>
              </a:rPr>
              <a:t>Governance</a:t>
            </a:r>
          </a:p>
        </p:txBody>
      </p:sp>
      <p:sp>
        <p:nvSpPr>
          <p:cNvPr id="19" name="Pillar divider 3"/>
          <p:cNvSpPr/>
          <p:nvPr/>
        </p:nvSpPr>
        <p:spPr>
          <a:xfrm>
            <a:off x="5879592" y="395020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20" name="Pillar Climate Action"/>
          <p:cNvSpPr txBox="1"/>
          <p:nvPr/>
        </p:nvSpPr>
        <p:spPr>
          <a:xfrm>
            <a:off x="6035040" y="393192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04</a:t>
            </a:r>
          </a:p>
          <a:p>
            <a:pPr algn="l">
              <a:spcAft>
                <a:spcPts val="0"/>
              </a:spcAft>
              <a:buNone/>
            </a:pPr>
            <a:r>
              <a:rPr lang="en-US" altLang="zh-CN" sz="1200" b="0" i="0" dirty="0">
                <a:solidFill>
                  <a:srgbClr val="D9DAF5"/>
                </a:solidFill>
                <a:latin typeface="Arial"/>
                <a:ea typeface="Microsoft YaHei"/>
                <a:cs typeface="Arial"/>
              </a:rPr>
              <a:t>Climate Action</a:t>
            </a:r>
          </a:p>
        </p:txBody>
      </p:sp>
      <p:sp>
        <p:nvSpPr>
          <p:cNvPr id="21" name="Open access chip"/>
          <p:cNvSpPr/>
          <p:nvPr/>
        </p:nvSpPr>
        <p:spPr>
          <a:xfrm>
            <a:off x="548640" y="4892040"/>
            <a:ext cx="1325880" cy="347472"/>
          </a:xfrm>
          <a:prstGeom prst="roundRect">
            <a:avLst>
              <a:gd name="adj" fmla="val 50000"/>
            </a:avLst>
          </a:prstGeom>
          <a:solidFill>
            <a:srgbClr val="4C8C2B"/>
          </a:solidFill>
          <a:ln>
            <a:noFill/>
          </a:ln>
        </p:spPr>
        <p:txBody>
          <a:bodyPr wrap="square" lIns="0" tIns="0" rIns="0" bIns="0" anchor="ctr" rtlCol="0">
            <a:normAutofit/>
          </a:bodyPr>
          <a:lstStyle/>
          <a:p>
            <a:pPr algn="ctr">
              <a:spcAft>
                <a:spcPts val="0"/>
              </a:spcAft>
              <a:buNone/>
            </a:pPr>
            <a:r>
              <a:rPr lang="en-US" altLang="zh-CN" sz="1200" b="1" i="0" dirty="0">
                <a:solidFill>
                  <a:srgbClr val="FFFFFF"/>
                </a:solidFill>
                <a:latin typeface="Arial"/>
                <a:ea typeface="Microsoft YaHei"/>
                <a:cs typeface="Arial"/>
              </a:rPr>
              <a:t>Open access</a:t>
            </a:r>
          </a:p>
        </p:txBody>
      </p:sp>
      <p:sp>
        <p:nvSpPr>
          <p:cNvPr id="22" name="Interdisciplinary note"/>
          <p:cNvSpPr txBox="1"/>
          <p:nvPr/>
        </p:nvSpPr>
        <p:spPr>
          <a:xfrm>
            <a:off x="2011680" y="4892040"/>
            <a:ext cx="5943600" cy="347472"/>
          </a:xfrm>
          <a:prstGeom prst="rect">
            <a:avLst/>
          </a:prstGeom>
          <a:noFill/>
          <a:ln>
            <a:noFill/>
          </a:ln>
        </p:spPr>
        <p:txBody>
          <a:bodyPr wrap="square" lIns="0" tIns="0" rIns="0" bIns="0" anchor="ctr" rtlCol="0">
            <a:normAutofit/>
          </a:bodyPr>
          <a:lstStyle/>
          <a:p>
            <a:pPr algn="l">
              <a:spcAft>
                <a:spcPts val="0"/>
              </a:spcAft>
              <a:buNone/>
            </a:pPr>
            <a:r>
              <a:rPr lang="en-US" altLang="zh-CN" sz="1200" b="0" i="1" dirty="0">
                <a:solidFill>
                  <a:srgbClr val="D9DAF5"/>
                </a:solidFill>
                <a:latin typeface="Arial"/>
                <a:ea typeface="Microsoft YaHei"/>
                <a:cs typeface="Arial"/>
              </a:rPr>
              <a:t>An interdisciplinary journal for scientific innovation in cities</a:t>
            </a:r>
          </a:p>
        </p:txBody>
      </p:sp>
      <p:sp>
        <p:nvSpPr>
          <p:cNvPr id="23" name="Cover frame"/>
          <p:cNvSpPr/>
          <p:nvPr/>
        </p:nvSpPr>
        <p:spPr>
          <a:xfrm>
            <a:off x="8951976" y="1362456"/>
            <a:ext cx="2715768" cy="3584448"/>
          </a:xfrm>
          <a:prstGeom prst="rect">
            <a:avLst/>
          </a:prstGeom>
          <a:solidFill>
            <a:srgbClr val="FFFFFF"/>
          </a:solidFill>
          <a:ln>
            <a:noFill/>
          </a:ln>
          <a:effectLst>
            <a:outerShdw blurRad="190500" dist="38100" dir="5400000" algn="t" rotWithShape="0">
              <a:srgbClr val="000000">
                <a:alpha val="22000"/>
              </a:srgbClr>
            </a:outerShdw>
          </a:effectLst>
        </p:spPr>
        <p:txBody>
          <a:bodyPr wrap="square" lIns="0" tIns="0" rIns="0" bIns="0" anchor="t" rtlCol="0">
            <a:normAutofit/>
          </a:bodyPr>
          <a:lstStyle/>
          <a:p>
            <a:endParaRPr lang="en-US"/>
          </a:p>
        </p:txBody>
      </p:sp>
      <p:pic>
        <p:nvPicPr>
          <p:cNvPr id="24" name="Cover art" descr="Illustrative journal cover"/>
          <p:cNvPicPr>
            <a:picLocks noChangeAspect="1"/>
          </p:cNvPicPr>
          <p:nvPr/>
        </p:nvPicPr>
        <p:blipFill>
          <a:blip r:embed="rId3"/>
          <a:stretch>
            <a:fillRect/>
          </a:stretch>
        </p:blipFill>
        <p:spPr>
          <a:xfrm>
            <a:off x="9006840" y="1417320"/>
            <a:ext cx="2606040" cy="3474720"/>
          </a:xfrm>
          <a:prstGeom prst="rect">
            <a:avLst/>
          </a:prstGeom>
        </p:spPr>
      </p:pic>
      <p:sp>
        <p:nvSpPr>
          <p:cNvPr id="25" name="Cover the"/>
          <p:cNvSpPr txBox="1"/>
          <p:nvPr/>
        </p:nvSpPr>
        <p:spPr>
          <a:xfrm>
            <a:off x="9171432" y="1527048"/>
            <a:ext cx="1828800" cy="228600"/>
          </a:xfrm>
          <a:prstGeom prst="rect">
            <a:avLst/>
          </a:prstGeom>
          <a:noFill/>
          <a:ln>
            <a:noFill/>
          </a:ln>
        </p:spPr>
        <p:txBody>
          <a:bodyPr wrap="square" lIns="0" tIns="0" rIns="0" bIns="0" anchor="t" rtlCol="0">
            <a:normAutofit/>
          </a:bodyPr>
          <a:lstStyle/>
          <a:p>
            <a:pPr algn="l">
              <a:spcAft>
                <a:spcPts val="0"/>
              </a:spcAft>
              <a:buNone/>
            </a:pPr>
            <a:r>
              <a:rPr lang="en-US" altLang="zh-CN" sz="1100" b="1" i="0" dirty="0">
                <a:solidFill>
                  <a:srgbClr val="FFFFFF"/>
                </a:solidFill>
                <a:latin typeface="Arial"/>
                <a:ea typeface="Microsoft YaHei"/>
                <a:cs typeface="Arial"/>
              </a:rPr>
              <a:t>The</a:t>
            </a:r>
          </a:p>
        </p:txBody>
      </p:sp>
      <p:sp>
        <p:nvSpPr>
          <p:cNvPr id="26" name="Cover innovation"/>
          <p:cNvSpPr txBox="1"/>
          <p:nvPr/>
        </p:nvSpPr>
        <p:spPr>
          <a:xfrm>
            <a:off x="9171432" y="1691640"/>
            <a:ext cx="2331720" cy="457200"/>
          </a:xfrm>
          <a:prstGeom prst="rect">
            <a:avLst/>
          </a:prstGeom>
          <a:noFill/>
          <a:ln>
            <a:noFill/>
          </a:ln>
        </p:spPr>
        <p:txBody>
          <a:bodyPr wrap="square" lIns="0" tIns="0" rIns="0" bIns="0" anchor="t" rtlCol="0">
            <a:normAutofit/>
          </a:bodyPr>
          <a:lstStyle/>
          <a:p>
            <a:pPr algn="l">
              <a:spcAft>
                <a:spcPts val="0"/>
              </a:spcAft>
              <a:buNone/>
            </a:pPr>
            <a:r>
              <a:rPr lang="en-US" altLang="zh-CN" sz="2800" b="1" i="0" dirty="0">
                <a:solidFill>
                  <a:srgbClr val="FFFFFF"/>
                </a:solidFill>
                <a:latin typeface="Arial"/>
                <a:ea typeface="Microsoft YaHei"/>
                <a:cs typeface="Arial"/>
              </a:rPr>
              <a:t>Innovation</a:t>
            </a:r>
          </a:p>
        </p:txBody>
      </p:sp>
      <p:sp>
        <p:nvSpPr>
          <p:cNvPr id="27" name="Cover urban"/>
          <p:cNvSpPr txBox="1"/>
          <p:nvPr/>
        </p:nvSpPr>
        <p:spPr>
          <a:xfrm>
            <a:off x="9171432" y="2148840"/>
            <a:ext cx="2331720" cy="292608"/>
          </a:xfrm>
          <a:prstGeom prst="rect">
            <a:avLst/>
          </a:prstGeom>
          <a:noFill/>
          <a:ln>
            <a:noFill/>
          </a:ln>
        </p:spPr>
        <p:txBody>
          <a:bodyPr wrap="square" lIns="0" tIns="0" rIns="0" bIns="0" anchor="t" rtlCol="0">
            <a:normAutofit/>
          </a:bodyPr>
          <a:lstStyle/>
          <a:p>
            <a:pPr algn="l">
              <a:spcAft>
                <a:spcPts val="0"/>
              </a:spcAft>
              <a:buNone/>
            </a:pPr>
            <a:r>
              <a:rPr lang="en-US" altLang="zh-CN" sz="1400" b="1" i="0" spc="600" dirty="0">
                <a:solidFill>
                  <a:srgbClr val="F6B26B"/>
                </a:solidFill>
                <a:latin typeface="Arial"/>
                <a:ea typeface="Microsoft YaHei"/>
                <a:cs typeface="Arial"/>
              </a:rPr>
              <a:t>URBAN</a:t>
            </a:r>
          </a:p>
        </p:txBody>
      </p:sp>
      <p:sp>
        <p:nvSpPr>
          <p:cNvPr id="28" name="Reviewer note"/>
          <p:cNvSpPr/>
          <p:nvPr/>
        </p:nvSpPr>
        <p:spPr>
          <a:xfrm>
            <a:off x="548640" y="5833872"/>
            <a:ext cx="11094415" cy="777240"/>
          </a:xfrm>
          <a:prstGeom prst="roundRect">
            <a:avLst>
              <a:gd name="adj" fmla="val 12000"/>
            </a:avLst>
          </a:prstGeom>
          <a:solidFill>
            <a:srgbClr val="FDEDE7"/>
          </a:solidFill>
          <a:ln w="9525">
            <a:solidFill>
              <a:srgbClr val="F3B8A5"/>
            </a:solidFill>
          </a:ln>
        </p:spPr>
        <p:txBody>
          <a:bodyPr wrap="square" lIns="0" tIns="0" rIns="0" bIns="0" anchor="t" rtlCol="0">
            <a:normAutofit/>
          </a:bodyPr>
          <a:lstStyle/>
          <a:p>
            <a:endParaRPr lang="en-US"/>
          </a:p>
        </p:txBody>
      </p:sp>
      <p:sp>
        <p:nvSpPr>
          <p:cNvPr id="29" name="Note tag"/>
          <p:cNvSpPr/>
          <p:nvPr/>
        </p:nvSpPr>
        <p:spPr>
          <a:xfrm>
            <a:off x="685800" y="6067044"/>
            <a:ext cx="566928" cy="310896"/>
          </a:xfrm>
          <a:prstGeom prst="roundRect">
            <a:avLst>
              <a:gd name="adj" fmla="val 50000"/>
            </a:avLst>
          </a:prstGeom>
          <a:solidFill>
            <a:srgbClr val="E5532D"/>
          </a:solidFill>
          <a:ln>
            <a:noFill/>
          </a:ln>
        </p:spPr>
        <p:txBody>
          <a:bodyPr wrap="square" lIns="0" tIns="0" rIns="0" bIns="0" anchor="ctr" rtlCol="0">
            <a:normAutofit/>
          </a:bodyPr>
          <a:lstStyle/>
          <a:p>
            <a:pPr algn="ctr">
              <a:spcAft>
                <a:spcPts val="0"/>
              </a:spcAft>
              <a:buNone/>
            </a:pPr>
            <a:r>
              <a:rPr lang="en-US" altLang="zh-CN" sz="1100" b="1" i="0" dirty="0">
                <a:solidFill>
                  <a:srgbClr val="FFFFFF"/>
                </a:solidFill>
                <a:latin typeface="Arial"/>
                <a:ea typeface="Microsoft YaHei"/>
                <a:cs typeface="Arial"/>
              </a:rPr>
              <a:t>批注</a:t>
            </a:r>
          </a:p>
        </p:txBody>
      </p:sp>
      <p:sp>
        <p:nvSpPr>
          <p:cNvPr id="30" name="Note text"/>
          <p:cNvSpPr txBox="1"/>
          <p:nvPr/>
        </p:nvSpPr>
        <p:spPr>
          <a:xfrm>
            <a:off x="1417320" y="5833872"/>
            <a:ext cx="10088575" cy="777240"/>
          </a:xfrm>
          <a:prstGeom prst="rect">
            <a:avLst/>
          </a:prstGeom>
          <a:noFill/>
          <a:ln>
            <a:noFill/>
          </a:ln>
        </p:spPr>
        <p:txBody>
          <a:bodyPr wrap="square" lIns="0" tIns="0" rIns="0" bIns="0" anchor="ctr" rtlCol="0">
            <a:normAutofit/>
          </a:bodyPr>
          <a:lstStyle/>
          <a:p>
            <a:pPr algn="l">
              <a:lnSpc>
                <a:spcPct val="105000"/>
              </a:lnSpc>
              <a:spcAft>
                <a:spcPts val="0"/>
              </a:spcAft>
              <a:buNone/>
            </a:pPr>
            <a:r>
              <a:rPr lang="en-US" altLang="zh-CN" sz="1200" b="1" i="0" dirty="0">
                <a:solidFill>
                  <a:srgbClr val="1E1E2E"/>
                </a:solidFill>
                <a:latin typeface="Arial"/>
                <a:ea typeface="Microsoft YaHei"/>
                <a:cs typeface="Arial"/>
              </a:rPr>
              <a:t>副标题，是否后面加一个 urban transformation？</a:t>
            </a:r>
          </a:p>
          <a:p>
            <a:pPr algn="l">
              <a:lnSpc>
                <a:spcPct val="105000"/>
              </a:lnSpc>
              <a:spcAft>
                <a:spcPts val="0"/>
              </a:spcAft>
              <a:buNone/>
            </a:pPr>
            <a:r>
              <a:rPr lang="en-US" altLang="zh-CN" sz="1200" b="0" i="0" dirty="0">
                <a:solidFill>
                  <a:srgbClr val="5B5D72"/>
                </a:solidFill>
                <a:latin typeface="Arial"/>
                <a:ea typeface="Microsoft YaHei"/>
                <a:cs typeface="Arial"/>
              </a:rPr>
              <a:t xml:space="preserve">Linking Infrastructure, Technology, Governance, and Climate Action for </a:t>
            </a:r>
            <a:r>
              <a:rPr lang="en-US" altLang="zh-CN" sz="1200" b="1" i="0" dirty="0">
                <a:solidFill>
                  <a:srgbClr val="C00000"/>
                </a:solidFill>
                <a:latin typeface="Arial"/>
                <a:ea typeface="Microsoft YaHei"/>
                <a:cs typeface="Arial"/>
              </a:rPr>
              <a:t>Urban Transformation</a:t>
            </a:r>
          </a:p>
        </p:txBody>
      </p:sp>
    </p:spTree>
    <p:extLst>
      <p:ext uri="{BB962C8B-B14F-4D97-AF65-F5344CB8AC3E}">
        <p14:creationId xmlns:p14="http://schemas.microsoft.com/office/powerpoint/2010/main" val="519053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02</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7528255" y="429768"/>
            <a:ext cx="132588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Background</a:t>
            </a:r>
          </a:p>
        </p:txBody>
      </p:sp>
      <p:sp>
        <p:nvSpPr>
          <p:cNvPr id="8" name="Nav Vision"/>
          <p:cNvSpPr/>
          <p:nvPr/>
        </p:nvSpPr>
        <p:spPr>
          <a:xfrm>
            <a:off x="88541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9" name="Nav Mission"/>
          <p:cNvSpPr/>
          <p:nvPr/>
        </p:nvSpPr>
        <p:spPr>
          <a:xfrm>
            <a:off x="97228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 name="Nav Topics"/>
          <p:cNvSpPr/>
          <p:nvPr/>
        </p:nvSpPr>
        <p:spPr>
          <a:xfrm>
            <a:off x="107286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WHY A NEW JOURNAL</a:t>
            </a:r>
          </a:p>
        </p:txBody>
      </p:sp>
      <p:sp>
        <p:nvSpPr>
          <p:cNvPr id="12"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Background</a:t>
            </a:r>
          </a:p>
        </p:txBody>
      </p:sp>
      <p:sp>
        <p:nvSpPr>
          <p:cNvPr id="13" name="Background statement"/>
          <p:cNvSpPr txBox="1"/>
          <p:nvPr/>
        </p:nvSpPr>
        <p:spPr>
          <a:xfrm>
            <a:off x="548640" y="2423160"/>
            <a:ext cx="5394960" cy="310896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Cities are among humanity’s most complex creations and a critical frontier for scientific and technological innovation, </a:t>
            </a:r>
            <a:r>
              <a:rPr lang="en-US" altLang="zh-CN" sz="2000" b="0" i="0" dirty="0">
                <a:solidFill>
                  <a:srgbClr val="1E1E2E"/>
                </a:solidFill>
                <a:latin typeface="Arial"/>
                <a:ea typeface="Microsoft YaHei"/>
                <a:cs typeface="Arial"/>
              </a:rPr>
              <a:t>yet face the urgent imperative to respond to infrastructure failures, disruptive technologies, climate change, and geopolitical and economic polycrises worldwide.</a:t>
            </a:r>
          </a:p>
        </p:txBody>
      </p:sp>
      <p:sp>
        <p:nvSpPr>
          <p:cNvPr id="14" name="Challenge card 1"/>
          <p:cNvSpPr/>
          <p:nvPr/>
        </p:nvSpPr>
        <p:spPr>
          <a:xfrm>
            <a:off x="6257239" y="2423160"/>
            <a:ext cx="2578608" cy="1572768"/>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5" name="Challenge icon 1 circle"/>
          <p:cNvSpPr/>
          <p:nvPr/>
        </p:nvSpPr>
        <p:spPr>
          <a:xfrm>
            <a:off x="6485839" y="2651760"/>
            <a:ext cx="548640" cy="548640"/>
          </a:xfrm>
          <a:prstGeom prst="ellipse">
            <a:avLst/>
          </a:prstGeom>
          <a:solidFill>
            <a:srgbClr val="4245AF"/>
          </a:solidFill>
          <a:ln>
            <a:noFill/>
          </a:ln>
        </p:spPr>
        <p:txBody>
          <a:bodyPr wrap="square" lIns="0" tIns="0" rIns="0" bIns="0" anchor="t" rtlCol="0">
            <a:normAutofit/>
          </a:bodyPr>
          <a:lstStyle/>
          <a:p>
            <a:endParaRPr lang="en-US"/>
          </a:p>
        </p:txBody>
      </p:sp>
      <p:pic>
        <p:nvPicPr>
          <p:cNvPr id="16" name="Challenge icon 1" descr=""/>
          <p:cNvPicPr>
            <a:picLocks noChangeAspect="1"/>
          </p:cNvPicPr>
          <p:nvPr/>
        </p:nvPicPr>
        <p:blipFill>
          <a:blip r:embed="rId2"/>
          <a:stretch>
            <a:fillRect/>
          </a:stretch>
        </p:blipFill>
        <p:spPr>
          <a:xfrm>
            <a:off x="6622999" y="2788920"/>
            <a:ext cx="274320" cy="274320"/>
          </a:xfrm>
          <a:prstGeom prst="rect">
            <a:avLst/>
          </a:prstGeom>
        </p:spPr>
      </p:pic>
      <p:sp>
        <p:nvSpPr>
          <p:cNvPr id="17" name="Challenge title 1"/>
          <p:cNvSpPr txBox="1"/>
          <p:nvPr/>
        </p:nvSpPr>
        <p:spPr>
          <a:xfrm>
            <a:off x="6485839" y="329184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Infrastructure failures</a:t>
            </a:r>
          </a:p>
        </p:txBody>
      </p:sp>
      <p:sp>
        <p:nvSpPr>
          <p:cNvPr id="18" name="Challenge caption 1"/>
          <p:cNvSpPr txBox="1"/>
          <p:nvPr/>
        </p:nvSpPr>
        <p:spPr>
          <a:xfrm>
            <a:off x="6485839" y="3538728"/>
            <a:ext cx="2212848" cy="384048"/>
          </a:xfrm>
          <a:prstGeom prst="rect">
            <a:avLst/>
          </a:prstGeom>
          <a:noFill/>
          <a:ln>
            <a:noFill/>
          </a:ln>
        </p:spPr>
        <p:txBody>
          <a:bodyPr wrap="square" lIns="0" tIns="0" rIns="0" bIns="0" anchor="t" rtlCol="0">
            <a:normAutofit/>
          </a:bodyPr>
          <a:lstStyle/>
          <a:p>
            <a:pPr algn="l">
              <a:spcAft>
                <a:spcPts val="0"/>
              </a:spcAft>
              <a:buNone/>
            </a:pPr>
            <a:r>
              <a:rPr lang="en-US" altLang="zh-CN" sz="1050" b="0" i="0" dirty="0">
                <a:solidFill>
                  <a:srgbClr val="5B5D72"/>
                </a:solidFill>
                <a:latin typeface="Arial"/>
                <a:ea typeface="Microsoft YaHei"/>
                <a:cs typeface="Arial"/>
              </a:rPr>
              <a:t>Ageing networks under rising demand</a:t>
            </a:r>
          </a:p>
        </p:txBody>
      </p:sp>
      <p:sp>
        <p:nvSpPr>
          <p:cNvPr id="19" name="Challenge card 2"/>
          <p:cNvSpPr/>
          <p:nvPr/>
        </p:nvSpPr>
        <p:spPr>
          <a:xfrm>
            <a:off x="9064447" y="2423160"/>
            <a:ext cx="2578608" cy="1572768"/>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0" name="Challenge icon 2 circle"/>
          <p:cNvSpPr/>
          <p:nvPr/>
        </p:nvSpPr>
        <p:spPr>
          <a:xfrm>
            <a:off x="9293047" y="2651760"/>
            <a:ext cx="548640" cy="548640"/>
          </a:xfrm>
          <a:prstGeom prst="ellipse">
            <a:avLst/>
          </a:prstGeom>
          <a:solidFill>
            <a:srgbClr val="4245AF"/>
          </a:solidFill>
          <a:ln>
            <a:noFill/>
          </a:ln>
        </p:spPr>
        <p:txBody>
          <a:bodyPr wrap="square" lIns="0" tIns="0" rIns="0" bIns="0" anchor="t" rtlCol="0">
            <a:normAutofit/>
          </a:bodyPr>
          <a:lstStyle/>
          <a:p>
            <a:endParaRPr lang="en-US"/>
          </a:p>
        </p:txBody>
      </p:sp>
      <p:pic>
        <p:nvPicPr>
          <p:cNvPr id="21" name="Challenge icon 2" descr=""/>
          <p:cNvPicPr>
            <a:picLocks noChangeAspect="1"/>
          </p:cNvPicPr>
          <p:nvPr/>
        </p:nvPicPr>
        <p:blipFill>
          <a:blip r:embed="rId3"/>
          <a:stretch>
            <a:fillRect/>
          </a:stretch>
        </p:blipFill>
        <p:spPr>
          <a:xfrm>
            <a:off x="9430207" y="2788920"/>
            <a:ext cx="274320" cy="274320"/>
          </a:xfrm>
          <a:prstGeom prst="rect">
            <a:avLst/>
          </a:prstGeom>
        </p:spPr>
      </p:pic>
      <p:sp>
        <p:nvSpPr>
          <p:cNvPr id="22" name="Challenge title 2"/>
          <p:cNvSpPr txBox="1"/>
          <p:nvPr/>
        </p:nvSpPr>
        <p:spPr>
          <a:xfrm>
            <a:off x="9293047" y="329184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Disruptive technologies</a:t>
            </a:r>
          </a:p>
        </p:txBody>
      </p:sp>
      <p:sp>
        <p:nvSpPr>
          <p:cNvPr id="23" name="Challenge caption 2"/>
          <p:cNvSpPr txBox="1"/>
          <p:nvPr/>
        </p:nvSpPr>
        <p:spPr>
          <a:xfrm>
            <a:off x="9293047" y="3538728"/>
            <a:ext cx="2212848" cy="384048"/>
          </a:xfrm>
          <a:prstGeom prst="rect">
            <a:avLst/>
          </a:prstGeom>
          <a:noFill/>
          <a:ln>
            <a:noFill/>
          </a:ln>
        </p:spPr>
        <p:txBody>
          <a:bodyPr wrap="square" lIns="0" tIns="0" rIns="0" bIns="0" anchor="t" rtlCol="0">
            <a:normAutofit/>
          </a:bodyPr>
          <a:lstStyle/>
          <a:p>
            <a:pPr algn="l">
              <a:spcAft>
                <a:spcPts val="0"/>
              </a:spcAft>
              <a:buNone/>
            </a:pPr>
            <a:r>
              <a:rPr lang="en-US" altLang="zh-CN" sz="1050" b="0" i="0" dirty="0">
                <a:solidFill>
                  <a:srgbClr val="5B5D72"/>
                </a:solidFill>
                <a:latin typeface="Arial"/>
                <a:ea typeface="Microsoft YaHei"/>
                <a:cs typeface="Arial"/>
              </a:rPr>
              <a:t>AI, sensing and automation reshaping cities</a:t>
            </a:r>
          </a:p>
        </p:txBody>
      </p:sp>
      <p:sp>
        <p:nvSpPr>
          <p:cNvPr id="24" name="Challenge card 3"/>
          <p:cNvSpPr/>
          <p:nvPr/>
        </p:nvSpPr>
        <p:spPr>
          <a:xfrm>
            <a:off x="6257239" y="4224528"/>
            <a:ext cx="2578608" cy="1572768"/>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5" name="Challenge icon 3 circle"/>
          <p:cNvSpPr/>
          <p:nvPr/>
        </p:nvSpPr>
        <p:spPr>
          <a:xfrm>
            <a:off x="6485839" y="4453128"/>
            <a:ext cx="548640" cy="548640"/>
          </a:xfrm>
          <a:prstGeom prst="ellipse">
            <a:avLst/>
          </a:prstGeom>
          <a:solidFill>
            <a:srgbClr val="4245AF"/>
          </a:solidFill>
          <a:ln>
            <a:noFill/>
          </a:ln>
        </p:spPr>
        <p:txBody>
          <a:bodyPr wrap="square" lIns="0" tIns="0" rIns="0" bIns="0" anchor="t" rtlCol="0">
            <a:normAutofit/>
          </a:bodyPr>
          <a:lstStyle/>
          <a:p>
            <a:endParaRPr lang="en-US"/>
          </a:p>
        </p:txBody>
      </p:sp>
      <p:pic>
        <p:nvPicPr>
          <p:cNvPr id="26" name="Challenge icon 3" descr=""/>
          <p:cNvPicPr>
            <a:picLocks noChangeAspect="1"/>
          </p:cNvPicPr>
          <p:nvPr/>
        </p:nvPicPr>
        <p:blipFill>
          <a:blip r:embed="rId4"/>
          <a:stretch>
            <a:fillRect/>
          </a:stretch>
        </p:blipFill>
        <p:spPr>
          <a:xfrm>
            <a:off x="6622999" y="4590288"/>
            <a:ext cx="274320" cy="274320"/>
          </a:xfrm>
          <a:prstGeom prst="rect">
            <a:avLst/>
          </a:prstGeom>
        </p:spPr>
      </p:pic>
      <p:sp>
        <p:nvSpPr>
          <p:cNvPr id="27" name="Challenge title 3"/>
          <p:cNvSpPr txBox="1"/>
          <p:nvPr/>
        </p:nvSpPr>
        <p:spPr>
          <a:xfrm>
            <a:off x="6485839" y="5093208"/>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Climate change</a:t>
            </a:r>
          </a:p>
        </p:txBody>
      </p:sp>
      <p:sp>
        <p:nvSpPr>
          <p:cNvPr id="28" name="Challenge caption 3"/>
          <p:cNvSpPr txBox="1"/>
          <p:nvPr/>
        </p:nvSpPr>
        <p:spPr>
          <a:xfrm>
            <a:off x="6485839" y="5340096"/>
            <a:ext cx="2212848" cy="384048"/>
          </a:xfrm>
          <a:prstGeom prst="rect">
            <a:avLst/>
          </a:prstGeom>
          <a:noFill/>
          <a:ln>
            <a:noFill/>
          </a:ln>
        </p:spPr>
        <p:txBody>
          <a:bodyPr wrap="square" lIns="0" tIns="0" rIns="0" bIns="0" anchor="t" rtlCol="0">
            <a:normAutofit/>
          </a:bodyPr>
          <a:lstStyle/>
          <a:p>
            <a:pPr algn="l">
              <a:spcAft>
                <a:spcPts val="0"/>
              </a:spcAft>
              <a:buNone/>
            </a:pPr>
            <a:r>
              <a:rPr lang="en-US" altLang="zh-CN" sz="1050" b="0" i="0" dirty="0">
                <a:solidFill>
                  <a:srgbClr val="5B5D72"/>
                </a:solidFill>
                <a:latin typeface="Arial"/>
                <a:ea typeface="Microsoft YaHei"/>
                <a:cs typeface="Arial"/>
              </a:rPr>
              <a:t>Heat, flooding and the need to decarbonize</a:t>
            </a:r>
          </a:p>
        </p:txBody>
      </p:sp>
      <p:sp>
        <p:nvSpPr>
          <p:cNvPr id="29" name="Challenge card 4"/>
          <p:cNvSpPr/>
          <p:nvPr/>
        </p:nvSpPr>
        <p:spPr>
          <a:xfrm>
            <a:off x="9064447" y="4224528"/>
            <a:ext cx="2578608" cy="1572768"/>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30" name="Challenge icon 4 circle"/>
          <p:cNvSpPr/>
          <p:nvPr/>
        </p:nvSpPr>
        <p:spPr>
          <a:xfrm>
            <a:off x="9293047" y="4453128"/>
            <a:ext cx="548640" cy="548640"/>
          </a:xfrm>
          <a:prstGeom prst="ellipse">
            <a:avLst/>
          </a:prstGeom>
          <a:solidFill>
            <a:srgbClr val="4245AF"/>
          </a:solidFill>
          <a:ln>
            <a:noFill/>
          </a:ln>
        </p:spPr>
        <p:txBody>
          <a:bodyPr wrap="square" lIns="0" tIns="0" rIns="0" bIns="0" anchor="t" rtlCol="0">
            <a:normAutofit/>
          </a:bodyPr>
          <a:lstStyle/>
          <a:p>
            <a:endParaRPr lang="en-US"/>
          </a:p>
        </p:txBody>
      </p:sp>
      <p:pic>
        <p:nvPicPr>
          <p:cNvPr id="31" name="Challenge icon 4" descr=""/>
          <p:cNvPicPr>
            <a:picLocks noChangeAspect="1"/>
          </p:cNvPicPr>
          <p:nvPr/>
        </p:nvPicPr>
        <p:blipFill>
          <a:blip r:embed="rId5"/>
          <a:stretch>
            <a:fillRect/>
          </a:stretch>
        </p:blipFill>
        <p:spPr>
          <a:xfrm>
            <a:off x="9430207" y="4590288"/>
            <a:ext cx="274320" cy="274320"/>
          </a:xfrm>
          <a:prstGeom prst="rect">
            <a:avLst/>
          </a:prstGeom>
        </p:spPr>
      </p:pic>
      <p:sp>
        <p:nvSpPr>
          <p:cNvPr id="32" name="Challenge title 4"/>
          <p:cNvSpPr txBox="1"/>
          <p:nvPr/>
        </p:nvSpPr>
        <p:spPr>
          <a:xfrm>
            <a:off x="9293047" y="5093208"/>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Polycrises</a:t>
            </a:r>
          </a:p>
        </p:txBody>
      </p:sp>
      <p:sp>
        <p:nvSpPr>
          <p:cNvPr id="33" name="Challenge caption 4"/>
          <p:cNvSpPr txBox="1"/>
          <p:nvPr/>
        </p:nvSpPr>
        <p:spPr>
          <a:xfrm>
            <a:off x="9293047" y="5340096"/>
            <a:ext cx="2212848" cy="384048"/>
          </a:xfrm>
          <a:prstGeom prst="rect">
            <a:avLst/>
          </a:prstGeom>
          <a:noFill/>
          <a:ln>
            <a:noFill/>
          </a:ln>
        </p:spPr>
        <p:txBody>
          <a:bodyPr wrap="square" lIns="0" tIns="0" rIns="0" bIns="0" anchor="t" rtlCol="0">
            <a:normAutofit/>
          </a:bodyPr>
          <a:lstStyle/>
          <a:p>
            <a:pPr algn="l">
              <a:spcAft>
                <a:spcPts val="0"/>
              </a:spcAft>
              <a:buNone/>
            </a:pPr>
            <a:r>
              <a:rPr lang="en-US" altLang="zh-CN" sz="1050" b="0" i="0" dirty="0">
                <a:solidFill>
                  <a:srgbClr val="5B5D72"/>
                </a:solidFill>
                <a:latin typeface="Arial"/>
                <a:ea typeface="Microsoft YaHei"/>
                <a:cs typeface="Arial"/>
              </a:rPr>
              <a:t>Geopolitical and economic shocks worldwide</a:t>
            </a:r>
          </a:p>
        </p:txBody>
      </p:sp>
      <p:sp>
        <p:nvSpPr>
          <p:cNvPr id="34" name="Reviewer note"/>
          <p:cNvSpPr/>
          <p:nvPr/>
        </p:nvSpPr>
        <p:spPr>
          <a:xfrm>
            <a:off x="548640" y="6053328"/>
            <a:ext cx="11094415" cy="512064"/>
          </a:xfrm>
          <a:prstGeom prst="roundRect">
            <a:avLst>
              <a:gd name="adj" fmla="val 12000"/>
            </a:avLst>
          </a:prstGeom>
          <a:solidFill>
            <a:srgbClr val="FDEDE7"/>
          </a:solidFill>
          <a:ln w="9525">
            <a:solidFill>
              <a:srgbClr val="F3B8A5"/>
            </a:solidFill>
          </a:ln>
        </p:spPr>
        <p:txBody>
          <a:bodyPr wrap="square" lIns="0" tIns="0" rIns="0" bIns="0" anchor="t" rtlCol="0">
            <a:normAutofit/>
          </a:bodyPr>
          <a:lstStyle/>
          <a:p>
            <a:endParaRPr lang="en-US"/>
          </a:p>
        </p:txBody>
      </p:sp>
      <p:sp>
        <p:nvSpPr>
          <p:cNvPr id="35" name="Note tag"/>
          <p:cNvSpPr/>
          <p:nvPr/>
        </p:nvSpPr>
        <p:spPr>
          <a:xfrm>
            <a:off x="685800" y="6153912"/>
            <a:ext cx="566928" cy="310896"/>
          </a:xfrm>
          <a:prstGeom prst="roundRect">
            <a:avLst>
              <a:gd name="adj" fmla="val 50000"/>
            </a:avLst>
          </a:prstGeom>
          <a:solidFill>
            <a:srgbClr val="E5532D"/>
          </a:solidFill>
          <a:ln>
            <a:noFill/>
          </a:ln>
        </p:spPr>
        <p:txBody>
          <a:bodyPr wrap="square" lIns="0" tIns="0" rIns="0" bIns="0" anchor="ctr" rtlCol="0">
            <a:normAutofit/>
          </a:bodyPr>
          <a:lstStyle/>
          <a:p>
            <a:pPr algn="ctr">
              <a:spcAft>
                <a:spcPts val="0"/>
              </a:spcAft>
              <a:buNone/>
            </a:pPr>
            <a:r>
              <a:rPr lang="en-US" altLang="zh-CN" sz="1100" b="1" i="0" dirty="0">
                <a:solidFill>
                  <a:srgbClr val="FFFFFF"/>
                </a:solidFill>
                <a:latin typeface="Arial"/>
                <a:ea typeface="Microsoft YaHei"/>
                <a:cs typeface="Arial"/>
              </a:rPr>
              <a:t>批注</a:t>
            </a:r>
          </a:p>
        </p:txBody>
      </p:sp>
      <p:sp>
        <p:nvSpPr>
          <p:cNvPr id="36" name="Note text"/>
          <p:cNvSpPr txBox="1"/>
          <p:nvPr/>
        </p:nvSpPr>
        <p:spPr>
          <a:xfrm>
            <a:off x="1417320" y="6053328"/>
            <a:ext cx="10088575" cy="512064"/>
          </a:xfrm>
          <a:prstGeom prst="rect">
            <a:avLst/>
          </a:prstGeom>
          <a:noFill/>
          <a:ln>
            <a:noFill/>
          </a:ln>
        </p:spPr>
        <p:txBody>
          <a:bodyPr wrap="square" lIns="0" tIns="0" rIns="0" bIns="0" anchor="ctr" rtlCol="0">
            <a:normAutofit/>
          </a:bodyPr>
          <a:lstStyle/>
          <a:p>
            <a:pPr algn="l">
              <a:lnSpc>
                <a:spcPct val="105000"/>
              </a:lnSpc>
              <a:spcAft>
                <a:spcPts val="0"/>
              </a:spcAft>
              <a:buNone/>
            </a:pPr>
            <a:r>
              <a:rPr lang="en-US" altLang="zh-CN" sz="1200" b="0" i="0" dirty="0">
                <a:solidFill>
                  <a:srgbClr val="C00000"/>
                </a:solidFill>
                <a:latin typeface="Arial"/>
                <a:ea typeface="Microsoft YaHei"/>
                <a:cs typeface="Arial"/>
              </a:rPr>
              <a:t>这里是否需要对比基本类似期刊？比如相比 Nature Cities – 更加聚焦 scientific innovation for cities</a:t>
            </a:r>
          </a:p>
        </p:txBody>
      </p:sp>
    </p:spTree>
    <p:extLst>
      <p:ext uri="{BB962C8B-B14F-4D97-AF65-F5344CB8AC3E}">
        <p14:creationId xmlns:p14="http://schemas.microsoft.com/office/powerpoint/2010/main" val="69831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03</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75282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8" name="Nav Vision"/>
          <p:cNvSpPr/>
          <p:nvPr/>
        </p:nvSpPr>
        <p:spPr>
          <a:xfrm>
            <a:off x="8854135" y="429768"/>
            <a:ext cx="86868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Vision</a:t>
            </a:r>
          </a:p>
        </p:txBody>
      </p:sp>
      <p:sp>
        <p:nvSpPr>
          <p:cNvPr id="9" name="Nav Mission"/>
          <p:cNvSpPr/>
          <p:nvPr/>
        </p:nvSpPr>
        <p:spPr>
          <a:xfrm>
            <a:off x="97228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 name="Nav Topics"/>
          <p:cNvSpPr/>
          <p:nvPr/>
        </p:nvSpPr>
        <p:spPr>
          <a:xfrm>
            <a:off x="107286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WHERE WE AIM TO BE</a:t>
            </a:r>
          </a:p>
        </p:txBody>
      </p:sp>
      <p:sp>
        <p:nvSpPr>
          <p:cNvPr id="12"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Vision</a:t>
            </a:r>
          </a:p>
        </p:txBody>
      </p:sp>
      <p:sp>
        <p:nvSpPr>
          <p:cNvPr id="13" name="Vision statement"/>
          <p:cNvSpPr txBox="1"/>
          <p:nvPr/>
        </p:nvSpPr>
        <p:spPr>
          <a:xfrm>
            <a:off x="548640" y="2377440"/>
            <a:ext cx="11094415" cy="13716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A world-class international journal based in China, </a:t>
            </a:r>
            <a:r>
              <a:rPr lang="en-US" altLang="zh-CN" sz="2000" b="0" i="0" dirty="0">
                <a:solidFill>
                  <a:srgbClr val="1E1E2E"/>
                </a:solidFill>
                <a:latin typeface="Arial"/>
                <a:ea typeface="Microsoft YaHei"/>
                <a:cs typeface="Arial"/>
              </a:rPr>
              <a:t>led by an international, interdisciplinary, and intergenerational team of leading scholars, and dedicated to advancing scientific discovery and technological innovation to diagnose and dissect urban challenges and devise innovative solutions for cities worldwide.</a:t>
            </a:r>
          </a:p>
        </p:txBody>
      </p:sp>
      <p:sp>
        <p:nvSpPr>
          <p:cNvPr id="14" name="Team card 1"/>
          <p:cNvSpPr/>
          <p:nvPr/>
        </p:nvSpPr>
        <p:spPr>
          <a:xfrm>
            <a:off x="54864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5" name="Team icon 1 circle"/>
          <p:cNvSpPr/>
          <p:nvPr/>
        </p:nvSpPr>
        <p:spPr>
          <a:xfrm>
            <a:off x="77724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6" name="Team icon 1" descr=""/>
          <p:cNvPicPr>
            <a:picLocks noChangeAspect="1"/>
          </p:cNvPicPr>
          <p:nvPr/>
        </p:nvPicPr>
        <p:blipFill>
          <a:blip r:embed="rId2"/>
          <a:stretch>
            <a:fillRect/>
          </a:stretch>
        </p:blipFill>
        <p:spPr>
          <a:xfrm>
            <a:off x="925830" y="4473702"/>
            <a:ext cx="297180" cy="297180"/>
          </a:xfrm>
          <a:prstGeom prst="rect">
            <a:avLst/>
          </a:prstGeom>
        </p:spPr>
      </p:pic>
      <p:sp>
        <p:nvSpPr>
          <p:cNvPr id="17" name="Team title 1"/>
          <p:cNvSpPr txBox="1"/>
          <p:nvPr/>
        </p:nvSpPr>
        <p:spPr>
          <a:xfrm>
            <a:off x="77724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International</a:t>
            </a:r>
          </a:p>
        </p:txBody>
      </p:sp>
      <p:sp>
        <p:nvSpPr>
          <p:cNvPr id="18" name="Team caption 1"/>
          <p:cNvSpPr txBox="1"/>
          <p:nvPr/>
        </p:nvSpPr>
        <p:spPr>
          <a:xfrm>
            <a:off x="77724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Editors and authors from leading institutions worldwide</a:t>
            </a:r>
          </a:p>
        </p:txBody>
      </p:sp>
      <p:sp>
        <p:nvSpPr>
          <p:cNvPr id="19" name="Team card 2"/>
          <p:cNvSpPr/>
          <p:nvPr/>
        </p:nvSpPr>
        <p:spPr>
          <a:xfrm>
            <a:off x="310896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0" name="Team icon 2 circle"/>
          <p:cNvSpPr/>
          <p:nvPr/>
        </p:nvSpPr>
        <p:spPr>
          <a:xfrm>
            <a:off x="333756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1" name="Team icon 2" descr=""/>
          <p:cNvPicPr>
            <a:picLocks noChangeAspect="1"/>
          </p:cNvPicPr>
          <p:nvPr/>
        </p:nvPicPr>
        <p:blipFill>
          <a:blip r:embed="rId3"/>
          <a:stretch>
            <a:fillRect/>
          </a:stretch>
        </p:blipFill>
        <p:spPr>
          <a:xfrm>
            <a:off x="3486150" y="4473702"/>
            <a:ext cx="297180" cy="297180"/>
          </a:xfrm>
          <a:prstGeom prst="rect">
            <a:avLst/>
          </a:prstGeom>
        </p:spPr>
      </p:pic>
      <p:sp>
        <p:nvSpPr>
          <p:cNvPr id="22" name="Team title 2"/>
          <p:cNvSpPr txBox="1"/>
          <p:nvPr/>
        </p:nvSpPr>
        <p:spPr>
          <a:xfrm>
            <a:off x="333756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Interdisciplinary</a:t>
            </a:r>
          </a:p>
        </p:txBody>
      </p:sp>
      <p:sp>
        <p:nvSpPr>
          <p:cNvPr id="23" name="Team caption 2"/>
          <p:cNvSpPr txBox="1"/>
          <p:nvPr/>
        </p:nvSpPr>
        <p:spPr>
          <a:xfrm>
            <a:off x="333756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Engineering, technology, governance and climate science</a:t>
            </a:r>
          </a:p>
        </p:txBody>
      </p:sp>
      <p:sp>
        <p:nvSpPr>
          <p:cNvPr id="24" name="Team card 3"/>
          <p:cNvSpPr/>
          <p:nvPr/>
        </p:nvSpPr>
        <p:spPr>
          <a:xfrm>
            <a:off x="566928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5" name="Team icon 3 circle"/>
          <p:cNvSpPr/>
          <p:nvPr/>
        </p:nvSpPr>
        <p:spPr>
          <a:xfrm>
            <a:off x="589788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6" name="Team icon 3" descr=""/>
          <p:cNvPicPr>
            <a:picLocks noChangeAspect="1"/>
          </p:cNvPicPr>
          <p:nvPr/>
        </p:nvPicPr>
        <p:blipFill>
          <a:blip r:embed="rId4"/>
          <a:stretch>
            <a:fillRect/>
          </a:stretch>
        </p:blipFill>
        <p:spPr>
          <a:xfrm>
            <a:off x="6046470" y="4473702"/>
            <a:ext cx="297180" cy="297180"/>
          </a:xfrm>
          <a:prstGeom prst="rect">
            <a:avLst/>
          </a:prstGeom>
        </p:spPr>
      </p:pic>
      <p:sp>
        <p:nvSpPr>
          <p:cNvPr id="27" name="Team title 3"/>
          <p:cNvSpPr txBox="1"/>
          <p:nvPr/>
        </p:nvSpPr>
        <p:spPr>
          <a:xfrm>
            <a:off x="589788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Intergenerational</a:t>
            </a:r>
          </a:p>
        </p:txBody>
      </p:sp>
      <p:sp>
        <p:nvSpPr>
          <p:cNvPr id="28" name="Team caption 3"/>
          <p:cNvSpPr txBox="1"/>
          <p:nvPr/>
        </p:nvSpPr>
        <p:spPr>
          <a:xfrm>
            <a:off x="589788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Leading scholars together with emerging researchers</a:t>
            </a:r>
          </a:p>
        </p:txBody>
      </p:sp>
      <p:sp>
        <p:nvSpPr>
          <p:cNvPr id="29" name="Approach panel"/>
          <p:cNvSpPr/>
          <p:nvPr/>
        </p:nvSpPr>
        <p:spPr>
          <a:xfrm>
            <a:off x="8229600" y="4069080"/>
            <a:ext cx="3413455" cy="2148840"/>
          </a:xfrm>
          <a:prstGeom prst="roundRect">
            <a:avLst>
              <a:gd name="adj" fmla="val 6000"/>
            </a:avLst>
          </a:prstGeom>
          <a:solidFill>
            <a:srgbClr val="4245AF"/>
          </a:solidFill>
          <a:ln>
            <a:noFill/>
          </a:ln>
        </p:spPr>
        <p:txBody>
          <a:bodyPr wrap="square" lIns="0" tIns="0" rIns="0" bIns="0" anchor="t" rtlCol="0">
            <a:normAutofit/>
          </a:bodyPr>
          <a:lstStyle/>
          <a:p>
            <a:endParaRPr lang="en-US"/>
          </a:p>
        </p:txBody>
      </p:sp>
      <p:sp>
        <p:nvSpPr>
          <p:cNvPr id="30" name="Approach kicker"/>
          <p:cNvSpPr txBox="1"/>
          <p:nvPr/>
        </p:nvSpPr>
        <p:spPr>
          <a:xfrm>
            <a:off x="8549640" y="4297680"/>
            <a:ext cx="2864815" cy="274320"/>
          </a:xfrm>
          <a:prstGeom prst="rect">
            <a:avLst/>
          </a:prstGeom>
          <a:noFill/>
          <a:ln>
            <a:noFill/>
          </a:ln>
        </p:spPr>
        <p:txBody>
          <a:bodyPr wrap="square" lIns="0" tIns="0" rIns="0" bIns="0" anchor="t" rtlCol="0">
            <a:normAutofit/>
          </a:bodyPr>
          <a:lstStyle/>
          <a:p>
            <a:pPr algn="l">
              <a:spcAft>
                <a:spcPts val="0"/>
              </a:spcAft>
              <a:buNone/>
            </a:pPr>
            <a:r>
              <a:rPr lang="en-US" altLang="zh-CN" sz="1100" b="1" i="0" spc="100" dirty="0">
                <a:solidFill>
                  <a:srgbClr val="F6B26B"/>
                </a:solidFill>
                <a:latin typeface="Arial"/>
                <a:ea typeface="Microsoft YaHei"/>
                <a:cs typeface="Arial"/>
              </a:rPr>
              <a:t>FROM DISCOVERY TO SOLUTIONS</a:t>
            </a:r>
          </a:p>
        </p:txBody>
      </p:sp>
      <p:sp>
        <p:nvSpPr>
          <p:cNvPr id="31" name="Step number 1"/>
          <p:cNvSpPr txBox="1"/>
          <p:nvPr/>
        </p:nvSpPr>
        <p:spPr>
          <a:xfrm>
            <a:off x="8549640" y="4690872"/>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01</a:t>
            </a:r>
          </a:p>
        </p:txBody>
      </p:sp>
      <p:sp>
        <p:nvSpPr>
          <p:cNvPr id="32" name="Step text 1"/>
          <p:cNvSpPr txBox="1"/>
          <p:nvPr/>
        </p:nvSpPr>
        <p:spPr>
          <a:xfrm>
            <a:off x="9098280" y="4690872"/>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Diagnose </a:t>
            </a:r>
            <a:r>
              <a:rPr lang="en-US" altLang="zh-CN" sz="1200" b="0" i="0" dirty="0">
                <a:solidFill>
                  <a:srgbClr val="D9DAF5"/>
                </a:solidFill>
                <a:latin typeface="Arial"/>
                <a:ea typeface="Microsoft YaHei"/>
                <a:cs typeface="Arial"/>
              </a:rPr>
              <a:t>urban challenges</a:t>
            </a:r>
          </a:p>
        </p:txBody>
      </p:sp>
      <p:sp>
        <p:nvSpPr>
          <p:cNvPr id="33" name="Step number 2"/>
          <p:cNvSpPr txBox="1"/>
          <p:nvPr/>
        </p:nvSpPr>
        <p:spPr>
          <a:xfrm>
            <a:off x="8549640" y="5184648"/>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02</a:t>
            </a:r>
          </a:p>
        </p:txBody>
      </p:sp>
      <p:sp>
        <p:nvSpPr>
          <p:cNvPr id="34" name="Step text 2"/>
          <p:cNvSpPr txBox="1"/>
          <p:nvPr/>
        </p:nvSpPr>
        <p:spPr>
          <a:xfrm>
            <a:off x="9098280" y="5184648"/>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Dissect </a:t>
            </a:r>
            <a:r>
              <a:rPr lang="en-US" altLang="zh-CN" sz="1200" b="0" i="0" dirty="0">
                <a:solidFill>
                  <a:srgbClr val="D9DAF5"/>
                </a:solidFill>
                <a:latin typeface="Arial"/>
                <a:ea typeface="Microsoft YaHei"/>
                <a:cs typeface="Arial"/>
              </a:rPr>
              <a:t>their causes and interactions</a:t>
            </a:r>
          </a:p>
        </p:txBody>
      </p:sp>
      <p:sp>
        <p:nvSpPr>
          <p:cNvPr id="35" name="Step number 3"/>
          <p:cNvSpPr txBox="1"/>
          <p:nvPr/>
        </p:nvSpPr>
        <p:spPr>
          <a:xfrm>
            <a:off x="8549640" y="5678424"/>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03</a:t>
            </a:r>
          </a:p>
        </p:txBody>
      </p:sp>
      <p:sp>
        <p:nvSpPr>
          <p:cNvPr id="36" name="Step text 3"/>
          <p:cNvSpPr txBox="1"/>
          <p:nvPr/>
        </p:nvSpPr>
        <p:spPr>
          <a:xfrm>
            <a:off x="9098280" y="5678424"/>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Devise </a:t>
            </a:r>
            <a:r>
              <a:rPr lang="en-US" altLang="zh-CN" sz="1200" b="0" i="0" dirty="0">
                <a:solidFill>
                  <a:srgbClr val="D9DAF5"/>
                </a:solidFill>
                <a:latin typeface="Arial"/>
                <a:ea typeface="Microsoft YaHei"/>
                <a:cs typeface="Arial"/>
              </a:rPr>
              <a:t>innovative solutions for cities</a:t>
            </a:r>
          </a:p>
        </p:txBody>
      </p:sp>
    </p:spTree>
    <p:extLst>
      <p:ext uri="{BB962C8B-B14F-4D97-AF65-F5344CB8AC3E}">
        <p14:creationId xmlns:p14="http://schemas.microsoft.com/office/powerpoint/2010/main" val="528369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04</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75282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8" name="Nav Vision"/>
          <p:cNvSpPr/>
          <p:nvPr/>
        </p:nvSpPr>
        <p:spPr>
          <a:xfrm>
            <a:off x="88541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9" name="Nav Mission"/>
          <p:cNvSpPr/>
          <p:nvPr/>
        </p:nvSpPr>
        <p:spPr>
          <a:xfrm>
            <a:off x="9722815" y="429768"/>
            <a:ext cx="100584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Mission</a:t>
            </a:r>
          </a:p>
        </p:txBody>
      </p:sp>
      <p:sp>
        <p:nvSpPr>
          <p:cNvPr id="10" name="Nav Topics"/>
          <p:cNvSpPr/>
          <p:nvPr/>
        </p:nvSpPr>
        <p:spPr>
          <a:xfrm>
            <a:off x="107286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WILL DO</a:t>
            </a:r>
          </a:p>
        </p:txBody>
      </p:sp>
      <p:sp>
        <p:nvSpPr>
          <p:cNvPr id="12"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Mission</a:t>
            </a:r>
          </a:p>
        </p:txBody>
      </p:sp>
      <p:sp>
        <p:nvSpPr>
          <p:cNvPr id="13" name="Mission statement"/>
          <p:cNvSpPr txBox="1"/>
          <p:nvPr/>
        </p:nvSpPr>
        <p:spPr>
          <a:xfrm>
            <a:off x="548640" y="2286000"/>
            <a:ext cx="11094415" cy="11430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1800" b="0" i="0" dirty="0">
                <a:solidFill>
                  <a:srgbClr val="1E1E2E"/>
                </a:solidFill>
                <a:latin typeface="Arial"/>
                <a:ea typeface="Microsoft YaHei"/>
                <a:cs typeface="Arial"/>
              </a:rPr>
              <a:t xml:space="preserve">The journal’s mission is to establish a </a:t>
            </a:r>
            <a:r>
              <a:rPr lang="en-US" altLang="zh-CN" sz="1800" b="1" i="0" dirty="0">
                <a:solidFill>
                  <a:srgbClr val="4245AF"/>
                </a:solidFill>
                <a:latin typeface="Arial"/>
                <a:ea typeface="Microsoft YaHei"/>
                <a:cs typeface="Arial"/>
              </a:rPr>
              <a:t>distinctive and authoritative international forum</a:t>
            </a:r>
            <a:r>
              <a:rPr lang="en-US" altLang="zh-CN" sz="1800" b="0" i="0" dirty="0">
                <a:solidFill>
                  <a:srgbClr val="1E1E2E"/>
                </a:solidFill>
                <a:latin typeface="Arial"/>
                <a:ea typeface="Microsoft YaHei"/>
                <a:cs typeface="Arial"/>
              </a:rPr>
              <a:t xml:space="preserve"> for pioneering interdisciplinary scholarship on the interdependent challenges of urban infrastructure, technological transformation, governance, and climate action.</a:t>
            </a:r>
          </a:p>
        </p:txBody>
      </p:sp>
      <p:sp>
        <p:nvSpPr>
          <p:cNvPr id="14" name="Goal card 1"/>
          <p:cNvSpPr/>
          <p:nvPr/>
        </p:nvSpPr>
        <p:spPr>
          <a:xfrm>
            <a:off x="548640"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5" name="Goal number 1"/>
          <p:cNvSpPr/>
          <p:nvPr/>
        </p:nvSpPr>
        <p:spPr>
          <a:xfrm>
            <a:off x="749808"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01</a:t>
            </a:r>
          </a:p>
        </p:txBody>
      </p:sp>
      <p:sp>
        <p:nvSpPr>
          <p:cNvPr id="16" name="Goal text 1"/>
          <p:cNvSpPr txBox="1"/>
          <p:nvPr/>
        </p:nvSpPr>
        <p:spPr>
          <a:xfrm>
            <a:off x="749808"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interdisciplinary scientific understanding of cities</a:t>
            </a:r>
          </a:p>
        </p:txBody>
      </p:sp>
      <p:sp>
        <p:nvSpPr>
          <p:cNvPr id="17" name="Goal card 2"/>
          <p:cNvSpPr/>
          <p:nvPr/>
        </p:nvSpPr>
        <p:spPr>
          <a:xfrm>
            <a:off x="3379394"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8" name="Goal number 2"/>
          <p:cNvSpPr/>
          <p:nvPr/>
        </p:nvSpPr>
        <p:spPr>
          <a:xfrm>
            <a:off x="3580562"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02</a:t>
            </a:r>
          </a:p>
        </p:txBody>
      </p:sp>
      <p:sp>
        <p:nvSpPr>
          <p:cNvPr id="19" name="Goal text 2"/>
          <p:cNvSpPr txBox="1"/>
          <p:nvPr/>
        </p:nvSpPr>
        <p:spPr>
          <a:xfrm>
            <a:off x="3580562"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Promote innovation in urban infrastructure and engineering</a:t>
            </a:r>
          </a:p>
        </p:txBody>
      </p:sp>
      <p:sp>
        <p:nvSpPr>
          <p:cNvPr id="20" name="Goal card 3"/>
          <p:cNvSpPr/>
          <p:nvPr/>
        </p:nvSpPr>
        <p:spPr>
          <a:xfrm>
            <a:off x="6210148"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1" name="Goal number 3"/>
          <p:cNvSpPr/>
          <p:nvPr/>
        </p:nvSpPr>
        <p:spPr>
          <a:xfrm>
            <a:off x="6411316"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03</a:t>
            </a:r>
          </a:p>
        </p:txBody>
      </p:sp>
      <p:sp>
        <p:nvSpPr>
          <p:cNvPr id="22" name="Goal text 3"/>
          <p:cNvSpPr txBox="1"/>
          <p:nvPr/>
        </p:nvSpPr>
        <p:spPr>
          <a:xfrm>
            <a:off x="6411316"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Enable technological transformation of urban systems</a:t>
            </a:r>
          </a:p>
        </p:txBody>
      </p:sp>
      <p:sp>
        <p:nvSpPr>
          <p:cNvPr id="23" name="Goal card 4"/>
          <p:cNvSpPr/>
          <p:nvPr/>
        </p:nvSpPr>
        <p:spPr>
          <a:xfrm>
            <a:off x="9040901"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4" name="Goal number 4"/>
          <p:cNvSpPr/>
          <p:nvPr/>
        </p:nvSpPr>
        <p:spPr>
          <a:xfrm>
            <a:off x="9242069"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04</a:t>
            </a:r>
          </a:p>
        </p:txBody>
      </p:sp>
      <p:sp>
        <p:nvSpPr>
          <p:cNvPr id="25" name="Goal text 4"/>
          <p:cNvSpPr txBox="1"/>
          <p:nvPr/>
        </p:nvSpPr>
        <p:spPr>
          <a:xfrm>
            <a:off x="9242069"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urban climate action and environmental resilience</a:t>
            </a:r>
          </a:p>
        </p:txBody>
      </p:sp>
      <p:sp>
        <p:nvSpPr>
          <p:cNvPr id="26" name="Goal card 5"/>
          <p:cNvSpPr/>
          <p:nvPr/>
        </p:nvSpPr>
        <p:spPr>
          <a:xfrm>
            <a:off x="548640"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7" name="Goal number 5"/>
          <p:cNvSpPr/>
          <p:nvPr/>
        </p:nvSpPr>
        <p:spPr>
          <a:xfrm>
            <a:off x="749808"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05</a:t>
            </a:r>
          </a:p>
        </p:txBody>
      </p:sp>
      <p:sp>
        <p:nvSpPr>
          <p:cNvPr id="28" name="Goal text 5"/>
          <p:cNvSpPr txBox="1"/>
          <p:nvPr/>
        </p:nvSpPr>
        <p:spPr>
          <a:xfrm>
            <a:off x="749808"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Understand how governance enables or constrains urban innovation</a:t>
            </a:r>
          </a:p>
        </p:txBody>
      </p:sp>
      <p:sp>
        <p:nvSpPr>
          <p:cNvPr id="29" name="Goal card 6"/>
          <p:cNvSpPr/>
          <p:nvPr/>
        </p:nvSpPr>
        <p:spPr>
          <a:xfrm>
            <a:off x="3379394"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0" name="Goal number 6"/>
          <p:cNvSpPr/>
          <p:nvPr/>
        </p:nvSpPr>
        <p:spPr>
          <a:xfrm>
            <a:off x="3580562"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06</a:t>
            </a:r>
          </a:p>
        </p:txBody>
      </p:sp>
      <p:sp>
        <p:nvSpPr>
          <p:cNvPr id="31" name="Goal text 6"/>
          <p:cNvSpPr txBox="1"/>
          <p:nvPr/>
        </p:nvSpPr>
        <p:spPr>
          <a:xfrm>
            <a:off x="3580562"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Generate comparative evidence and contextually responsive solutions</a:t>
            </a:r>
          </a:p>
        </p:txBody>
      </p:sp>
      <p:sp>
        <p:nvSpPr>
          <p:cNvPr id="32" name="Goal card 7"/>
          <p:cNvSpPr/>
          <p:nvPr/>
        </p:nvSpPr>
        <p:spPr>
          <a:xfrm>
            <a:off x="6210148"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3" name="Goal number 7"/>
          <p:cNvSpPr/>
          <p:nvPr/>
        </p:nvSpPr>
        <p:spPr>
          <a:xfrm>
            <a:off x="6411316"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07</a:t>
            </a:r>
          </a:p>
        </p:txBody>
      </p:sp>
      <p:sp>
        <p:nvSpPr>
          <p:cNvPr id="34" name="Goal text 7"/>
          <p:cNvSpPr txBox="1"/>
          <p:nvPr/>
        </p:nvSpPr>
        <p:spPr>
          <a:xfrm>
            <a:off x="6411316"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Accelerate translation from discovery to application</a:t>
            </a:r>
          </a:p>
        </p:txBody>
      </p:sp>
      <p:sp>
        <p:nvSpPr>
          <p:cNvPr id="35" name="Goal card 8"/>
          <p:cNvSpPr/>
          <p:nvPr/>
        </p:nvSpPr>
        <p:spPr>
          <a:xfrm>
            <a:off x="9040901" y="5138928"/>
            <a:ext cx="2602154" cy="1325880"/>
          </a:xfrm>
          <a:prstGeom prst="roundRect">
            <a:avLst>
              <a:gd name="adj" fmla="val 7000"/>
            </a:avLst>
          </a:prstGeom>
          <a:solidFill>
            <a:srgbClr val="4245AF"/>
          </a:solidFill>
          <a:ln>
            <a:noFill/>
          </a:ln>
        </p:spPr>
        <p:txBody>
          <a:bodyPr wrap="square" lIns="0" tIns="0" rIns="0" bIns="0" anchor="t" rtlCol="0">
            <a:normAutofit/>
          </a:bodyPr>
          <a:lstStyle/>
          <a:p>
            <a:endParaRPr lang="en-US"/>
          </a:p>
        </p:txBody>
      </p:sp>
      <p:sp>
        <p:nvSpPr>
          <p:cNvPr id="36" name="Goal number 8"/>
          <p:cNvSpPr/>
          <p:nvPr/>
        </p:nvSpPr>
        <p:spPr>
          <a:xfrm>
            <a:off x="9242069" y="5303520"/>
            <a:ext cx="420624" cy="420624"/>
          </a:xfrm>
          <a:prstGeom prst="ellipse">
            <a:avLst/>
          </a:prstGeom>
          <a:solidFill>
            <a:srgbClr val="FFFFFF"/>
          </a:solidFill>
          <a:ln>
            <a:noFill/>
          </a:ln>
        </p:spPr>
        <p:txBody>
          <a:bodyPr wrap="square" lIns="0" tIns="0" rIns="0" bIns="0" anchor="ctr" rtlCol="0">
            <a:normAutofit/>
          </a:bodyPr>
          <a:lstStyle/>
          <a:p>
            <a:pPr algn="ctr">
              <a:spcAft>
                <a:spcPts val="0"/>
              </a:spcAft>
              <a:buNone/>
            </a:pPr>
            <a:r>
              <a:rPr lang="en-US" altLang="zh-CN" sz="1300" b="1" i="0" dirty="0">
                <a:solidFill>
                  <a:srgbClr val="4245AF"/>
                </a:solidFill>
                <a:latin typeface="Arial"/>
                <a:ea typeface="Microsoft YaHei"/>
                <a:cs typeface="Arial"/>
              </a:rPr>
              <a:t>08</a:t>
            </a:r>
          </a:p>
        </p:txBody>
      </p:sp>
      <p:sp>
        <p:nvSpPr>
          <p:cNvPr id="37" name="Goal text 8"/>
          <p:cNvSpPr txBox="1"/>
          <p:nvPr/>
        </p:nvSpPr>
        <p:spPr>
          <a:xfrm>
            <a:off x="9242069"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FFFFFF"/>
                </a:solidFill>
                <a:latin typeface="Arial"/>
                <a:ea typeface="Microsoft YaHei"/>
                <a:cs typeface="Arial"/>
              </a:rPr>
              <a:t>Build a global community for urban innovation</a:t>
            </a:r>
          </a:p>
        </p:txBody>
      </p:sp>
    </p:spTree>
    <p:extLst>
      <p:ext uri="{BB962C8B-B14F-4D97-AF65-F5344CB8AC3E}">
        <p14:creationId xmlns:p14="http://schemas.microsoft.com/office/powerpoint/2010/main" val="406266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D9B29-DB17-AC6B-B91E-29C8480A2B52}"/>
            </a:ext>
          </a:extLst>
        </p:cNvPr>
        <p:cNvGrpSpPr/>
        <p:nvPr/>
      </p:nvGrpSpPr>
      <p:grpSpPr>
        <a:xfrm>
          <a:off x="0" y="0"/>
          <a:ext cx="0" cy="0"/>
          <a:chOff x="0" y="0"/>
          <a:chExt cx="0" cy="0"/>
        </a:xfrm>
      </p:grpSpPr>
      <p:sp>
        <p:nvSpPr>
          <p:cNvPr id="101"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102"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103"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05</a:t>
            </a:r>
          </a:p>
        </p:txBody>
      </p:sp>
      <p:sp>
        <p:nvSpPr>
          <p:cNvPr id="104"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105"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106" name="Nav Background"/>
          <p:cNvSpPr/>
          <p:nvPr/>
        </p:nvSpPr>
        <p:spPr>
          <a:xfrm>
            <a:off x="75282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107" name="Nav Vision"/>
          <p:cNvSpPr/>
          <p:nvPr/>
        </p:nvSpPr>
        <p:spPr>
          <a:xfrm>
            <a:off x="88541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108" name="Nav Mission"/>
          <p:cNvSpPr/>
          <p:nvPr/>
        </p:nvSpPr>
        <p:spPr>
          <a:xfrm>
            <a:off x="97228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9" name="Nav Topics"/>
          <p:cNvSpPr/>
          <p:nvPr/>
        </p:nvSpPr>
        <p:spPr>
          <a:xfrm>
            <a:off x="10728655" y="429768"/>
            <a:ext cx="91440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Topics</a:t>
            </a:r>
          </a:p>
        </p:txBody>
      </p:sp>
      <p:sp>
        <p:nvSpPr>
          <p:cNvPr id="110"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PUBLISH</a:t>
            </a:r>
          </a:p>
        </p:txBody>
      </p:sp>
      <p:sp>
        <p:nvSpPr>
          <p:cNvPr id="111"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Topics of Interest</a:t>
            </a:r>
          </a:p>
        </p:txBody>
      </p:sp>
      <p:graphicFrame>
        <p:nvGraphicFramePr>
          <p:cNvPr id="4" name="表格 3">
            <a:extLst>
              <a:ext uri="{FF2B5EF4-FFF2-40B4-BE49-F238E27FC236}">
                <a16:creationId xmlns:a16="http://schemas.microsoft.com/office/drawing/2014/main" id="{C00B6AD1-662E-E372-1EE6-EB1C7ECCD650}"/>
              </a:ext>
            </a:extLst>
          </p:cNvPr>
          <p:cNvGraphicFramePr>
            <a:graphicFrameLocks noGrp="1"/>
          </p:cNvGraphicFramePr>
          <p:nvPr>
            <p:extLst>
              <p:ext uri="{D42A27DB-BD31-4B8C-83A1-F6EECF244321}">
                <p14:modId xmlns:p14="http://schemas.microsoft.com/office/powerpoint/2010/main" val="3029594399"/>
              </p:ext>
            </p:extLst>
          </p:nvPr>
        </p:nvGraphicFramePr>
        <p:xfrm>
          <a:off x="548640" y="2331720"/>
          <a:ext cx="11094415" cy="416052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1018197210"/>
                    </a:ext>
                  </a:extLst>
                </a:gridCol>
                <a:gridCol w="7528255">
                  <a:extLst>
                    <a:ext uri="{9D8B030D-6E8A-4147-A177-3AD203B41FA5}">
                      <a16:colId xmlns:a16="http://schemas.microsoft.com/office/drawing/2014/main" val="1709403564"/>
                    </a:ext>
                  </a:extLst>
                </a:gridCol>
              </a:tblGrid>
              <a:tr h="384048">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Topics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Examples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extLst>
                  <a:ext uri="{0D108BD9-81ED-4DB2-BD59-A6C34878D82A}">
                    <a16:rowId xmlns:a16="http://schemas.microsoft.com/office/drawing/2014/main" val="57648298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Infrastructure and Engineering</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Renewal of aging urban infrastructure; engineering solutions for dense urban environments; coordinated design and operation of urban infrastructure networks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3496641808"/>
                  </a:ext>
                </a:extLst>
              </a:tr>
              <a:tr h="462280">
                <a:tc>
                  <a:txBody>
                    <a:bodyPr/>
                    <a:lstStyle/>
                    <a:p>
                      <a:pPr algn="l" fontAlgn="ctr">
                        <a:buNone/>
                      </a:pPr>
                      <a:r>
                        <a:rPr lang="zh-CN" sz="1300" b="1" i="0" u="none" strike="noStrike">
                          <a:solidFill>
                            <a:srgbClr val="2E3192"/>
                          </a:solidFill>
                          <a:effectLst/>
                          <a:latin typeface="Arial"/>
                          <a:ea typeface="等线" panose="02010600030101010101" pitchFamily="2" charset="-122"/>
                          <a:cs typeface="Arial"/>
                        </a:rPr>
                        <a:t>Urban Technologies and Intelligent Systems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City-scale sensing and digital twins; AI and robotics for urban services and infrastructure operations; development and validation of technologies in urban settings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254080113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Climate Action and Urban Resilience</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en-US" altLang="zh-CN" sz="1150" b="0" i="0" u="none" strike="noStrike" kern="1200" dirty="0">
                          <a:solidFill>
                            <a:srgbClr val="1E1E2E"/>
                          </a:solidFill>
                          <a:effectLst/>
                          <a:latin typeface="Arial"/>
                          <a:ea typeface="等线" panose="02010600030101010101" pitchFamily="2" charset="-122"/>
                          <a:cs typeface="Arial"/>
                        </a:rPr>
                        <a:t>Urban heat and flood risks; adaptation through urban design, infrastructure, and nature-based solutions; decarbonization pathways for cities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417384921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Buildings, Energy, and the Built Environment</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zh-CN" sz="1150" b="0" i="0" u="none" strike="noStrike" kern="1200" dirty="0">
                          <a:solidFill>
                            <a:srgbClr val="1E1E2E"/>
                          </a:solidFill>
                          <a:effectLst/>
                          <a:latin typeface="Arial"/>
                          <a:ea typeface="等线" panose="02010600030101010101" pitchFamily="2" charset="-122"/>
                          <a:cs typeface="Arial"/>
                        </a:rPr>
                        <a:t>Effects of urban form and climate on building energy use;</a:t>
                      </a:r>
                      <a:r>
                        <a:rPr lang="en-US" altLang="zh-CN" sz="1150" b="0" i="0" u="none" strike="noStrike" kern="1200" dirty="0">
                          <a:solidFill>
                            <a:srgbClr val="1E1E2E"/>
                          </a:solidFill>
                          <a:effectLst/>
                          <a:latin typeface="Arial"/>
                          <a:ea typeface="等线" panose="02010600030101010101" pitchFamily="2" charset="-122"/>
                          <a:cs typeface="Arial"/>
                        </a:rPr>
                        <a:t> Building–neighbourhood–city energy interactions; urban retrofits; urban indoor–outdoor environmental quality</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457600358"/>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Mobility and Transportation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Interactions between urban form and mobility; integration of multimodal urban transport networks; effects of mobility innovations on accessibility, energy use, and emissions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253051452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Environment, Resources,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water–energy–waste linkages; circular resource flows within and across cities; relationships between urban form, environmental exposure,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3451591153"/>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Systems, Complexity, and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scaling and metabolism; cascading failures across interconnected urban networks; technological and infrastructural pathways of urban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131560744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Governance, Planning, and Policy for Urban Innovation</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Planning and regulation for urban technology deployment; governance of integrated infrastructure systems; evaluation and adaptation of innovations across diverse cities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965057857"/>
                  </a:ext>
                </a:extLst>
              </a:tr>
            </a:tbl>
          </a:graphicData>
        </a:graphic>
      </p:graphicFrame>
    </p:spTree>
    <p:extLst>
      <p:ext uri="{BB962C8B-B14F-4D97-AF65-F5344CB8AC3E}">
        <p14:creationId xmlns:p14="http://schemas.microsoft.com/office/powerpoint/2010/main" val="2515479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4437C89-EFC0-0A27-9684-FCFDFBF30DE1}"/>
              </a:ext>
            </a:extLst>
          </p:cNvPr>
          <p:cNvSpPr txBox="1"/>
          <p:nvPr/>
        </p:nvSpPr>
        <p:spPr>
          <a:xfrm>
            <a:off x="596181" y="672022"/>
            <a:ext cx="4976875"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Editor-in-Chief &amp; Working group </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733850B5-B224-5592-3648-6C1974902BCD}"/>
              </a:ext>
            </a:extLst>
          </p:cNvPr>
          <p:cNvSpPr txBox="1"/>
          <p:nvPr/>
        </p:nvSpPr>
        <p:spPr>
          <a:xfrm>
            <a:off x="2233331" y="3083082"/>
            <a:ext cx="2746265"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a:t>
            </a:r>
            <a:r>
              <a:rPr lang="en-US" altLang="zh-CN" sz="2400" b="1" dirty="0" err="1">
                <a:latin typeface="Arial" panose="020B0604020202020204" pitchFamily="34" charset="0"/>
                <a:cs typeface="Arial" panose="020B0604020202020204" pitchFamily="34" charset="0"/>
              </a:rPr>
              <a:t>Shenjing</a:t>
            </a:r>
            <a:r>
              <a:rPr lang="en-US" altLang="zh-CN" sz="2400" b="1" dirty="0">
                <a:latin typeface="Arial" panose="020B0604020202020204" pitchFamily="34" charset="0"/>
                <a:cs typeface="Arial" panose="020B0604020202020204" pitchFamily="34" charset="0"/>
              </a:rPr>
              <a:t> He</a:t>
            </a:r>
            <a:endParaRPr lang="zh-CN" altLang="en-US" sz="2400" b="1" dirty="0">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1D4FF68E-6CA3-B990-3A58-F1FB578C7AB8}"/>
              </a:ext>
            </a:extLst>
          </p:cNvPr>
          <p:cNvSpPr txBox="1"/>
          <p:nvPr/>
        </p:nvSpPr>
        <p:spPr>
          <a:xfrm>
            <a:off x="6914600" y="2445435"/>
            <a:ext cx="3478837" cy="707886"/>
          </a:xfrm>
          <a:prstGeom prst="rect">
            <a:avLst/>
          </a:prstGeom>
          <a:noFill/>
        </p:spPr>
        <p:txBody>
          <a:bodyPr wrap="none" rtlCol="0">
            <a:spAutoFit/>
          </a:bodyPr>
          <a:lstStyle/>
          <a:p>
            <a:pPr algn="ctr"/>
            <a:r>
              <a:rPr lang="en-US" altLang="zh-CN" sz="2400" b="1" dirty="0">
                <a:solidFill>
                  <a:srgbClr val="C00000"/>
                </a:solidFill>
                <a:latin typeface="Arial" panose="020B0604020202020204" pitchFamily="34" charset="0"/>
                <a:cs typeface="Arial" panose="020B0604020202020204" pitchFamily="34" charset="0"/>
              </a:rPr>
              <a:t>??</a:t>
            </a:r>
          </a:p>
          <a:p>
            <a:pPr algn="ctr"/>
            <a:r>
              <a:rPr lang="zh-CN" altLang="en-US" sz="1600" b="1" dirty="0">
                <a:solidFill>
                  <a:srgbClr val="C00000"/>
                </a:solidFill>
                <a:latin typeface="Arial" panose="020B0604020202020204" pitchFamily="34" charset="0"/>
                <a:cs typeface="Arial" panose="020B0604020202020204" pitchFamily="34" charset="0"/>
              </a:rPr>
              <a:t>大部分</a:t>
            </a:r>
            <a:r>
              <a:rPr lang="en-US" altLang="zh-CN" sz="1600" b="1" dirty="0">
                <a:solidFill>
                  <a:srgbClr val="C00000"/>
                </a:solidFill>
                <a:latin typeface="Arial" panose="020B0604020202020204" pitchFamily="34" charset="0"/>
                <a:cs typeface="Arial" panose="020B0604020202020204" pitchFamily="34" charset="0"/>
              </a:rPr>
              <a:t>Innovation</a:t>
            </a:r>
            <a:r>
              <a:rPr lang="zh-CN" altLang="en-US" sz="1600" b="1" dirty="0">
                <a:solidFill>
                  <a:srgbClr val="C00000"/>
                </a:solidFill>
                <a:latin typeface="Arial" panose="020B0604020202020204" pitchFamily="34" charset="0"/>
                <a:cs typeface="Arial" panose="020B0604020202020204" pitchFamily="34" charset="0"/>
              </a:rPr>
              <a:t>子刊都有两个主编</a:t>
            </a:r>
          </a:p>
        </p:txBody>
      </p:sp>
      <p:sp>
        <p:nvSpPr>
          <p:cNvPr id="11" name="文本框 10">
            <a:extLst>
              <a:ext uri="{FF2B5EF4-FFF2-40B4-BE49-F238E27FC236}">
                <a16:creationId xmlns:a16="http://schemas.microsoft.com/office/drawing/2014/main" id="{B056DD10-C2F4-9869-E731-44FBB15AE9AC}"/>
              </a:ext>
            </a:extLst>
          </p:cNvPr>
          <p:cNvSpPr txBox="1"/>
          <p:nvPr/>
        </p:nvSpPr>
        <p:spPr>
          <a:xfrm>
            <a:off x="1013714" y="4628672"/>
            <a:ext cx="2433551"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Xiang Yan</a:t>
            </a:r>
            <a:endParaRPr lang="zh-CN" altLang="en-US" sz="2400" b="1" dirty="0">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90B690D4-085F-03C3-7C8C-B52709B7D190}"/>
              </a:ext>
            </a:extLst>
          </p:cNvPr>
          <p:cNvSpPr txBox="1"/>
          <p:nvPr/>
        </p:nvSpPr>
        <p:spPr>
          <a:xfrm>
            <a:off x="4494321" y="4628672"/>
            <a:ext cx="2853730"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a:t>
            </a:r>
            <a:r>
              <a:rPr lang="en-US" altLang="zh-CN" sz="2400" b="1" dirty="0" err="1">
                <a:latin typeface="Arial" panose="020B0604020202020204" pitchFamily="34" charset="0"/>
                <a:cs typeface="Arial" panose="020B0604020202020204" pitchFamily="34" charset="0"/>
              </a:rPr>
              <a:t>Tianzuo</a:t>
            </a:r>
            <a:r>
              <a:rPr lang="en-US" altLang="zh-CN" sz="2400" b="1" dirty="0">
                <a:latin typeface="Arial" panose="020B0604020202020204" pitchFamily="34" charset="0"/>
                <a:cs typeface="Arial" panose="020B0604020202020204" pitchFamily="34" charset="0"/>
              </a:rPr>
              <a:t> Wen</a:t>
            </a:r>
          </a:p>
        </p:txBody>
      </p:sp>
      <p:sp>
        <p:nvSpPr>
          <p:cNvPr id="13" name="文本框 12">
            <a:extLst>
              <a:ext uri="{FF2B5EF4-FFF2-40B4-BE49-F238E27FC236}">
                <a16:creationId xmlns:a16="http://schemas.microsoft.com/office/drawing/2014/main" id="{BFB8132D-417D-01F9-B162-9E3F97D55B7B}"/>
              </a:ext>
            </a:extLst>
          </p:cNvPr>
          <p:cNvSpPr txBox="1"/>
          <p:nvPr/>
        </p:nvSpPr>
        <p:spPr>
          <a:xfrm>
            <a:off x="8335951" y="4628672"/>
            <a:ext cx="2057486"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Dr. </a:t>
            </a:r>
            <a:r>
              <a:rPr lang="en-US" altLang="zh-CN" sz="2400" b="1" dirty="0" err="1">
                <a:latin typeface="Arial" panose="020B0604020202020204" pitchFamily="34" charset="0"/>
                <a:cs typeface="Arial" panose="020B0604020202020204" pitchFamily="34" charset="0"/>
              </a:rPr>
              <a:t>Yutian</a:t>
            </a:r>
            <a:r>
              <a:rPr lang="en-US" altLang="zh-CN" sz="2400" b="1" dirty="0">
                <a:latin typeface="Arial" panose="020B0604020202020204" pitchFamily="34" charset="0"/>
                <a:cs typeface="Arial" panose="020B0604020202020204" pitchFamily="34" charset="0"/>
              </a:rPr>
              <a:t> Lu</a:t>
            </a:r>
            <a:endParaRPr lang="zh-CN" altLang="en-US" sz="2400" b="1" dirty="0">
              <a:latin typeface="Arial" panose="020B0604020202020204" pitchFamily="34" charset="0"/>
              <a:cs typeface="Arial" panose="020B0604020202020204" pitchFamily="34" charset="0"/>
            </a:endParaRPr>
          </a:p>
        </p:txBody>
      </p:sp>
      <p:sp>
        <p:nvSpPr>
          <p:cNvPr id="15" name="椭圆 14">
            <a:extLst>
              <a:ext uri="{FF2B5EF4-FFF2-40B4-BE49-F238E27FC236}">
                <a16:creationId xmlns:a16="http://schemas.microsoft.com/office/drawing/2014/main" id="{9EE514A6-51FB-1F26-5428-196DE3188FB5}"/>
              </a:ext>
            </a:extLst>
          </p:cNvPr>
          <p:cNvSpPr/>
          <p:nvPr>
            <p:custDataLst>
              <p:tags r:id="rId1"/>
            </p:custDataLst>
          </p:nvPr>
        </p:nvSpPr>
        <p:spPr>
          <a:xfrm>
            <a:off x="2788265" y="1446687"/>
            <a:ext cx="1636395" cy="1636395"/>
          </a:xfrm>
          <a:prstGeom prst="ellipse">
            <a:avLst/>
          </a:prstGeom>
          <a:blipFill rotWithShape="1">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005354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B8F801ED-1338-49AA-180D-3CBB69DF4972}"/>
              </a:ext>
            </a:extLst>
          </p:cNvPr>
          <p:cNvSpPr/>
          <p:nvPr>
            <p:custDataLst>
              <p:tags r:id="rId1"/>
            </p:custDataLst>
          </p:nvPr>
        </p:nvSpPr>
        <p:spPr>
          <a:xfrm>
            <a:off x="1223785" y="1408011"/>
            <a:ext cx="1635760" cy="1636395"/>
          </a:xfrm>
          <a:prstGeom prst="ellipse">
            <a:avLst/>
          </a:prstGeom>
          <a:blipFill rotWithShape="1">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表格 4">
            <a:extLst>
              <a:ext uri="{FF2B5EF4-FFF2-40B4-BE49-F238E27FC236}">
                <a16:creationId xmlns:a16="http://schemas.microsoft.com/office/drawing/2014/main" id="{0DC37922-E88D-17F0-8B08-8757D077109C}"/>
              </a:ext>
            </a:extLst>
          </p:cNvPr>
          <p:cNvGraphicFramePr>
            <a:graphicFrameLocks noGrp="1"/>
          </p:cNvGraphicFramePr>
          <p:nvPr>
            <p:extLst>
              <p:ext uri="{D42A27DB-BD31-4B8C-83A1-F6EECF244321}">
                <p14:modId xmlns:p14="http://schemas.microsoft.com/office/powerpoint/2010/main" val="1282145624"/>
              </p:ext>
            </p:extLst>
          </p:nvPr>
        </p:nvGraphicFramePr>
        <p:xfrm>
          <a:off x="4819290" y="1408010"/>
          <a:ext cx="11250540" cy="5813282"/>
        </p:xfrm>
        <a:graphic>
          <a:graphicData uri="http://schemas.openxmlformats.org/drawingml/2006/table">
            <a:tbl>
              <a:tblPr firstRow="1" bandRow="1">
                <a:tableStyleId>{5C22544A-7EE6-4342-B048-85BDC9FD1C3A}</a:tableStyleId>
              </a:tblPr>
              <a:tblGrid>
                <a:gridCol w="1535040">
                  <a:extLst>
                    <a:ext uri="{9D8B030D-6E8A-4147-A177-3AD203B41FA5}">
                      <a16:colId xmlns:a16="http://schemas.microsoft.com/office/drawing/2014/main" val="804490841"/>
                    </a:ext>
                  </a:extLst>
                </a:gridCol>
                <a:gridCol w="2603500">
                  <a:extLst>
                    <a:ext uri="{9D8B030D-6E8A-4147-A177-3AD203B41FA5}">
                      <a16:colId xmlns:a16="http://schemas.microsoft.com/office/drawing/2014/main" val="3359018448"/>
                    </a:ext>
                  </a:extLst>
                </a:gridCol>
                <a:gridCol w="3746500">
                  <a:extLst>
                    <a:ext uri="{9D8B030D-6E8A-4147-A177-3AD203B41FA5}">
                      <a16:colId xmlns:a16="http://schemas.microsoft.com/office/drawing/2014/main" val="4284748114"/>
                    </a:ext>
                  </a:extLst>
                </a:gridCol>
                <a:gridCol w="3365500">
                  <a:extLst>
                    <a:ext uri="{9D8B030D-6E8A-4147-A177-3AD203B41FA5}">
                      <a16:colId xmlns:a16="http://schemas.microsoft.com/office/drawing/2014/main" val="847045964"/>
                    </a:ext>
                  </a:extLst>
                </a:gridCol>
              </a:tblGrid>
              <a:tr h="249708">
                <a:tc>
                  <a:txBody>
                    <a:bodyPr/>
                    <a:lstStyle/>
                    <a:p>
                      <a:pPr algn="l" fontAlgn="t">
                        <a:buNone/>
                      </a:pPr>
                      <a:endParaRPr lang="zh-CN" sz="1100" b="0" i="0" u="none" strike="noStrike" dirty="0">
                        <a:solidFill>
                          <a:schemeClr val="bg1"/>
                        </a:solidFill>
                        <a:effectLst/>
                        <a:latin typeface="Noto Sans CJK SC"/>
                      </a:endParaRPr>
                    </a:p>
                  </a:txBody>
                  <a:tcPr marL="4763" marR="4763" marT="4763" marB="0"/>
                </a:tc>
                <a:tc>
                  <a:txBody>
                    <a:bodyPr/>
                    <a:lstStyle/>
                    <a:p>
                      <a:pPr algn="l" fontAlgn="t">
                        <a:buNone/>
                      </a:pPr>
                      <a:r>
                        <a:rPr lang="en-US" altLang="zh-CN" sz="1100" b="0" i="0" u="none" strike="noStrike" dirty="0">
                          <a:solidFill>
                            <a:schemeClr val="bg1"/>
                          </a:solidFill>
                          <a:effectLst/>
                          <a:latin typeface="Noto Sans CJK SC"/>
                        </a:rPr>
                        <a:t>Institute</a:t>
                      </a:r>
                      <a:endParaRPr lang="zh-CN" sz="1100" b="0" i="0" u="none" strike="noStrike" dirty="0">
                        <a:solidFill>
                          <a:schemeClr val="bg1"/>
                        </a:solidFill>
                        <a:effectLst/>
                        <a:latin typeface="Noto Sans CJK SC"/>
                      </a:endParaRPr>
                    </a:p>
                  </a:txBody>
                  <a:tcPr marL="4763" marR="4763" marT="4763" marB="0"/>
                </a:tc>
                <a:tc>
                  <a:txBody>
                    <a:bodyPr/>
                    <a:lstStyle/>
                    <a:p>
                      <a:pPr algn="l" fontAlgn="t">
                        <a:buNone/>
                      </a:pPr>
                      <a:r>
                        <a:rPr lang="zh-CN" altLang="en-US" sz="1100" b="0" i="0" u="none" strike="noStrike" dirty="0">
                          <a:solidFill>
                            <a:schemeClr val="bg1"/>
                          </a:solidFill>
                          <a:effectLst/>
                          <a:latin typeface="Noto Sans CJK SC"/>
                        </a:rPr>
                        <a:t>研究领域</a:t>
                      </a:r>
                      <a:endParaRPr lang="zh-CN" sz="1100" b="0" i="0" u="none" strike="noStrike" dirty="0">
                        <a:solidFill>
                          <a:schemeClr val="bg1"/>
                        </a:solidFill>
                        <a:effectLst/>
                        <a:latin typeface="Noto Sans CJK SC"/>
                      </a:endParaRPr>
                    </a:p>
                  </a:txBody>
                  <a:tcPr marL="4763" marR="4763" marT="4763" marB="0"/>
                </a:tc>
                <a:tc>
                  <a:txBody>
                    <a:bodyPr/>
                    <a:lstStyle/>
                    <a:p>
                      <a:pPr algn="l" fontAlgn="t">
                        <a:buNone/>
                      </a:pPr>
                      <a:endParaRPr lang="zh-CN" sz="1100" b="0" i="0" u="none" strike="noStrike" dirty="0">
                        <a:solidFill>
                          <a:schemeClr val="bg1"/>
                        </a:solidFill>
                        <a:effectLst/>
                        <a:latin typeface="Noto Sans CJK SC"/>
                      </a:endParaRPr>
                    </a:p>
                  </a:txBody>
                  <a:tcPr marL="4763" marR="4763" marT="4763" marB="0"/>
                </a:tc>
                <a:extLst>
                  <a:ext uri="{0D108BD9-81ED-4DB2-BD59-A6C34878D82A}">
                    <a16:rowId xmlns:a16="http://schemas.microsoft.com/office/drawing/2014/main" val="1242391721"/>
                  </a:ext>
                </a:extLst>
              </a:tr>
              <a:tr h="738684">
                <a:tc>
                  <a:txBody>
                    <a:bodyPr/>
                    <a:lstStyle/>
                    <a:p>
                      <a:pPr algn="l" fontAlgn="t">
                        <a:buNone/>
                      </a:pPr>
                      <a:r>
                        <a:rPr lang="zh-CN" sz="1100" b="0" i="0" u="none" strike="noStrike" dirty="0">
                          <a:solidFill>
                            <a:srgbClr val="1F2937"/>
                          </a:solidFill>
                          <a:effectLst/>
                          <a:latin typeface="Noto Sans CJK SC"/>
                        </a:rPr>
                        <a:t>叶嘉安</a:t>
                      </a:r>
                      <a:br>
                        <a:rPr lang="zh-CN" sz="1100" b="0" i="0" u="none" strike="noStrike" dirty="0">
                          <a:solidFill>
                            <a:srgbClr val="1F2937"/>
                          </a:solidFill>
                          <a:effectLst/>
                          <a:latin typeface="Noto Sans CJK SC"/>
                        </a:rPr>
                      </a:br>
                      <a:r>
                        <a:rPr lang="zh-CN" sz="1100" b="0" i="0" u="none" strike="noStrike" dirty="0">
                          <a:solidFill>
                            <a:srgbClr val="1F2937"/>
                          </a:solidFill>
                          <a:effectLst/>
                          <a:latin typeface="Noto Sans CJK SC"/>
                        </a:rPr>
                        <a:t>Anthony G. O. Yeh</a:t>
                      </a:r>
                    </a:p>
                  </a:txBody>
                  <a:tcPr marL="4763" marR="4763" marT="4763" marB="0"/>
                </a:tc>
                <a:tc>
                  <a:txBody>
                    <a:bodyPr/>
                    <a:lstStyle/>
                    <a:p>
                      <a:pPr algn="l" fontAlgn="t">
                        <a:buNone/>
                      </a:pPr>
                      <a:r>
                        <a:rPr lang="zh-CN" sz="1100" b="0" i="0" u="none" strike="noStrike" dirty="0">
                          <a:solidFill>
                            <a:srgbClr val="1F2937"/>
                          </a:solidFill>
                          <a:effectLst/>
                          <a:latin typeface="Noto Sans CJK SC"/>
                        </a:rPr>
                        <a:t>香港大学</a:t>
                      </a:r>
                    </a:p>
                  </a:txBody>
                  <a:tcPr marL="4763" marR="4763" marT="4763" marB="0"/>
                </a:tc>
                <a:tc>
                  <a:txBody>
                    <a:bodyPr/>
                    <a:lstStyle/>
                    <a:p>
                      <a:pPr algn="l" fontAlgn="t">
                        <a:buNone/>
                      </a:pPr>
                      <a:r>
                        <a:rPr lang="zh-CN" sz="1100" b="0" i="0" u="none" strike="noStrike" dirty="0">
                          <a:solidFill>
                            <a:srgbClr val="1F2937"/>
                          </a:solidFill>
                          <a:effectLst/>
                          <a:latin typeface="Noto Sans CJK SC"/>
                        </a:rPr>
                        <a:t>城市规划、GIS、智慧城市</a:t>
                      </a:r>
                    </a:p>
                  </a:txBody>
                  <a:tcPr marL="4763" marR="4763" marT="4763" marB="0"/>
                </a:tc>
                <a:tc>
                  <a:txBody>
                    <a:bodyPr/>
                    <a:lstStyle/>
                    <a:p>
                      <a:pPr algn="l" fontAlgn="t">
                        <a:buNone/>
                      </a:pPr>
                      <a:r>
                        <a:rPr lang="zh-CN" sz="1100" b="0" i="0" u="none" strike="noStrike" dirty="0">
                          <a:solidFill>
                            <a:srgbClr val="1F2937"/>
                          </a:solidFill>
                          <a:effectLst/>
                          <a:latin typeface="Noto Sans CJK SC"/>
                        </a:rPr>
                        <a:t>中国科学院院士</a:t>
                      </a:r>
                      <a:br>
                        <a:rPr lang="zh-CN" sz="1100" b="0" i="0" u="none" strike="noStrike" dirty="0">
                          <a:solidFill>
                            <a:srgbClr val="1F2937"/>
                          </a:solidFill>
                          <a:effectLst/>
                          <a:latin typeface="Noto Sans CJK SC"/>
                        </a:rPr>
                      </a:br>
                      <a:r>
                        <a:rPr lang="zh-CN" sz="1100" b="0" i="0" u="none" strike="noStrike" dirty="0">
                          <a:solidFill>
                            <a:srgbClr val="1F2937"/>
                          </a:solidFill>
                          <a:effectLst/>
                          <a:latin typeface="Noto Sans CJK SC"/>
                        </a:rPr>
                        <a:t>发展中国家科学院（TWAS）院士</a:t>
                      </a:r>
                      <a:br>
                        <a:rPr lang="zh-CN" sz="1100" b="0" i="0" u="none" strike="noStrike" dirty="0">
                          <a:solidFill>
                            <a:srgbClr val="1F2937"/>
                          </a:solidFill>
                          <a:effectLst/>
                          <a:latin typeface="Noto Sans CJK SC"/>
                        </a:rPr>
                      </a:br>
                      <a:r>
                        <a:rPr lang="zh-CN" sz="1100" b="0" i="0" u="none" strike="noStrike" dirty="0">
                          <a:solidFill>
                            <a:srgbClr val="1F2937"/>
                          </a:solidFill>
                          <a:effectLst/>
                          <a:latin typeface="Noto Sans CJK SC"/>
                        </a:rPr>
                        <a:t>英国社会科学院院士（FAcSS）</a:t>
                      </a:r>
                      <a:br>
                        <a:rPr lang="zh-CN" sz="1100" b="0" i="0" u="none" strike="noStrike" dirty="0">
                          <a:solidFill>
                            <a:srgbClr val="1F2937"/>
                          </a:solidFill>
                          <a:effectLst/>
                          <a:latin typeface="Noto Sans CJK SC"/>
                        </a:rPr>
                      </a:br>
                      <a:r>
                        <a:rPr lang="zh-CN" sz="1100" b="0" i="0" u="none" strike="noStrike" dirty="0">
                          <a:solidFill>
                            <a:srgbClr val="1F2937"/>
                          </a:solidFill>
                          <a:effectLst/>
                          <a:latin typeface="Noto Sans CJK SC"/>
                        </a:rPr>
                        <a:t>香港科学院院士</a:t>
                      </a:r>
                    </a:p>
                  </a:txBody>
                  <a:tcPr marL="4763" marR="4763" marT="4763" marB="0"/>
                </a:tc>
                <a:extLst>
                  <a:ext uri="{0D108BD9-81ED-4DB2-BD59-A6C34878D82A}">
                    <a16:rowId xmlns:a16="http://schemas.microsoft.com/office/drawing/2014/main" val="2990123299"/>
                  </a:ext>
                </a:extLst>
              </a:tr>
              <a:tr h="555315">
                <a:tc>
                  <a:txBody>
                    <a:bodyPr/>
                    <a:lstStyle/>
                    <a:p>
                      <a:pPr algn="l" fontAlgn="t">
                        <a:buNone/>
                      </a:pPr>
                      <a:r>
                        <a:rPr lang="zh-CN" sz="1100" b="0" i="0" u="none" strike="noStrike">
                          <a:solidFill>
                            <a:srgbClr val="1F2937"/>
                          </a:solidFill>
                          <a:effectLst/>
                          <a:latin typeface="Noto Sans CJK SC"/>
                        </a:rPr>
                        <a:t>William C. Clark</a:t>
                      </a:r>
                    </a:p>
                  </a:txBody>
                  <a:tcPr marL="4763" marR="4763" marT="4763" marB="0"/>
                </a:tc>
                <a:tc>
                  <a:txBody>
                    <a:bodyPr/>
                    <a:lstStyle/>
                    <a:p>
                      <a:pPr algn="l" fontAlgn="t">
                        <a:buNone/>
                      </a:pPr>
                      <a:r>
                        <a:rPr lang="zh-CN" sz="1100" b="0" i="0" u="none" strike="noStrike" dirty="0">
                          <a:solidFill>
                            <a:srgbClr val="1F2937"/>
                          </a:solidFill>
                          <a:effectLst/>
                          <a:latin typeface="Noto Sans CJK SC"/>
                        </a:rPr>
                        <a:t>哈佛大学</a:t>
                      </a:r>
                      <a:br>
                        <a:rPr lang="zh-CN" sz="1100" b="0" i="0" u="none" strike="noStrike" dirty="0">
                          <a:solidFill>
                            <a:srgbClr val="1F2937"/>
                          </a:solidFill>
                          <a:effectLst/>
                          <a:latin typeface="Noto Sans CJK SC"/>
                        </a:rPr>
                      </a:br>
                      <a:r>
                        <a:rPr lang="zh-CN" sz="1100" b="0" i="0" u="none" strike="noStrike" dirty="0">
                          <a:solidFill>
                            <a:srgbClr val="1F2937"/>
                          </a:solidFill>
                          <a:effectLst/>
                          <a:latin typeface="Noto Sans CJK SC"/>
                        </a:rPr>
                        <a:t>Harvard University</a:t>
                      </a:r>
                    </a:p>
                  </a:txBody>
                  <a:tcPr marL="4763" marR="4763" marT="4763" marB="0"/>
                </a:tc>
                <a:tc>
                  <a:txBody>
                    <a:bodyPr/>
                    <a:lstStyle/>
                    <a:p>
                      <a:pPr algn="l" fontAlgn="t">
                        <a:buNone/>
                      </a:pPr>
                      <a:r>
                        <a:rPr lang="zh-CN" sz="1100" b="0" i="0" u="none" strike="noStrike">
                          <a:solidFill>
                            <a:srgbClr val="1F2937"/>
                          </a:solidFill>
                          <a:effectLst/>
                          <a:latin typeface="Noto Sans CJK SC"/>
                        </a:rPr>
                        <a:t>可持续性科学、生态学、人类与环境系统</a:t>
                      </a:r>
                    </a:p>
                  </a:txBody>
                  <a:tcPr marL="4763" marR="4763" marT="4763" marB="0"/>
                </a:tc>
                <a:tc>
                  <a:txBody>
                    <a:bodyPr/>
                    <a:lstStyle/>
                    <a:p>
                      <a:pPr algn="l" fontAlgn="t">
                        <a:buNone/>
                      </a:pPr>
                      <a:r>
                        <a:rPr lang="zh-CN" sz="1100" b="0" i="0" u="none" strike="noStrike">
                          <a:solidFill>
                            <a:srgbClr val="1F2937"/>
                          </a:solidFill>
                          <a:effectLst/>
                          <a:latin typeface="Noto Sans CJK SC"/>
                        </a:rPr>
                        <a:t>美国国家科学院院士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美国人文与科学院院士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美国科学促进会会士（AAAS Fellow）</a:t>
                      </a:r>
                    </a:p>
                  </a:txBody>
                  <a:tcPr marL="4763" marR="4763" marT="4763" marB="0"/>
                </a:tc>
                <a:extLst>
                  <a:ext uri="{0D108BD9-81ED-4DB2-BD59-A6C34878D82A}">
                    <a16:rowId xmlns:a16="http://schemas.microsoft.com/office/drawing/2014/main" val="2261936239"/>
                  </a:ext>
                </a:extLst>
              </a:tr>
              <a:tr h="371947">
                <a:tc>
                  <a:txBody>
                    <a:bodyPr/>
                    <a:lstStyle/>
                    <a:p>
                      <a:pPr algn="l" fontAlgn="t">
                        <a:buNone/>
                      </a:pPr>
                      <a:r>
                        <a:rPr lang="zh-CN" sz="1100" b="0" i="0" u="none" strike="noStrike" dirty="0">
                          <a:solidFill>
                            <a:srgbClr val="1F2937"/>
                          </a:solidFill>
                          <a:effectLst/>
                          <a:latin typeface="Noto Sans CJK SC"/>
                        </a:rPr>
                        <a:t>吴缚龙</a:t>
                      </a:r>
                    </a:p>
                  </a:txBody>
                  <a:tcPr marL="4763" marR="4763" marT="4763" marB="0"/>
                </a:tc>
                <a:tc>
                  <a:txBody>
                    <a:bodyPr/>
                    <a:lstStyle/>
                    <a:p>
                      <a:pPr algn="l" fontAlgn="t">
                        <a:buNone/>
                      </a:pPr>
                      <a:r>
                        <a:rPr lang="zh-CN" sz="1100" b="0" i="0" u="none" strike="noStrike">
                          <a:solidFill>
                            <a:srgbClr val="1F2937"/>
                          </a:solidFill>
                          <a:effectLst/>
                          <a:latin typeface="Noto Sans CJK SC"/>
                        </a:rPr>
                        <a:t>伦敦大学学院</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University College London</a:t>
                      </a:r>
                    </a:p>
                  </a:txBody>
                  <a:tcPr marL="4763" marR="4763" marT="4763" marB="0"/>
                </a:tc>
                <a:tc>
                  <a:txBody>
                    <a:bodyPr/>
                    <a:lstStyle/>
                    <a:p>
                      <a:pPr algn="l" fontAlgn="t">
                        <a:buNone/>
                      </a:pPr>
                      <a:r>
                        <a:rPr lang="zh-CN" sz="1100" b="0" i="0" u="none" strike="noStrike">
                          <a:solidFill>
                            <a:srgbClr val="1F2937"/>
                          </a:solidFill>
                          <a:effectLst/>
                          <a:latin typeface="Noto Sans CJK SC"/>
                        </a:rPr>
                        <a:t>城市转型、城市规划、住房与治理</a:t>
                      </a:r>
                    </a:p>
                  </a:txBody>
                  <a:tcPr marL="4763" marR="4763" marT="4763" marB="0"/>
                </a:tc>
                <a:tc>
                  <a:txBody>
                    <a:bodyPr/>
                    <a:lstStyle/>
                    <a:p>
                      <a:pPr algn="l" fontAlgn="t">
                        <a:buNone/>
                      </a:pPr>
                      <a:r>
                        <a:rPr lang="zh-CN" sz="1100" b="0" i="0" u="none" strike="noStrike">
                          <a:solidFill>
                            <a:srgbClr val="1F2937"/>
                          </a:solidFill>
                          <a:effectLst/>
                          <a:latin typeface="Noto Sans CJK SC"/>
                        </a:rPr>
                        <a:t>英国社会科学院院士（FAcSS）</a:t>
                      </a:r>
                    </a:p>
                  </a:txBody>
                  <a:tcPr marL="4763" marR="4763" marT="4763" marB="0"/>
                </a:tc>
                <a:extLst>
                  <a:ext uri="{0D108BD9-81ED-4DB2-BD59-A6C34878D82A}">
                    <a16:rowId xmlns:a16="http://schemas.microsoft.com/office/drawing/2014/main" val="481736008"/>
                  </a:ext>
                </a:extLst>
              </a:tr>
              <a:tr h="922052">
                <a:tc>
                  <a:txBody>
                    <a:bodyPr/>
                    <a:lstStyle/>
                    <a:p>
                      <a:pPr algn="l" fontAlgn="t">
                        <a:buNone/>
                      </a:pPr>
                      <a:r>
                        <a:rPr lang="zh-CN" sz="1100" b="0" i="0" u="none" strike="noStrike" dirty="0">
                          <a:solidFill>
                            <a:srgbClr val="1F2937"/>
                          </a:solidFill>
                          <a:effectLst/>
                          <a:latin typeface="Noto Sans CJK SC"/>
                        </a:rPr>
                        <a:t>傅伯杰</a:t>
                      </a:r>
                    </a:p>
                  </a:txBody>
                  <a:tcPr marL="4763" marR="4763" marT="4763" marB="0"/>
                </a:tc>
                <a:tc>
                  <a:txBody>
                    <a:bodyPr/>
                    <a:lstStyle/>
                    <a:p>
                      <a:pPr algn="l" fontAlgn="t">
                        <a:buNone/>
                      </a:pPr>
                      <a:r>
                        <a:rPr lang="zh-CN" sz="1100" b="0" i="0" u="none" strike="noStrike">
                          <a:solidFill>
                            <a:srgbClr val="1F2937"/>
                          </a:solidFill>
                          <a:effectLst/>
                          <a:latin typeface="Noto Sans CJK SC"/>
                        </a:rPr>
                        <a:t>中国科学院生态环境研究中心</a:t>
                      </a:r>
                    </a:p>
                  </a:txBody>
                  <a:tcPr marL="4763" marR="4763" marT="4763" marB="0"/>
                </a:tc>
                <a:tc>
                  <a:txBody>
                    <a:bodyPr/>
                    <a:lstStyle/>
                    <a:p>
                      <a:pPr algn="l" fontAlgn="t">
                        <a:buNone/>
                      </a:pPr>
                      <a:r>
                        <a:rPr lang="zh-CN" sz="1100" b="0" i="0" u="none" strike="noStrike">
                          <a:solidFill>
                            <a:srgbClr val="1F2937"/>
                          </a:solidFill>
                          <a:effectLst/>
                          <a:latin typeface="Noto Sans CJK SC"/>
                        </a:rPr>
                        <a:t>景观生态、生态系统服务、环境与地理科学</a:t>
                      </a:r>
                    </a:p>
                  </a:txBody>
                  <a:tcPr marL="4763" marR="4763" marT="4763" marB="0"/>
                </a:tc>
                <a:tc>
                  <a:txBody>
                    <a:bodyPr/>
                    <a:lstStyle/>
                    <a:p>
                      <a:pPr algn="l" fontAlgn="t">
                        <a:buNone/>
                      </a:pPr>
                      <a:r>
                        <a:rPr lang="zh-CN" sz="1100" b="0" i="0" u="none" strike="noStrike">
                          <a:solidFill>
                            <a:srgbClr val="1F2937"/>
                          </a:solidFill>
                          <a:effectLst/>
                          <a:latin typeface="Noto Sans CJK SC"/>
                        </a:rPr>
                        <a:t>中国科学院院士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TWAS院士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美国人文与科学院外籍院士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英国爱丁堡皇家学会外籍院士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英国皇家地理学会荣誉会士</a:t>
                      </a:r>
                    </a:p>
                  </a:txBody>
                  <a:tcPr marL="4763" marR="4763" marT="4763" marB="0"/>
                </a:tc>
                <a:extLst>
                  <a:ext uri="{0D108BD9-81ED-4DB2-BD59-A6C34878D82A}">
                    <a16:rowId xmlns:a16="http://schemas.microsoft.com/office/drawing/2014/main" val="2795107554"/>
                  </a:ext>
                </a:extLst>
              </a:tr>
              <a:tr h="371947">
                <a:tc>
                  <a:txBody>
                    <a:bodyPr/>
                    <a:lstStyle/>
                    <a:p>
                      <a:pPr algn="l" fontAlgn="t">
                        <a:buNone/>
                      </a:pPr>
                      <a:r>
                        <a:rPr lang="zh-CN" sz="1100" b="0" i="0" u="none" strike="noStrike" dirty="0">
                          <a:solidFill>
                            <a:srgbClr val="1F2937"/>
                          </a:solidFill>
                          <a:effectLst/>
                          <a:latin typeface="Noto Sans CJK SC"/>
                        </a:rPr>
                        <a:t>樊杰</a:t>
                      </a:r>
                    </a:p>
                  </a:txBody>
                  <a:tcPr marL="4763" marR="4763" marT="4763" marB="0"/>
                </a:tc>
                <a:tc>
                  <a:txBody>
                    <a:bodyPr/>
                    <a:lstStyle/>
                    <a:p>
                      <a:pPr algn="l" fontAlgn="t">
                        <a:buNone/>
                      </a:pPr>
                      <a:r>
                        <a:rPr lang="zh-CN" sz="1100" b="0" i="0" u="none" strike="noStrike">
                          <a:solidFill>
                            <a:srgbClr val="1F2937"/>
                          </a:solidFill>
                          <a:effectLst/>
                          <a:latin typeface="Noto Sans CJK SC"/>
                        </a:rPr>
                        <a:t>中国科学院地理科学与资源研究所</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中国科学院大学</a:t>
                      </a:r>
                    </a:p>
                  </a:txBody>
                  <a:tcPr marL="4763" marR="4763" marT="4763" marB="0"/>
                </a:tc>
                <a:tc>
                  <a:txBody>
                    <a:bodyPr/>
                    <a:lstStyle/>
                    <a:p>
                      <a:pPr algn="l" fontAlgn="t">
                        <a:buNone/>
                      </a:pPr>
                      <a:r>
                        <a:rPr lang="zh-CN" sz="1100" b="0" i="0" u="none" strike="noStrike">
                          <a:solidFill>
                            <a:srgbClr val="1F2937"/>
                          </a:solidFill>
                          <a:effectLst/>
                          <a:latin typeface="Noto Sans CJK SC"/>
                        </a:rPr>
                        <a:t>国土空间规划、区域发展、空间资源与可持续发展</a:t>
                      </a:r>
                    </a:p>
                  </a:txBody>
                  <a:tcPr marL="4763" marR="4763" marT="4763" marB="0"/>
                </a:tc>
                <a:tc>
                  <a:txBody>
                    <a:bodyPr/>
                    <a:lstStyle/>
                    <a:p>
                      <a:pPr algn="l" fontAlgn="t">
                        <a:buNone/>
                      </a:pPr>
                      <a:r>
                        <a:rPr lang="zh-CN" sz="1100" b="0" i="0" u="none" strike="noStrike">
                          <a:solidFill>
                            <a:srgbClr val="1F2937"/>
                          </a:solidFill>
                          <a:effectLst/>
                          <a:latin typeface="Noto Sans CJK SC"/>
                        </a:rPr>
                        <a:t>中国科学院院士（2025年当选）</a:t>
                      </a:r>
                    </a:p>
                  </a:txBody>
                  <a:tcPr marL="4763" marR="4763" marT="4763" marB="0"/>
                </a:tc>
                <a:extLst>
                  <a:ext uri="{0D108BD9-81ED-4DB2-BD59-A6C34878D82A}">
                    <a16:rowId xmlns:a16="http://schemas.microsoft.com/office/drawing/2014/main" val="1148065162"/>
                  </a:ext>
                </a:extLst>
              </a:tr>
              <a:tr h="371947">
                <a:tc>
                  <a:txBody>
                    <a:bodyPr/>
                    <a:lstStyle/>
                    <a:p>
                      <a:pPr algn="l" fontAlgn="t">
                        <a:buNone/>
                      </a:pPr>
                      <a:r>
                        <a:rPr lang="zh-CN" sz="1100" b="0" i="0" u="none" strike="noStrike" dirty="0">
                          <a:solidFill>
                            <a:srgbClr val="1F2937"/>
                          </a:solidFill>
                          <a:effectLst/>
                          <a:latin typeface="Noto Sans CJK SC"/>
                        </a:rPr>
                        <a:t>宫鹏</a:t>
                      </a:r>
                    </a:p>
                  </a:txBody>
                  <a:tcPr marL="4763" marR="4763" marT="4763" marB="0"/>
                </a:tc>
                <a:tc>
                  <a:txBody>
                    <a:bodyPr/>
                    <a:lstStyle/>
                    <a:p>
                      <a:pPr algn="l" fontAlgn="t">
                        <a:buNone/>
                      </a:pPr>
                      <a:r>
                        <a:rPr lang="zh-CN" sz="1100" b="0" i="0" u="none" strike="noStrike">
                          <a:solidFill>
                            <a:srgbClr val="1F2937"/>
                          </a:solidFill>
                          <a:effectLst/>
                          <a:latin typeface="Noto Sans CJK SC"/>
                        </a:rPr>
                        <a:t>香港大学</a:t>
                      </a:r>
                    </a:p>
                  </a:txBody>
                  <a:tcPr marL="4763" marR="4763" marT="4763" marB="0"/>
                </a:tc>
                <a:tc>
                  <a:txBody>
                    <a:bodyPr/>
                    <a:lstStyle/>
                    <a:p>
                      <a:pPr algn="l" fontAlgn="t">
                        <a:buNone/>
                      </a:pPr>
                      <a:r>
                        <a:rPr lang="zh-CN" sz="1100" b="0" i="0" u="none" strike="noStrike">
                          <a:solidFill>
                            <a:srgbClr val="1F2937"/>
                          </a:solidFill>
                          <a:effectLst/>
                          <a:latin typeface="Noto Sans CJK SC"/>
                        </a:rPr>
                        <a:t>遥感、全球环境变化、城市化与健康</a:t>
                      </a:r>
                    </a:p>
                  </a:txBody>
                  <a:tcPr marL="4763" marR="4763" marT="4763" marB="0"/>
                </a:tc>
                <a:tc>
                  <a:txBody>
                    <a:bodyPr/>
                    <a:lstStyle/>
                    <a:p>
                      <a:pPr algn="l" fontAlgn="t">
                        <a:buNone/>
                      </a:pPr>
                      <a:r>
                        <a:rPr lang="zh-CN" sz="1100" b="0" i="0" u="none" strike="noStrike">
                          <a:solidFill>
                            <a:srgbClr val="1F2937"/>
                          </a:solidFill>
                          <a:effectLst/>
                          <a:latin typeface="Noto Sans CJK SC"/>
                        </a:rPr>
                        <a:t>欧洲科学院（Academia Europaea）外籍院士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国际欧亚科学院院士</a:t>
                      </a:r>
                    </a:p>
                  </a:txBody>
                  <a:tcPr marL="4763" marR="4763" marT="4763" marB="0"/>
                </a:tc>
                <a:extLst>
                  <a:ext uri="{0D108BD9-81ED-4DB2-BD59-A6C34878D82A}">
                    <a16:rowId xmlns:a16="http://schemas.microsoft.com/office/drawing/2014/main" val="1393788127"/>
                  </a:ext>
                </a:extLst>
              </a:tr>
              <a:tr h="371947">
                <a:tc>
                  <a:txBody>
                    <a:bodyPr/>
                    <a:lstStyle/>
                    <a:p>
                      <a:pPr algn="l" fontAlgn="t">
                        <a:buNone/>
                      </a:pPr>
                      <a:r>
                        <a:rPr lang="zh-CN" sz="1100" b="0" i="0" u="none" strike="noStrike">
                          <a:solidFill>
                            <a:srgbClr val="1F2937"/>
                          </a:solidFill>
                          <a:effectLst/>
                          <a:latin typeface="Noto Sans CJK SC"/>
                        </a:rPr>
                        <a:t>Patrick Roberts</a:t>
                      </a:r>
                    </a:p>
                  </a:txBody>
                  <a:tcPr marL="4763" marR="4763" marT="4763" marB="0"/>
                </a:tc>
                <a:tc>
                  <a:txBody>
                    <a:bodyPr/>
                    <a:lstStyle/>
                    <a:p>
                      <a:pPr algn="l" fontAlgn="t">
                        <a:buNone/>
                      </a:pPr>
                      <a:r>
                        <a:rPr lang="zh-CN" sz="1100" b="0" i="0" u="none" strike="noStrike">
                          <a:solidFill>
                            <a:srgbClr val="1F2937"/>
                          </a:solidFill>
                          <a:effectLst/>
                          <a:latin typeface="Noto Sans CJK SC"/>
                        </a:rPr>
                        <a:t>马克斯·普朗克地球人类学研究所</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Max Planck Institute of Geoanthropology</a:t>
                      </a:r>
                    </a:p>
                  </a:txBody>
                  <a:tcPr marL="4763" marR="4763" marT="4763" marB="0"/>
                </a:tc>
                <a:tc>
                  <a:txBody>
                    <a:bodyPr/>
                    <a:lstStyle/>
                    <a:p>
                      <a:pPr algn="l" fontAlgn="t">
                        <a:buNone/>
                      </a:pPr>
                      <a:r>
                        <a:rPr lang="zh-CN" sz="1100" b="0" i="0" u="none" strike="noStrike">
                          <a:solidFill>
                            <a:srgbClr val="1F2937"/>
                          </a:solidFill>
                          <a:effectLst/>
                          <a:latin typeface="Noto Sans CJK SC"/>
                        </a:rPr>
                        <a:t>考古科学、古生态、土地利用与城市化协同演化</a:t>
                      </a:r>
                    </a:p>
                  </a:txBody>
                  <a:tcPr marL="4763" marR="4763" marT="4763" marB="0"/>
                </a:tc>
                <a:tc>
                  <a:txBody>
                    <a:bodyPr/>
                    <a:lstStyle/>
                    <a:p>
                      <a:pPr algn="l" fontAlgn="t">
                        <a:buNone/>
                      </a:pPr>
                      <a:r>
                        <a:rPr lang="zh-CN" sz="1100" b="0" i="0" u="none" strike="noStrike">
                          <a:solidFill>
                            <a:srgbClr val="1F2937"/>
                          </a:solidFill>
                          <a:effectLst/>
                          <a:latin typeface="Noto Sans CJK SC"/>
                        </a:rPr>
                        <a:t>　</a:t>
                      </a:r>
                    </a:p>
                  </a:txBody>
                  <a:tcPr marL="4763" marR="4763" marT="4763" marB="0"/>
                </a:tc>
                <a:extLst>
                  <a:ext uri="{0D108BD9-81ED-4DB2-BD59-A6C34878D82A}">
                    <a16:rowId xmlns:a16="http://schemas.microsoft.com/office/drawing/2014/main" val="1175260973"/>
                  </a:ext>
                </a:extLst>
              </a:tr>
              <a:tr h="371947">
                <a:tc>
                  <a:txBody>
                    <a:bodyPr/>
                    <a:lstStyle/>
                    <a:p>
                      <a:pPr algn="l" fontAlgn="t">
                        <a:buNone/>
                      </a:pPr>
                      <a:r>
                        <a:rPr lang="zh-CN" sz="1100" b="0" i="0" u="none" strike="noStrike">
                          <a:solidFill>
                            <a:srgbClr val="1F2937"/>
                          </a:solidFill>
                          <a:effectLst/>
                          <a:latin typeface="Noto Sans CJK SC"/>
                        </a:rPr>
                        <a:t>Luis Bettencourt</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Luís M. A. Bettencourt</a:t>
                      </a:r>
                    </a:p>
                  </a:txBody>
                  <a:tcPr marL="4763" marR="4763" marT="4763" marB="0"/>
                </a:tc>
                <a:tc>
                  <a:txBody>
                    <a:bodyPr/>
                    <a:lstStyle/>
                    <a:p>
                      <a:pPr algn="l" fontAlgn="t">
                        <a:buNone/>
                      </a:pPr>
                      <a:r>
                        <a:rPr lang="zh-CN" sz="1100" b="0" i="0" u="none" strike="noStrike">
                          <a:solidFill>
                            <a:srgbClr val="1F2937"/>
                          </a:solidFill>
                          <a:effectLst/>
                          <a:latin typeface="Noto Sans CJK SC"/>
                        </a:rPr>
                        <a:t>芝加哥大学</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University of Chicago</a:t>
                      </a:r>
                    </a:p>
                  </a:txBody>
                  <a:tcPr marL="4763" marR="4763" marT="4763" marB="0"/>
                </a:tc>
                <a:tc>
                  <a:txBody>
                    <a:bodyPr/>
                    <a:lstStyle/>
                    <a:p>
                      <a:pPr algn="l" fontAlgn="t">
                        <a:buNone/>
                      </a:pPr>
                      <a:r>
                        <a:rPr lang="zh-CN" sz="1100" b="0" i="0" u="none" strike="noStrike">
                          <a:solidFill>
                            <a:srgbClr val="1F2937"/>
                          </a:solidFill>
                          <a:effectLst/>
                          <a:latin typeface="Noto Sans CJK SC"/>
                        </a:rPr>
                        <a:t>城市复杂系统、网络、城市尺度理论</a:t>
                      </a:r>
                    </a:p>
                  </a:txBody>
                  <a:tcPr marL="4763" marR="4763" marT="4763" marB="0"/>
                </a:tc>
                <a:tc>
                  <a:txBody>
                    <a:bodyPr/>
                    <a:lstStyle/>
                    <a:p>
                      <a:pPr algn="l" fontAlgn="t">
                        <a:buNone/>
                      </a:pPr>
                      <a:r>
                        <a:rPr lang="zh-CN" sz="1100" b="0" i="0" u="none" strike="noStrike">
                          <a:solidFill>
                            <a:srgbClr val="1F2937"/>
                          </a:solidFill>
                          <a:effectLst/>
                          <a:latin typeface="Noto Sans CJK SC"/>
                        </a:rPr>
                        <a:t>　</a:t>
                      </a:r>
                    </a:p>
                  </a:txBody>
                  <a:tcPr marL="4763" marR="4763" marT="4763" marB="0"/>
                </a:tc>
                <a:extLst>
                  <a:ext uri="{0D108BD9-81ED-4DB2-BD59-A6C34878D82A}">
                    <a16:rowId xmlns:a16="http://schemas.microsoft.com/office/drawing/2014/main" val="4057487682"/>
                  </a:ext>
                </a:extLst>
              </a:tr>
              <a:tr h="371947">
                <a:tc>
                  <a:txBody>
                    <a:bodyPr/>
                    <a:lstStyle/>
                    <a:p>
                      <a:pPr algn="l" fontAlgn="t">
                        <a:buNone/>
                      </a:pPr>
                      <a:r>
                        <a:rPr lang="zh-CN" sz="1100" b="0" i="0" u="none" strike="noStrike">
                          <a:solidFill>
                            <a:srgbClr val="1F2937"/>
                          </a:solidFill>
                          <a:effectLst/>
                          <a:latin typeface="Noto Sans CJK SC"/>
                        </a:rPr>
                        <a:t>Rebecca Bentley</a:t>
                      </a:r>
                    </a:p>
                  </a:txBody>
                  <a:tcPr marL="4763" marR="4763" marT="4763" marB="0"/>
                </a:tc>
                <a:tc>
                  <a:txBody>
                    <a:bodyPr/>
                    <a:lstStyle/>
                    <a:p>
                      <a:pPr algn="l" fontAlgn="t">
                        <a:buNone/>
                      </a:pPr>
                      <a:r>
                        <a:rPr lang="zh-CN" sz="1100" b="0" i="0" u="none" strike="noStrike">
                          <a:solidFill>
                            <a:srgbClr val="1F2937"/>
                          </a:solidFill>
                          <a:effectLst/>
                          <a:latin typeface="Noto Sans CJK SC"/>
                        </a:rPr>
                        <a:t>墨尔本大学</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University of Melbourne</a:t>
                      </a:r>
                    </a:p>
                  </a:txBody>
                  <a:tcPr marL="4763" marR="4763" marT="4763" marB="0"/>
                </a:tc>
                <a:tc>
                  <a:txBody>
                    <a:bodyPr/>
                    <a:lstStyle/>
                    <a:p>
                      <a:pPr algn="l" fontAlgn="t">
                        <a:buNone/>
                      </a:pPr>
                      <a:r>
                        <a:rPr lang="zh-CN" sz="1100" b="0" i="0" u="none" strike="noStrike">
                          <a:solidFill>
                            <a:srgbClr val="1F2937"/>
                          </a:solidFill>
                          <a:effectLst/>
                          <a:latin typeface="Noto Sans CJK SC"/>
                        </a:rPr>
                        <a:t>住房与建成环境、流行病学、城市健康</a:t>
                      </a:r>
                    </a:p>
                  </a:txBody>
                  <a:tcPr marL="4763" marR="4763" marT="4763" marB="0"/>
                </a:tc>
                <a:tc>
                  <a:txBody>
                    <a:bodyPr/>
                    <a:lstStyle/>
                    <a:p>
                      <a:pPr algn="l" fontAlgn="t">
                        <a:buNone/>
                      </a:pPr>
                      <a:r>
                        <a:rPr lang="zh-CN" sz="1100" b="0" i="0" u="none" strike="noStrike">
                          <a:solidFill>
                            <a:srgbClr val="1F2937"/>
                          </a:solidFill>
                          <a:effectLst/>
                          <a:latin typeface="Noto Sans CJK SC"/>
                        </a:rPr>
                        <a:t>　</a:t>
                      </a:r>
                    </a:p>
                  </a:txBody>
                  <a:tcPr marL="4763" marR="4763" marT="4763" marB="0"/>
                </a:tc>
                <a:extLst>
                  <a:ext uri="{0D108BD9-81ED-4DB2-BD59-A6C34878D82A}">
                    <a16:rowId xmlns:a16="http://schemas.microsoft.com/office/drawing/2014/main" val="1798828106"/>
                  </a:ext>
                </a:extLst>
              </a:tr>
              <a:tr h="371947">
                <a:tc>
                  <a:txBody>
                    <a:bodyPr/>
                    <a:lstStyle/>
                    <a:p>
                      <a:pPr algn="l" fontAlgn="t">
                        <a:buNone/>
                      </a:pPr>
                      <a:r>
                        <a:rPr lang="zh-CN" sz="1100" b="0" i="0" u="none" strike="noStrike" dirty="0">
                          <a:solidFill>
                            <a:srgbClr val="1F2937"/>
                          </a:solidFill>
                          <a:effectLst/>
                          <a:latin typeface="Noto Sans CJK SC"/>
                        </a:rPr>
                        <a:t>Emma Baker</a:t>
                      </a:r>
                    </a:p>
                  </a:txBody>
                  <a:tcPr marL="4763" marR="4763" marT="4763" marB="0"/>
                </a:tc>
                <a:tc>
                  <a:txBody>
                    <a:bodyPr/>
                    <a:lstStyle/>
                    <a:p>
                      <a:pPr algn="l" fontAlgn="t">
                        <a:buNone/>
                      </a:pPr>
                      <a:r>
                        <a:rPr lang="zh-CN" sz="1100" b="0" i="0" u="none" strike="noStrike">
                          <a:solidFill>
                            <a:srgbClr val="1F2937"/>
                          </a:solidFill>
                          <a:effectLst/>
                          <a:latin typeface="Noto Sans CJK SC"/>
                        </a:rPr>
                        <a:t>阿德莱德大学</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Adelaide University</a:t>
                      </a:r>
                    </a:p>
                  </a:txBody>
                  <a:tcPr marL="4763" marR="4763" marT="4763" marB="0"/>
                </a:tc>
                <a:tc>
                  <a:txBody>
                    <a:bodyPr/>
                    <a:lstStyle/>
                    <a:p>
                      <a:pPr algn="l" fontAlgn="t">
                        <a:buNone/>
                      </a:pPr>
                      <a:r>
                        <a:rPr lang="zh-CN" sz="1100" b="0" i="0" u="none" strike="noStrike" dirty="0">
                          <a:solidFill>
                            <a:srgbClr val="1F2937"/>
                          </a:solidFill>
                          <a:effectLst/>
                          <a:latin typeface="Noto Sans CJK SC"/>
                        </a:rPr>
                        <a:t>住房研究、住房质量、城市健康与居住环境</a:t>
                      </a:r>
                    </a:p>
                  </a:txBody>
                  <a:tcPr marL="4763" marR="4763" marT="4763" marB="0"/>
                </a:tc>
                <a:tc>
                  <a:txBody>
                    <a:bodyPr/>
                    <a:lstStyle/>
                    <a:p>
                      <a:pPr algn="l" fontAlgn="t">
                        <a:buNone/>
                      </a:pPr>
                      <a:r>
                        <a:rPr lang="zh-CN" sz="1100" b="0" i="0" u="none" strike="noStrike" dirty="0">
                          <a:solidFill>
                            <a:srgbClr val="1F2937"/>
                          </a:solidFill>
                          <a:effectLst/>
                          <a:latin typeface="Noto Sans CJK SC"/>
                        </a:rPr>
                        <a:t>　</a:t>
                      </a:r>
                    </a:p>
                  </a:txBody>
                  <a:tcPr marL="4763" marR="4763" marT="4763" marB="0"/>
                </a:tc>
                <a:extLst>
                  <a:ext uri="{0D108BD9-81ED-4DB2-BD59-A6C34878D82A}">
                    <a16:rowId xmlns:a16="http://schemas.microsoft.com/office/drawing/2014/main" val="2721096942"/>
                  </a:ext>
                </a:extLst>
              </a:tr>
              <a:tr h="371947">
                <a:tc>
                  <a:txBody>
                    <a:bodyPr/>
                    <a:lstStyle/>
                    <a:p>
                      <a:pPr algn="l" fontAlgn="t">
                        <a:buNone/>
                      </a:pPr>
                      <a:r>
                        <a:rPr lang="en-US" altLang="zh-CN" sz="1100" b="0" i="0" u="none" strike="noStrike" dirty="0" err="1">
                          <a:solidFill>
                            <a:srgbClr val="1F2937"/>
                          </a:solidFill>
                          <a:effectLst/>
                          <a:latin typeface="Noto Sans CJK SC"/>
                        </a:rPr>
                        <a:t>filip</a:t>
                      </a:r>
                      <a:r>
                        <a:rPr lang="en-US" altLang="zh-CN" sz="1100" b="0" i="0" u="none" strike="noStrike" dirty="0">
                          <a:solidFill>
                            <a:srgbClr val="1F2937"/>
                          </a:solidFill>
                          <a:effectLst/>
                          <a:latin typeface="Noto Sans CJK SC"/>
                        </a:rPr>
                        <a:t> </a:t>
                      </a:r>
                      <a:r>
                        <a:rPr lang="en-US" altLang="zh-CN" sz="1100" b="0" i="0" u="none" strike="noStrike" dirty="0" err="1">
                          <a:solidFill>
                            <a:srgbClr val="1F2937"/>
                          </a:solidFill>
                          <a:effectLst/>
                          <a:latin typeface="Noto Sans CJK SC"/>
                        </a:rPr>
                        <a:t>biljecki</a:t>
                      </a: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r>
                        <a:rPr lang="en-US" altLang="zh-CN" sz="1100" b="0" i="0" u="none" strike="noStrike" dirty="0">
                          <a:solidFill>
                            <a:srgbClr val="1F2937"/>
                          </a:solidFill>
                          <a:effectLst/>
                          <a:latin typeface="Noto Sans CJK SC"/>
                        </a:rPr>
                        <a:t>NUS </a:t>
                      </a:r>
                      <a:r>
                        <a:rPr lang="zh-CN" altLang="en-US" sz="1100" b="0" i="0" u="none" strike="noStrike" dirty="0">
                          <a:solidFill>
                            <a:srgbClr val="1F2937"/>
                          </a:solidFill>
                          <a:effectLst/>
                          <a:latin typeface="Noto Sans CJK SC"/>
                        </a:rPr>
                        <a:t>新加坡国立</a:t>
                      </a: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endParaRPr lang="zh-CN" sz="1100" b="0" i="0" u="none" strike="noStrike" dirty="0">
                        <a:solidFill>
                          <a:srgbClr val="1F2937"/>
                        </a:solidFill>
                        <a:effectLst/>
                        <a:latin typeface="Noto Sans CJK SC"/>
                      </a:endParaRPr>
                    </a:p>
                  </a:txBody>
                  <a:tcPr marL="4763" marR="4763" marT="4763" marB="0"/>
                </a:tc>
                <a:extLst>
                  <a:ext uri="{0D108BD9-81ED-4DB2-BD59-A6C34878D82A}">
                    <a16:rowId xmlns:a16="http://schemas.microsoft.com/office/drawing/2014/main" val="3589344124"/>
                  </a:ext>
                </a:extLst>
              </a:tr>
              <a:tr h="371947">
                <a:tc>
                  <a:txBody>
                    <a:bodyPr/>
                    <a:lstStyle/>
                    <a:p>
                      <a:pPr algn="l" fontAlgn="t">
                        <a:buNone/>
                      </a:pPr>
                      <a:r>
                        <a:rPr lang="en-US" altLang="zh-CN" sz="1100" b="0" i="0" u="none" strike="noStrike" dirty="0">
                          <a:solidFill>
                            <a:srgbClr val="1F2937"/>
                          </a:solidFill>
                          <a:effectLst/>
                          <a:latin typeface="Noto Sans CJK SC"/>
                        </a:rPr>
                        <a:t>Orlando Woods</a:t>
                      </a: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r>
                        <a:rPr lang="en-US" altLang="zh-CN" sz="1100" b="0" i="0" u="none" strike="noStrike" dirty="0">
                          <a:solidFill>
                            <a:srgbClr val="1F2937"/>
                          </a:solidFill>
                          <a:effectLst/>
                          <a:latin typeface="Noto Sans CJK SC"/>
                        </a:rPr>
                        <a:t>SMU </a:t>
                      </a:r>
                      <a:r>
                        <a:rPr lang="zh-CN" altLang="en-US" sz="1100" b="0" i="0" u="none" strike="noStrike" dirty="0">
                          <a:solidFill>
                            <a:srgbClr val="1F2937"/>
                          </a:solidFill>
                          <a:effectLst/>
                          <a:latin typeface="Noto Sans CJK SC"/>
                        </a:rPr>
                        <a:t>新加坡管理</a:t>
                      </a: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endParaRPr lang="zh-CN" sz="1100" b="0" i="0" u="none" strike="noStrike" dirty="0">
                        <a:solidFill>
                          <a:srgbClr val="1F2937"/>
                        </a:solidFill>
                        <a:effectLst/>
                        <a:latin typeface="Noto Sans CJK SC"/>
                      </a:endParaRPr>
                    </a:p>
                  </a:txBody>
                  <a:tcPr marL="4763" marR="4763" marT="4763" marB="0"/>
                </a:tc>
                <a:extLst>
                  <a:ext uri="{0D108BD9-81ED-4DB2-BD59-A6C34878D82A}">
                    <a16:rowId xmlns:a16="http://schemas.microsoft.com/office/drawing/2014/main" val="770949703"/>
                  </a:ext>
                </a:extLst>
              </a:tr>
            </a:tbl>
          </a:graphicData>
        </a:graphic>
      </p:graphicFrame>
      <p:sp>
        <p:nvSpPr>
          <p:cNvPr id="7" name="文本框 6">
            <a:extLst>
              <a:ext uri="{FF2B5EF4-FFF2-40B4-BE49-F238E27FC236}">
                <a16:creationId xmlns:a16="http://schemas.microsoft.com/office/drawing/2014/main" id="{0DB944F2-F9A9-31A0-95D1-42E2CA8CED52}"/>
              </a:ext>
            </a:extLst>
          </p:cNvPr>
          <p:cNvSpPr txBox="1"/>
          <p:nvPr/>
        </p:nvSpPr>
        <p:spPr>
          <a:xfrm>
            <a:off x="596181" y="672022"/>
            <a:ext cx="3844322"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Editorial Board members</a:t>
            </a:r>
          </a:p>
        </p:txBody>
      </p:sp>
      <p:sp>
        <p:nvSpPr>
          <p:cNvPr id="9" name="文本框 8">
            <a:extLst>
              <a:ext uri="{FF2B5EF4-FFF2-40B4-BE49-F238E27FC236}">
                <a16:creationId xmlns:a16="http://schemas.microsoft.com/office/drawing/2014/main" id="{AEFD6AA8-CDDD-8E84-A9AC-E4DC6C1F3AD0}"/>
              </a:ext>
            </a:extLst>
          </p:cNvPr>
          <p:cNvSpPr txBox="1"/>
          <p:nvPr>
            <p:custDataLst>
              <p:tags r:id="rId2"/>
            </p:custDataLst>
          </p:nvPr>
        </p:nvSpPr>
        <p:spPr>
          <a:xfrm>
            <a:off x="832307" y="3093985"/>
            <a:ext cx="2418715" cy="769441"/>
          </a:xfrm>
          <a:prstGeom prst="rect">
            <a:avLst/>
          </a:prstGeom>
          <a:noFill/>
        </p:spPr>
        <p:txBody>
          <a:bodyPr wrap="square" rtlCol="0" anchor="t">
            <a:spAutoFit/>
          </a:bodyPr>
          <a:lstStyle/>
          <a:p>
            <a:pPr algn="ctr">
              <a:buClrTx/>
              <a:buSzTx/>
              <a:buFontTx/>
            </a:pPr>
            <a:r>
              <a:rPr lang="zh-CN" altLang="en-US" sz="1600" b="1" dirty="0">
                <a:latin typeface="Arial" panose="020B0604020202020204" pitchFamily="34" charset="0"/>
                <a:cs typeface="Arial" panose="020B0604020202020204" pitchFamily="34" charset="0"/>
                <a:sym typeface="+mn-ea"/>
              </a:rPr>
              <a:t>叶嘉安</a:t>
            </a:r>
            <a:endParaRPr lang="en-US" altLang="zh-CN" sz="1600" b="1" dirty="0">
              <a:latin typeface="Arial" panose="020B0604020202020204" pitchFamily="34" charset="0"/>
              <a:cs typeface="Arial" panose="020B0604020202020204" pitchFamily="34" charset="0"/>
              <a:sym typeface="+mn-ea"/>
            </a:endParaRPr>
          </a:p>
          <a:p>
            <a:pPr algn="ctr">
              <a:buClrTx/>
              <a:buSzTx/>
              <a:buFontTx/>
            </a:pPr>
            <a:r>
              <a:rPr lang="zh-CN" altLang="en-US" sz="1400" kern="0" dirty="0">
                <a:effectLst/>
                <a:latin typeface="Times New Roman" panose="02020603050405020304" pitchFamily="18" charset="0"/>
                <a:ea typeface="宋体" panose="02010600030101010101" pitchFamily="2" charset="-122"/>
                <a:cs typeface="Times New Roman" panose="02020603050405020304" pitchFamily="18" charset="0"/>
                <a:sym typeface="+mn-ea"/>
              </a:rPr>
              <a:t>香港大学，中科院院士</a:t>
            </a:r>
            <a:endParaRPr lang="en-US" altLang="zh-CN" sz="1400" kern="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algn="ctr">
              <a:buClrTx/>
              <a:buSzTx/>
              <a:buFontTx/>
            </a:pPr>
            <a:r>
              <a:rPr lang="zh-CN" altLang="en-US" sz="1400" kern="0" dirty="0">
                <a:latin typeface="Times New Roman" panose="02020603050405020304" pitchFamily="18" charset="0"/>
                <a:ea typeface="宋体" panose="02010600030101010101" pitchFamily="2" charset="-122"/>
                <a:cs typeface="Times New Roman" panose="02020603050405020304" pitchFamily="18" charset="0"/>
                <a:sym typeface="+mn-ea"/>
              </a:rPr>
              <a:t>智慧城市，</a:t>
            </a:r>
            <a:r>
              <a:rPr lang="en-US" altLang="zh-CN" sz="1400" kern="0" dirty="0">
                <a:latin typeface="Times New Roman" panose="02020603050405020304" pitchFamily="18" charset="0"/>
                <a:ea typeface="宋体" panose="02010600030101010101" pitchFamily="2" charset="-122"/>
                <a:cs typeface="Times New Roman" panose="02020603050405020304" pitchFamily="18" charset="0"/>
                <a:sym typeface="+mn-ea"/>
              </a:rPr>
              <a:t>GIS</a:t>
            </a:r>
            <a:endParaRPr lang="en-US" altLang="zh-CN" sz="1400" kern="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0" name="文本框 9">
            <a:extLst>
              <a:ext uri="{FF2B5EF4-FFF2-40B4-BE49-F238E27FC236}">
                <a16:creationId xmlns:a16="http://schemas.microsoft.com/office/drawing/2014/main" id="{E3C9F618-C1CF-190B-F57F-E9ED5B381818}"/>
              </a:ext>
            </a:extLst>
          </p:cNvPr>
          <p:cNvSpPr txBox="1"/>
          <p:nvPr>
            <p:custDataLst>
              <p:tags r:id="rId3"/>
            </p:custDataLst>
          </p:nvPr>
        </p:nvSpPr>
        <p:spPr>
          <a:xfrm>
            <a:off x="974184" y="4022264"/>
            <a:ext cx="2418715" cy="584775"/>
          </a:xfrm>
          <a:prstGeom prst="rect">
            <a:avLst/>
          </a:prstGeom>
          <a:noFill/>
        </p:spPr>
        <p:txBody>
          <a:bodyPr wrap="square" rtlCol="0" anchor="t">
            <a:spAutoFit/>
          </a:bodyPr>
          <a:lstStyle/>
          <a:p>
            <a:pPr algn="ctr">
              <a:buClrTx/>
              <a:buSzTx/>
              <a:buFontTx/>
            </a:pPr>
            <a:r>
              <a:rPr lang="zh-CN" altLang="en-US" sz="1600" b="1" dirty="0">
                <a:latin typeface="Arial" panose="020B0604020202020204" pitchFamily="34" charset="0"/>
                <a:cs typeface="Arial" panose="020B0604020202020204" pitchFamily="34" charset="0"/>
                <a:sym typeface="+mn-ea"/>
              </a:rPr>
              <a:t>（做成这种带头像的展示页面）</a:t>
            </a:r>
            <a:endParaRPr lang="en-US" altLang="zh-CN" sz="1400" kern="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extLst>
      <p:ext uri="{BB962C8B-B14F-4D97-AF65-F5344CB8AC3E}">
        <p14:creationId xmlns:p14="http://schemas.microsoft.com/office/powerpoint/2010/main" val="303034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52EC930-9711-3F06-85EF-E677C531DDD3}"/>
              </a:ext>
            </a:extLst>
          </p:cNvPr>
          <p:cNvSpPr txBox="1"/>
          <p:nvPr/>
        </p:nvSpPr>
        <p:spPr>
          <a:xfrm>
            <a:off x="596181" y="672022"/>
            <a:ext cx="7064563"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International Academic Leadership &amp; Networks</a:t>
            </a:r>
            <a:endParaRPr lang="zh-CN" altLang="en-US" sz="2400" b="1" dirty="0">
              <a:latin typeface="Arial" panose="020B0604020202020204" pitchFamily="34" charset="0"/>
              <a:cs typeface="Arial" panose="020B0604020202020204" pitchFamily="34" charset="0"/>
            </a:endParaRPr>
          </a:p>
        </p:txBody>
      </p:sp>
      <p:pic>
        <p:nvPicPr>
          <p:cNvPr id="4" name="图片 3" descr="RSA session at forthcoming International Conference on Urban Affairs (ICUA) - RSA Main">
            <a:extLst>
              <a:ext uri="{FF2B5EF4-FFF2-40B4-BE49-F238E27FC236}">
                <a16:creationId xmlns:a16="http://schemas.microsoft.com/office/drawing/2014/main" id="{B96B6EF2-2608-2D1F-5246-C0D51A664172}"/>
              </a:ext>
            </a:extLst>
          </p:cNvPr>
          <p:cNvPicPr>
            <a:picLocks noChangeAspect="1"/>
          </p:cNvPicPr>
          <p:nvPr/>
        </p:nvPicPr>
        <p:blipFill>
          <a:blip r:embed="rId2"/>
          <a:srcRect l="23136" t="14241" r="23107" b="14083"/>
          <a:stretch>
            <a:fillRect/>
          </a:stretch>
        </p:blipFill>
        <p:spPr>
          <a:xfrm>
            <a:off x="690524" y="1655990"/>
            <a:ext cx="1596571" cy="1596570"/>
          </a:xfrm>
          <a:prstGeom prst="rect">
            <a:avLst/>
          </a:prstGeom>
        </p:spPr>
      </p:pic>
      <p:pic>
        <p:nvPicPr>
          <p:cNvPr id="5" name="图片 4" descr="IGU-UGI: Statement on Geography, Human Rights and Palestine - RUNIPACE">
            <a:extLst>
              <a:ext uri="{FF2B5EF4-FFF2-40B4-BE49-F238E27FC236}">
                <a16:creationId xmlns:a16="http://schemas.microsoft.com/office/drawing/2014/main" id="{4000F983-BF4C-CBE5-C24C-D3B1DBEF4B3F}"/>
              </a:ext>
            </a:extLst>
          </p:cNvPr>
          <p:cNvPicPr>
            <a:picLocks noChangeAspect="1"/>
          </p:cNvPicPr>
          <p:nvPr/>
        </p:nvPicPr>
        <p:blipFill>
          <a:blip r:embed="rId3"/>
          <a:srcRect t="34554" b="36850"/>
          <a:stretch>
            <a:fillRect/>
          </a:stretch>
        </p:blipFill>
        <p:spPr>
          <a:xfrm>
            <a:off x="6855201" y="2117655"/>
            <a:ext cx="5242456" cy="836297"/>
          </a:xfrm>
          <a:prstGeom prst="rect">
            <a:avLst/>
          </a:prstGeom>
        </p:spPr>
      </p:pic>
      <p:pic>
        <p:nvPicPr>
          <p:cNvPr id="6" name="图片 5" descr="Private Foundations | Eva Garland Consulting">
            <a:extLst>
              <a:ext uri="{FF2B5EF4-FFF2-40B4-BE49-F238E27FC236}">
                <a16:creationId xmlns:a16="http://schemas.microsoft.com/office/drawing/2014/main" id="{52A14E19-C79E-B518-460F-1DE52CCE8F9A}"/>
              </a:ext>
            </a:extLst>
          </p:cNvPr>
          <p:cNvPicPr>
            <a:picLocks noChangeAspect="1"/>
          </p:cNvPicPr>
          <p:nvPr/>
        </p:nvPicPr>
        <p:blipFill>
          <a:blip r:embed="rId4"/>
          <a:srcRect l="14162" t="31587" r="13739" b="31446"/>
          <a:stretch>
            <a:fillRect/>
          </a:stretch>
        </p:blipFill>
        <p:spPr>
          <a:xfrm>
            <a:off x="690524" y="4264474"/>
            <a:ext cx="1922047" cy="985472"/>
          </a:xfrm>
          <a:prstGeom prst="rect">
            <a:avLst/>
          </a:prstGeom>
        </p:spPr>
      </p:pic>
      <p:pic>
        <p:nvPicPr>
          <p:cNvPr id="7" name="图片 6" descr="Study Environmental Sciences at University of East Anglia">
            <a:extLst>
              <a:ext uri="{FF2B5EF4-FFF2-40B4-BE49-F238E27FC236}">
                <a16:creationId xmlns:a16="http://schemas.microsoft.com/office/drawing/2014/main" id="{53C621B1-9735-C611-5562-EAA125ED00F4}"/>
              </a:ext>
            </a:extLst>
          </p:cNvPr>
          <p:cNvPicPr>
            <a:picLocks noChangeAspect="1"/>
          </p:cNvPicPr>
          <p:nvPr/>
        </p:nvPicPr>
        <p:blipFill>
          <a:blip r:embed="rId5"/>
          <a:stretch>
            <a:fillRect/>
          </a:stretch>
        </p:blipFill>
        <p:spPr>
          <a:xfrm>
            <a:off x="3345465" y="3985842"/>
            <a:ext cx="1592034" cy="1592034"/>
          </a:xfrm>
          <a:prstGeom prst="rect">
            <a:avLst/>
          </a:prstGeom>
        </p:spPr>
      </p:pic>
      <p:pic>
        <p:nvPicPr>
          <p:cNvPr id="8" name="图片 7" descr="Regional Studies Association (@regstud) on X">
            <a:extLst>
              <a:ext uri="{FF2B5EF4-FFF2-40B4-BE49-F238E27FC236}">
                <a16:creationId xmlns:a16="http://schemas.microsoft.com/office/drawing/2014/main" id="{CBA8991D-73F6-5586-6478-BB053CBBACC1}"/>
              </a:ext>
            </a:extLst>
          </p:cNvPr>
          <p:cNvPicPr>
            <a:picLocks noChangeAspect="1"/>
          </p:cNvPicPr>
          <p:nvPr/>
        </p:nvPicPr>
        <p:blipFill>
          <a:blip r:embed="rId6"/>
          <a:stretch>
            <a:fillRect/>
          </a:stretch>
        </p:blipFill>
        <p:spPr>
          <a:xfrm>
            <a:off x="5804106" y="3982810"/>
            <a:ext cx="1652039" cy="1652039"/>
          </a:xfrm>
          <a:prstGeom prst="rect">
            <a:avLst/>
          </a:prstGeom>
        </p:spPr>
      </p:pic>
      <p:pic>
        <p:nvPicPr>
          <p:cNvPr id="9" name="图片 8" descr="Asia-Pacific Network for Housing Research: APNHR">
            <a:extLst>
              <a:ext uri="{FF2B5EF4-FFF2-40B4-BE49-F238E27FC236}">
                <a16:creationId xmlns:a16="http://schemas.microsoft.com/office/drawing/2014/main" id="{F724E304-4384-CC41-8EE8-FBEBDC4A4792}"/>
              </a:ext>
            </a:extLst>
          </p:cNvPr>
          <p:cNvPicPr>
            <a:picLocks noChangeAspect="1"/>
          </p:cNvPicPr>
          <p:nvPr/>
        </p:nvPicPr>
        <p:blipFill>
          <a:blip r:embed="rId7"/>
          <a:stretch>
            <a:fillRect/>
          </a:stretch>
        </p:blipFill>
        <p:spPr>
          <a:xfrm>
            <a:off x="3000203" y="1467826"/>
            <a:ext cx="3277226" cy="2180845"/>
          </a:xfrm>
          <a:prstGeom prst="rect">
            <a:avLst/>
          </a:prstGeom>
        </p:spPr>
      </p:pic>
      <p:pic>
        <p:nvPicPr>
          <p:cNvPr id="11" name="图片 10">
            <a:extLst>
              <a:ext uri="{FF2B5EF4-FFF2-40B4-BE49-F238E27FC236}">
                <a16:creationId xmlns:a16="http://schemas.microsoft.com/office/drawing/2014/main" id="{BB8317CC-1766-F17B-41B8-E70B27A39512}"/>
              </a:ext>
            </a:extLst>
          </p:cNvPr>
          <p:cNvPicPr>
            <a:picLocks noChangeAspect="1"/>
          </p:cNvPicPr>
          <p:nvPr/>
        </p:nvPicPr>
        <p:blipFill>
          <a:blip r:embed="rId8"/>
          <a:stretch>
            <a:fillRect/>
          </a:stretch>
        </p:blipFill>
        <p:spPr>
          <a:xfrm>
            <a:off x="7834601" y="4413649"/>
            <a:ext cx="4209197" cy="785632"/>
          </a:xfrm>
          <a:prstGeom prst="rect">
            <a:avLst/>
          </a:prstGeom>
        </p:spPr>
      </p:pic>
    </p:spTree>
    <p:extLst>
      <p:ext uri="{BB962C8B-B14F-4D97-AF65-F5344CB8AC3E}">
        <p14:creationId xmlns:p14="http://schemas.microsoft.com/office/powerpoint/2010/main" val="4028804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291460B-AA1C-4AA6-868D-8E50444E4FF8}"/>
              </a:ext>
            </a:extLst>
          </p:cNvPr>
          <p:cNvSpPr txBox="1"/>
          <p:nvPr/>
        </p:nvSpPr>
        <p:spPr>
          <a:xfrm>
            <a:off x="596181" y="672022"/>
            <a:ext cx="1426224"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Timeline</a:t>
            </a:r>
            <a:endParaRPr lang="zh-CN" altLang="en-US" sz="2400" b="1"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BD2353D5-07C8-BADF-7BE8-8EABCFCC3793}"/>
              </a:ext>
            </a:extLst>
          </p:cNvPr>
          <p:cNvSpPr txBox="1"/>
          <p:nvPr/>
        </p:nvSpPr>
        <p:spPr>
          <a:xfrm>
            <a:off x="636438" y="1598647"/>
            <a:ext cx="11066732" cy="4674998"/>
          </a:xfrm>
          <a:prstGeom prst="rect">
            <a:avLst/>
          </a:prstGeom>
          <a:noFill/>
        </p:spPr>
        <p:txBody>
          <a:bodyPr wrap="square">
            <a:spAutoFit/>
          </a:bodyPr>
          <a:lstStyle/>
          <a:p>
            <a:pPr>
              <a:lnSpc>
                <a:spcPct val="125000"/>
              </a:lnSpc>
              <a:buNone/>
            </a:pPr>
            <a:r>
              <a:rPr lang="zh-CN" altLang="zh-CN" b="1" dirty="0">
                <a:latin typeface="Arial" panose="020B0604020202020204" pitchFamily="34" charset="0"/>
                <a:cs typeface="Arial" panose="020B0604020202020204" pitchFamily="34" charset="0"/>
              </a:rPr>
              <a:t>November–December 2026 | Editorial Board Formation &amp; Strategic Planning</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Convene the inaugural Editorial Board meeting.</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Finalize the journal’s vision, scope, editorial structure, and launch strategy.</a:t>
            </a:r>
          </a:p>
          <a:p>
            <a:pPr>
              <a:lnSpc>
                <a:spcPct val="125000"/>
              </a:lnSpc>
              <a:spcBef>
                <a:spcPts val="1200"/>
              </a:spcBef>
              <a:buNone/>
            </a:pPr>
            <a:r>
              <a:rPr lang="zh-CN" altLang="zh-CN" b="1" dirty="0">
                <a:latin typeface="Arial" panose="020B0604020202020204" pitchFamily="34" charset="0"/>
                <a:cs typeface="Arial" panose="020B0604020202020204" pitchFamily="34" charset="0"/>
              </a:rPr>
              <a:t>February 2027 | APNHR–AHRC Conference, Melbourne</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Introduce the journal to international research networks.</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Engage potential editors, contributors, and institutional partners.</a:t>
            </a:r>
          </a:p>
          <a:p>
            <a:pPr>
              <a:lnSpc>
                <a:spcPct val="125000"/>
              </a:lnSpc>
              <a:spcBef>
                <a:spcPts val="1200"/>
              </a:spcBef>
            </a:pPr>
            <a:r>
              <a:rPr lang="zh-CN" altLang="zh-CN" b="1" dirty="0">
                <a:latin typeface="Arial" panose="020B0604020202020204" pitchFamily="34" charset="0"/>
                <a:cs typeface="Arial" panose="020B0604020202020204" pitchFamily="34" charset="0"/>
              </a:rPr>
              <a:t>April 2027 | UAA Conference, New York</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Expand international networking and raise awareness of the journal.</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Invite prospective submissions and explore special issue opportunities.</a:t>
            </a:r>
          </a:p>
          <a:p>
            <a:pPr>
              <a:lnSpc>
                <a:spcPct val="125000"/>
              </a:lnSpc>
              <a:spcBef>
                <a:spcPts val="1200"/>
              </a:spcBef>
            </a:pPr>
            <a:r>
              <a:rPr lang="zh-CN" altLang="zh-CN" b="1" dirty="0">
                <a:latin typeface="Arial" panose="020B0604020202020204" pitchFamily="34" charset="0"/>
                <a:cs typeface="Arial" panose="020B0604020202020204" pitchFamily="34" charset="0"/>
              </a:rPr>
              <a:t>August 2027 | IGU Urban Commission Meeting</a:t>
            </a:r>
          </a:p>
          <a:p>
            <a:pPr marL="342900" lvl="0" indent="-342900">
              <a:lnSpc>
                <a:spcPct val="125000"/>
              </a:lnSpc>
              <a:buFont typeface="Arial" panose="020B0604020202020204" pitchFamily="34" charset="0"/>
              <a:buChar char="•"/>
            </a:pPr>
            <a:r>
              <a:rPr lang="zh-CN" altLang="zh-CN" b="1" dirty="0">
                <a:solidFill>
                  <a:srgbClr val="C00000"/>
                </a:solidFill>
                <a:latin typeface="Arial" panose="020B0604020202020204" pitchFamily="34" charset="0"/>
                <a:cs typeface="Arial" panose="020B0604020202020204" pitchFamily="34" charset="0"/>
              </a:rPr>
              <a:t>Official Launch of The Innovation Urban.</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Announce the editorial team, journal scope, and call for papers.</a:t>
            </a:r>
          </a:p>
        </p:txBody>
      </p:sp>
    </p:spTree>
    <p:extLst>
      <p:ext uri="{BB962C8B-B14F-4D97-AF65-F5344CB8AC3E}">
        <p14:creationId xmlns:p14="http://schemas.microsoft.com/office/powerpoint/2010/main" val="31106215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48.05,&quot;left&quot;:23.4,&quot;top&quot;:108.15,&quot;width&quot;:925.025039370078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48.05,&quot;left&quot;:23.4,&quot;top&quot;:108.15,&quot;width&quot;:925.025039370078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48.05,&quot;left&quot;:23.4,&quot;top&quot;:108.15,&quot;width&quot;:925.025039370078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48.05,&quot;left&quot;:23.4,&quot;top&quot;:108.15,&quot;width&quot;:925.025039370078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3235</Words>
  <Application>Microsoft Office PowerPoint</Application>
  <PresentationFormat>宽屏</PresentationFormat>
  <Paragraphs>110</Paragraphs>
  <Slides>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Noto Sans CJK SC</vt: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Xiang Yan</dc:creator>
  <cp:lastModifiedBy>Xiang Yan</cp:lastModifiedBy>
  <cp:revision>16</cp:revision>
  <dcterms:created xsi:type="dcterms:W3CDTF">2026-10-11T03:25:45Z</dcterms:created>
  <dcterms:modified xsi:type="dcterms:W3CDTF">2026-10-11T06:07:07Z</dcterms:modified>
</cp:coreProperties>
</file>