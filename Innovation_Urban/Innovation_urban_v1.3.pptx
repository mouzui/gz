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6"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7"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8"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9"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pic>
        <p:nvPicPr>
          <p:cNvPr id="10" name="Hero skyline" descr="Night skyline of a city under a starry sky"/>
          <p:cNvPicPr>
            <a:picLocks noChangeAspect="1"/>
          </p:cNvPicPr>
          <p:nvPr/>
        </p:nvPicPr>
        <p:blipFill>
          <a:blip r:embed="rId2"/>
          <a:stretch>
            <a:fillRect/>
          </a:stretch>
        </p:blipFill>
        <p:spPr>
          <a:xfrm>
            <a:off x="0" y="1078992"/>
            <a:ext cx="12191695" cy="5779008"/>
          </a:xfrm>
          <a:prstGeom prst="rect">
            <a:avLst/>
          </a:prstGeom>
        </p:spPr>
      </p:pic>
      <p:sp>
        <p:nvSpPr>
          <p:cNvPr id="11"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2"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3"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4"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5"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6"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7"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8"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19"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0"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1"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2"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3"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4"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5"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6"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7"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02</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7528255" y="429768"/>
            <a:ext cx="13258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Background</a:t>
            </a:r>
          </a:p>
        </p:txBody>
      </p:sp>
      <p:sp>
        <p:nvSpPr>
          <p:cNvPr id="8"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3" name="Background statement"/>
          <p:cNvSpPr txBox="1"/>
          <p:nvPr/>
        </p:nvSpPr>
        <p:spPr>
          <a:xfrm>
            <a:off x="548640" y="24231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4" name="Challenge card 1"/>
          <p:cNvSpPr/>
          <p:nvPr/>
        </p:nvSpPr>
        <p:spPr>
          <a:xfrm>
            <a:off x="6257239" y="24231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Challenge icon 1 circle"/>
          <p:cNvSpPr/>
          <p:nvPr/>
        </p:nvSpPr>
        <p:spPr>
          <a:xfrm>
            <a:off x="6485839" y="26974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Challenge icon 1" descr=""/>
          <p:cNvPicPr>
            <a:picLocks noChangeAspect="1"/>
          </p:cNvPicPr>
          <p:nvPr/>
        </p:nvPicPr>
        <p:blipFill>
          <a:blip r:embed="rId2"/>
          <a:stretch>
            <a:fillRect/>
          </a:stretch>
        </p:blipFill>
        <p:spPr>
          <a:xfrm>
            <a:off x="6634429" y="2846070"/>
            <a:ext cx="297180" cy="297180"/>
          </a:xfrm>
          <a:prstGeom prst="rect">
            <a:avLst/>
          </a:prstGeom>
        </p:spPr>
      </p:pic>
      <p:sp>
        <p:nvSpPr>
          <p:cNvPr id="17" name="Challenge title 1"/>
          <p:cNvSpPr txBox="1"/>
          <p:nvPr/>
        </p:nvSpPr>
        <p:spPr>
          <a:xfrm>
            <a:off x="6485839" y="34290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8" name="Challenge caption 1"/>
          <p:cNvSpPr txBox="1"/>
          <p:nvPr/>
        </p:nvSpPr>
        <p:spPr>
          <a:xfrm>
            <a:off x="6485839" y="37033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19" name="Challenge card 2"/>
          <p:cNvSpPr/>
          <p:nvPr/>
        </p:nvSpPr>
        <p:spPr>
          <a:xfrm>
            <a:off x="9064447" y="24231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Challenge icon 2 circle"/>
          <p:cNvSpPr/>
          <p:nvPr/>
        </p:nvSpPr>
        <p:spPr>
          <a:xfrm>
            <a:off x="9293047" y="26974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Challenge icon 2" descr=""/>
          <p:cNvPicPr>
            <a:picLocks noChangeAspect="1"/>
          </p:cNvPicPr>
          <p:nvPr/>
        </p:nvPicPr>
        <p:blipFill>
          <a:blip r:embed="rId3"/>
          <a:stretch>
            <a:fillRect/>
          </a:stretch>
        </p:blipFill>
        <p:spPr>
          <a:xfrm>
            <a:off x="9441637" y="2846070"/>
            <a:ext cx="297180" cy="297180"/>
          </a:xfrm>
          <a:prstGeom prst="rect">
            <a:avLst/>
          </a:prstGeom>
        </p:spPr>
      </p:pic>
      <p:sp>
        <p:nvSpPr>
          <p:cNvPr id="22" name="Challenge title 2"/>
          <p:cNvSpPr txBox="1"/>
          <p:nvPr/>
        </p:nvSpPr>
        <p:spPr>
          <a:xfrm>
            <a:off x="9293047" y="34290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3" name="Challenge caption 2"/>
          <p:cNvSpPr txBox="1"/>
          <p:nvPr/>
        </p:nvSpPr>
        <p:spPr>
          <a:xfrm>
            <a:off x="9293047" y="37033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4" name="Challenge card 3"/>
          <p:cNvSpPr/>
          <p:nvPr/>
        </p:nvSpPr>
        <p:spPr>
          <a:xfrm>
            <a:off x="6257239" y="44348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Challenge icon 3 circle"/>
          <p:cNvSpPr/>
          <p:nvPr/>
        </p:nvSpPr>
        <p:spPr>
          <a:xfrm>
            <a:off x="6485839" y="47091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Challenge icon 3" descr=""/>
          <p:cNvPicPr>
            <a:picLocks noChangeAspect="1"/>
          </p:cNvPicPr>
          <p:nvPr/>
        </p:nvPicPr>
        <p:blipFill>
          <a:blip r:embed="rId4"/>
          <a:stretch>
            <a:fillRect/>
          </a:stretch>
        </p:blipFill>
        <p:spPr>
          <a:xfrm>
            <a:off x="6634429" y="4857750"/>
            <a:ext cx="297180" cy="297180"/>
          </a:xfrm>
          <a:prstGeom prst="rect">
            <a:avLst/>
          </a:prstGeom>
        </p:spPr>
      </p:pic>
      <p:sp>
        <p:nvSpPr>
          <p:cNvPr id="27" name="Challenge title 3"/>
          <p:cNvSpPr txBox="1"/>
          <p:nvPr/>
        </p:nvSpPr>
        <p:spPr>
          <a:xfrm>
            <a:off x="6485839" y="54406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8" name="Challenge caption 3"/>
          <p:cNvSpPr txBox="1"/>
          <p:nvPr/>
        </p:nvSpPr>
        <p:spPr>
          <a:xfrm>
            <a:off x="6485839" y="57150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29" name="Challenge card 4"/>
          <p:cNvSpPr/>
          <p:nvPr/>
        </p:nvSpPr>
        <p:spPr>
          <a:xfrm>
            <a:off x="9064447" y="44348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0" name="Challenge icon 4 circle"/>
          <p:cNvSpPr/>
          <p:nvPr/>
        </p:nvSpPr>
        <p:spPr>
          <a:xfrm>
            <a:off x="9293047" y="47091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31" name="Challenge icon 4" descr=""/>
          <p:cNvPicPr>
            <a:picLocks noChangeAspect="1"/>
          </p:cNvPicPr>
          <p:nvPr/>
        </p:nvPicPr>
        <p:blipFill>
          <a:blip r:embed="rId5"/>
          <a:stretch>
            <a:fillRect/>
          </a:stretch>
        </p:blipFill>
        <p:spPr>
          <a:xfrm>
            <a:off x="9441637" y="4857750"/>
            <a:ext cx="297180" cy="297180"/>
          </a:xfrm>
          <a:prstGeom prst="rect">
            <a:avLst/>
          </a:prstGeom>
        </p:spPr>
      </p:pic>
      <p:sp>
        <p:nvSpPr>
          <p:cNvPr id="32" name="Challenge title 4"/>
          <p:cNvSpPr txBox="1"/>
          <p:nvPr/>
        </p:nvSpPr>
        <p:spPr>
          <a:xfrm>
            <a:off x="9293047" y="54406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3" name="Challenge caption 4"/>
          <p:cNvSpPr txBox="1"/>
          <p:nvPr/>
        </p:nvSpPr>
        <p:spPr>
          <a:xfrm>
            <a:off x="9293047" y="57150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Geopolitical and economic shocks worldwide</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03</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8854135" y="429768"/>
            <a:ext cx="8686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Vision</a:t>
            </a:r>
          </a:p>
        </p:txBody>
      </p:sp>
      <p:sp>
        <p:nvSpPr>
          <p:cNvPr id="9"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3" name="Vision statement"/>
          <p:cNvSpPr txBox="1"/>
          <p:nvPr/>
        </p:nvSpPr>
        <p:spPr>
          <a:xfrm>
            <a:off x="548640" y="23774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4" name="Team card 1"/>
          <p:cNvSpPr/>
          <p:nvPr/>
        </p:nvSpPr>
        <p:spPr>
          <a:xfrm>
            <a:off x="54864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Team icon 1 circle"/>
          <p:cNvSpPr/>
          <p:nvPr/>
        </p:nvSpPr>
        <p:spPr>
          <a:xfrm>
            <a:off x="77724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Team icon 1" descr=""/>
          <p:cNvPicPr>
            <a:picLocks noChangeAspect="1"/>
          </p:cNvPicPr>
          <p:nvPr/>
        </p:nvPicPr>
        <p:blipFill>
          <a:blip r:embed="rId2"/>
          <a:stretch>
            <a:fillRect/>
          </a:stretch>
        </p:blipFill>
        <p:spPr>
          <a:xfrm>
            <a:off x="925830" y="4473702"/>
            <a:ext cx="297180" cy="297180"/>
          </a:xfrm>
          <a:prstGeom prst="rect">
            <a:avLst/>
          </a:prstGeom>
        </p:spPr>
      </p:pic>
      <p:sp>
        <p:nvSpPr>
          <p:cNvPr id="17" name="Team title 1"/>
          <p:cNvSpPr txBox="1"/>
          <p:nvPr/>
        </p:nvSpPr>
        <p:spPr>
          <a:xfrm>
            <a:off x="77724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8" name="Team caption 1"/>
          <p:cNvSpPr txBox="1"/>
          <p:nvPr/>
        </p:nvSpPr>
        <p:spPr>
          <a:xfrm>
            <a:off x="77724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19" name="Team card 2"/>
          <p:cNvSpPr/>
          <p:nvPr/>
        </p:nvSpPr>
        <p:spPr>
          <a:xfrm>
            <a:off x="310896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Team icon 2 circle"/>
          <p:cNvSpPr/>
          <p:nvPr/>
        </p:nvSpPr>
        <p:spPr>
          <a:xfrm>
            <a:off x="333756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Team icon 2" descr=""/>
          <p:cNvPicPr>
            <a:picLocks noChangeAspect="1"/>
          </p:cNvPicPr>
          <p:nvPr/>
        </p:nvPicPr>
        <p:blipFill>
          <a:blip r:embed="rId3"/>
          <a:stretch>
            <a:fillRect/>
          </a:stretch>
        </p:blipFill>
        <p:spPr>
          <a:xfrm>
            <a:off x="3486150" y="4473702"/>
            <a:ext cx="297180" cy="297180"/>
          </a:xfrm>
          <a:prstGeom prst="rect">
            <a:avLst/>
          </a:prstGeom>
        </p:spPr>
      </p:pic>
      <p:sp>
        <p:nvSpPr>
          <p:cNvPr id="22" name="Team title 2"/>
          <p:cNvSpPr txBox="1"/>
          <p:nvPr/>
        </p:nvSpPr>
        <p:spPr>
          <a:xfrm>
            <a:off x="333756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3" name="Team caption 2"/>
          <p:cNvSpPr txBox="1"/>
          <p:nvPr/>
        </p:nvSpPr>
        <p:spPr>
          <a:xfrm>
            <a:off x="333756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4" name="Team card 3"/>
          <p:cNvSpPr/>
          <p:nvPr/>
        </p:nvSpPr>
        <p:spPr>
          <a:xfrm>
            <a:off x="566928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Team icon 3 circle"/>
          <p:cNvSpPr/>
          <p:nvPr/>
        </p:nvSpPr>
        <p:spPr>
          <a:xfrm>
            <a:off x="589788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Team icon 3" descr=""/>
          <p:cNvPicPr>
            <a:picLocks noChangeAspect="1"/>
          </p:cNvPicPr>
          <p:nvPr/>
        </p:nvPicPr>
        <p:blipFill>
          <a:blip r:embed="rId4"/>
          <a:stretch>
            <a:fillRect/>
          </a:stretch>
        </p:blipFill>
        <p:spPr>
          <a:xfrm>
            <a:off x="6046470" y="4473702"/>
            <a:ext cx="297180" cy="297180"/>
          </a:xfrm>
          <a:prstGeom prst="rect">
            <a:avLst/>
          </a:prstGeom>
        </p:spPr>
      </p:pic>
      <p:sp>
        <p:nvSpPr>
          <p:cNvPr id="27" name="Team title 3"/>
          <p:cNvSpPr txBox="1"/>
          <p:nvPr/>
        </p:nvSpPr>
        <p:spPr>
          <a:xfrm>
            <a:off x="589788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8" name="Team caption 3"/>
          <p:cNvSpPr txBox="1"/>
          <p:nvPr/>
        </p:nvSpPr>
        <p:spPr>
          <a:xfrm>
            <a:off x="589788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29" name="Approach panel"/>
          <p:cNvSpPr/>
          <p:nvPr/>
        </p:nvSpPr>
        <p:spPr>
          <a:xfrm>
            <a:off x="8229600" y="40690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0" name="Approach kicker"/>
          <p:cNvSpPr txBox="1"/>
          <p:nvPr/>
        </p:nvSpPr>
        <p:spPr>
          <a:xfrm>
            <a:off x="8549640" y="42976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1" name="Step number 1"/>
          <p:cNvSpPr txBox="1"/>
          <p:nvPr/>
        </p:nvSpPr>
        <p:spPr>
          <a:xfrm>
            <a:off x="8549640" y="46908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2" name="Step text 1"/>
          <p:cNvSpPr txBox="1"/>
          <p:nvPr/>
        </p:nvSpPr>
        <p:spPr>
          <a:xfrm>
            <a:off x="9098280" y="46908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3" name="Step number 2"/>
          <p:cNvSpPr txBox="1"/>
          <p:nvPr/>
        </p:nvSpPr>
        <p:spPr>
          <a:xfrm>
            <a:off x="8549640" y="51846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4" name="Step text 2"/>
          <p:cNvSpPr txBox="1"/>
          <p:nvPr/>
        </p:nvSpPr>
        <p:spPr>
          <a:xfrm>
            <a:off x="9098280" y="51846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5" name="Step number 3"/>
          <p:cNvSpPr txBox="1"/>
          <p:nvPr/>
        </p:nvSpPr>
        <p:spPr>
          <a:xfrm>
            <a:off x="8549640" y="56784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6" name="Step text 3"/>
          <p:cNvSpPr txBox="1"/>
          <p:nvPr/>
        </p:nvSpPr>
        <p:spPr>
          <a:xfrm>
            <a:off x="9098280" y="56784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04</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9722815" y="429768"/>
            <a:ext cx="100584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Mission</a:t>
            </a:r>
          </a:p>
        </p:txBody>
      </p:sp>
      <p:sp>
        <p:nvSpPr>
          <p:cNvPr id="10" name="Nav Topics"/>
          <p:cNvSpPr/>
          <p:nvPr/>
        </p:nvSpPr>
        <p:spPr>
          <a:xfrm>
            <a:off x="107286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3" name="Mission statement"/>
          <p:cNvSpPr txBox="1"/>
          <p:nvPr/>
        </p:nvSpPr>
        <p:spPr>
          <a:xfrm>
            <a:off x="548640" y="22860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4" name="Goal card 1"/>
          <p:cNvSpPr/>
          <p:nvPr/>
        </p:nvSpPr>
        <p:spPr>
          <a:xfrm>
            <a:off x="548640"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5" name="Goal number 1"/>
          <p:cNvSpPr/>
          <p:nvPr/>
        </p:nvSpPr>
        <p:spPr>
          <a:xfrm>
            <a:off x="749808"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6" name="Goal text 1"/>
          <p:cNvSpPr txBox="1"/>
          <p:nvPr/>
        </p:nvSpPr>
        <p:spPr>
          <a:xfrm>
            <a:off x="749808"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7" name="Goal card 2"/>
          <p:cNvSpPr/>
          <p:nvPr/>
        </p:nvSpPr>
        <p:spPr>
          <a:xfrm>
            <a:off x="3379394"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Goal number 2"/>
          <p:cNvSpPr/>
          <p:nvPr/>
        </p:nvSpPr>
        <p:spPr>
          <a:xfrm>
            <a:off x="3580562"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19" name="Goal text 2"/>
          <p:cNvSpPr txBox="1"/>
          <p:nvPr/>
        </p:nvSpPr>
        <p:spPr>
          <a:xfrm>
            <a:off x="3580562"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0" name="Goal card 3"/>
          <p:cNvSpPr/>
          <p:nvPr/>
        </p:nvSpPr>
        <p:spPr>
          <a:xfrm>
            <a:off x="6210148"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1" name="Goal number 3"/>
          <p:cNvSpPr/>
          <p:nvPr/>
        </p:nvSpPr>
        <p:spPr>
          <a:xfrm>
            <a:off x="6411316"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2" name="Goal text 3"/>
          <p:cNvSpPr txBox="1"/>
          <p:nvPr/>
        </p:nvSpPr>
        <p:spPr>
          <a:xfrm>
            <a:off x="6411316"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3" name="Goal card 4"/>
          <p:cNvSpPr/>
          <p:nvPr/>
        </p:nvSpPr>
        <p:spPr>
          <a:xfrm>
            <a:off x="9040901"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4" name="Goal number 4"/>
          <p:cNvSpPr/>
          <p:nvPr/>
        </p:nvSpPr>
        <p:spPr>
          <a:xfrm>
            <a:off x="9242069"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5" name="Goal text 4"/>
          <p:cNvSpPr txBox="1"/>
          <p:nvPr/>
        </p:nvSpPr>
        <p:spPr>
          <a:xfrm>
            <a:off x="9242069"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6" name="Goal card 5"/>
          <p:cNvSpPr/>
          <p:nvPr/>
        </p:nvSpPr>
        <p:spPr>
          <a:xfrm>
            <a:off x="548640"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7" name="Goal number 5"/>
          <p:cNvSpPr/>
          <p:nvPr/>
        </p:nvSpPr>
        <p:spPr>
          <a:xfrm>
            <a:off x="749808"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8" name="Goal text 5"/>
          <p:cNvSpPr txBox="1"/>
          <p:nvPr/>
        </p:nvSpPr>
        <p:spPr>
          <a:xfrm>
            <a:off x="749808"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29" name="Goal card 6"/>
          <p:cNvSpPr/>
          <p:nvPr/>
        </p:nvSpPr>
        <p:spPr>
          <a:xfrm>
            <a:off x="3379394"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Goal number 6"/>
          <p:cNvSpPr/>
          <p:nvPr/>
        </p:nvSpPr>
        <p:spPr>
          <a:xfrm>
            <a:off x="3580562"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1" name="Goal text 6"/>
          <p:cNvSpPr txBox="1"/>
          <p:nvPr/>
        </p:nvSpPr>
        <p:spPr>
          <a:xfrm>
            <a:off x="3580562"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2" name="Goal card 7"/>
          <p:cNvSpPr/>
          <p:nvPr/>
        </p:nvSpPr>
        <p:spPr>
          <a:xfrm>
            <a:off x="6210148"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3" name="Goal number 7"/>
          <p:cNvSpPr/>
          <p:nvPr/>
        </p:nvSpPr>
        <p:spPr>
          <a:xfrm>
            <a:off x="6411316"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4" name="Goal text 7"/>
          <p:cNvSpPr txBox="1"/>
          <p:nvPr/>
        </p:nvSpPr>
        <p:spPr>
          <a:xfrm>
            <a:off x="6411316"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5" name="Goal card 8"/>
          <p:cNvSpPr/>
          <p:nvPr/>
        </p:nvSpPr>
        <p:spPr>
          <a:xfrm>
            <a:off x="9040901" y="51389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6" name="Goal number 8"/>
          <p:cNvSpPr/>
          <p:nvPr/>
        </p:nvSpPr>
        <p:spPr>
          <a:xfrm>
            <a:off x="9242069" y="53035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7" name="Goal text 8"/>
          <p:cNvSpPr txBox="1"/>
          <p:nvPr/>
        </p:nvSpPr>
        <p:spPr>
          <a:xfrm>
            <a:off x="9242069"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102"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103"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05</a:t>
            </a:r>
          </a:p>
        </p:txBody>
      </p:sp>
      <p:sp>
        <p:nvSpPr>
          <p:cNvPr id="10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10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6" name="Nav Background"/>
          <p:cNvSpPr/>
          <p:nvPr/>
        </p:nvSpPr>
        <p:spPr>
          <a:xfrm>
            <a:off x="75282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107" name="Nav Vision"/>
          <p:cNvSpPr/>
          <p:nvPr/>
        </p:nvSpPr>
        <p:spPr>
          <a:xfrm>
            <a:off x="88541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108" name="Nav Mission"/>
          <p:cNvSpPr/>
          <p:nvPr/>
        </p:nvSpPr>
        <p:spPr>
          <a:xfrm>
            <a:off x="97228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9" name="Nav Topics"/>
          <p:cNvSpPr/>
          <p:nvPr/>
        </p:nvSpPr>
        <p:spPr>
          <a:xfrm>
            <a:off x="10728655" y="429768"/>
            <a:ext cx="91440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Topics</a:t>
            </a:r>
          </a:p>
        </p:txBody>
      </p:sp>
      <p:sp>
        <p:nvSpPr>
          <p:cNvPr id="110"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1"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3317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4437C89-EFC0-0A27-9684-FCFDFBF30DE1}"/>
              </a:ext>
            </a:extLst>
          </p:cNvPr>
          <p:cNvSpPr txBox="1"/>
          <p:nvPr/>
        </p:nvSpPr>
        <p:spPr>
          <a:xfrm>
            <a:off x="596181" y="672022"/>
            <a:ext cx="497687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Editor-in-Chief &amp; Working group </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733850B5-B224-5592-3648-6C1974902BCD}"/>
              </a:ext>
            </a:extLst>
          </p:cNvPr>
          <p:cNvSpPr txBox="1"/>
          <p:nvPr/>
        </p:nvSpPr>
        <p:spPr>
          <a:xfrm>
            <a:off x="2233331" y="3083082"/>
            <a:ext cx="274626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Shenjing</a:t>
            </a:r>
            <a:r>
              <a:rPr lang="en-US" altLang="zh-CN" sz="2400" b="1" dirty="0">
                <a:latin typeface="Arial" panose="020B0604020202020204" pitchFamily="34" charset="0"/>
                <a:cs typeface="Arial" panose="020B0604020202020204" pitchFamily="34" charset="0"/>
              </a:rPr>
              <a:t> He</a:t>
            </a:r>
            <a:endParaRPr lang="zh-CN" altLang="en-US" sz="2400" b="1"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B056DD10-C2F4-9869-E731-44FBB15AE9AC}"/>
              </a:ext>
            </a:extLst>
          </p:cNvPr>
          <p:cNvSpPr txBox="1"/>
          <p:nvPr/>
        </p:nvSpPr>
        <p:spPr>
          <a:xfrm>
            <a:off x="1013714" y="4628672"/>
            <a:ext cx="2433551"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Xiang Yan</a:t>
            </a:r>
            <a:endParaRPr lang="zh-CN" altLang="en-US" sz="2400" b="1"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90B690D4-085F-03C3-7C8C-B52709B7D190}"/>
              </a:ext>
            </a:extLst>
          </p:cNvPr>
          <p:cNvSpPr txBox="1"/>
          <p:nvPr/>
        </p:nvSpPr>
        <p:spPr>
          <a:xfrm>
            <a:off x="4494321" y="4628672"/>
            <a:ext cx="2853730"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Tianzuo</a:t>
            </a:r>
            <a:r>
              <a:rPr lang="en-US" altLang="zh-CN" sz="2400" b="1" dirty="0">
                <a:latin typeface="Arial" panose="020B0604020202020204" pitchFamily="34" charset="0"/>
                <a:cs typeface="Arial" panose="020B0604020202020204" pitchFamily="34" charset="0"/>
              </a:rPr>
              <a:t> Wen</a:t>
            </a:r>
          </a:p>
        </p:txBody>
      </p:sp>
      <p:sp>
        <p:nvSpPr>
          <p:cNvPr id="13" name="文本框 12">
            <a:extLst>
              <a:ext uri="{FF2B5EF4-FFF2-40B4-BE49-F238E27FC236}">
                <a16:creationId xmlns:a16="http://schemas.microsoft.com/office/drawing/2014/main" id="{BFB8132D-417D-01F9-B162-9E3F97D55B7B}"/>
              </a:ext>
            </a:extLst>
          </p:cNvPr>
          <p:cNvSpPr txBox="1"/>
          <p:nvPr/>
        </p:nvSpPr>
        <p:spPr>
          <a:xfrm>
            <a:off x="8335951" y="4628672"/>
            <a:ext cx="2057486"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Dr. </a:t>
            </a:r>
            <a:r>
              <a:rPr lang="en-US" altLang="zh-CN" sz="2400" b="1" dirty="0" err="1">
                <a:latin typeface="Arial" panose="020B0604020202020204" pitchFamily="34" charset="0"/>
                <a:cs typeface="Arial" panose="020B0604020202020204" pitchFamily="34" charset="0"/>
              </a:rPr>
              <a:t>Yutian</a:t>
            </a:r>
            <a:r>
              <a:rPr lang="en-US" altLang="zh-CN" sz="2400" b="1" dirty="0">
                <a:latin typeface="Arial" panose="020B0604020202020204" pitchFamily="34" charset="0"/>
                <a:cs typeface="Arial" panose="020B0604020202020204" pitchFamily="34" charset="0"/>
              </a:rPr>
              <a:t> Lu</a:t>
            </a:r>
            <a:endParaRPr lang="zh-CN" altLang="en-US" sz="2400" b="1" dirty="0">
              <a:latin typeface="Arial" panose="020B0604020202020204" pitchFamily="34" charset="0"/>
              <a:cs typeface="Arial" panose="020B0604020202020204" pitchFamily="34" charset="0"/>
            </a:endParaRPr>
          </a:p>
        </p:txBody>
      </p:sp>
      <p:sp>
        <p:nvSpPr>
          <p:cNvPr id="15" name="椭圆 14">
            <a:extLst>
              <a:ext uri="{FF2B5EF4-FFF2-40B4-BE49-F238E27FC236}">
                <a16:creationId xmlns:a16="http://schemas.microsoft.com/office/drawing/2014/main" id="{9EE514A6-51FB-1F26-5428-196DE3188FB5}"/>
              </a:ext>
            </a:extLst>
          </p:cNvPr>
          <p:cNvSpPr/>
          <p:nvPr>
            <p:custDataLst>
              <p:tags r:id="rId1"/>
            </p:custDataLst>
          </p:nvPr>
        </p:nvSpPr>
        <p:spPr>
          <a:xfrm>
            <a:off x="2788265" y="1446687"/>
            <a:ext cx="1636395" cy="1636395"/>
          </a:xfrm>
          <a:prstGeom prst="ellipse">
            <a:avLst/>
          </a:prstGeom>
          <a:blipFill rotWithShape="1">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B8F801ED-1338-49AA-180D-3CBB69DF4972}"/>
              </a:ext>
            </a:extLst>
          </p:cNvPr>
          <p:cNvSpPr/>
          <p:nvPr>
            <p:custDataLst>
              <p:tags r:id="rId1"/>
            </p:custDataLst>
          </p:nvPr>
        </p:nvSpPr>
        <p:spPr>
          <a:xfrm>
            <a:off x="1223785" y="1408011"/>
            <a:ext cx="1635760" cy="1636395"/>
          </a:xfrm>
          <a:prstGeom prst="ellipse">
            <a:avLst/>
          </a:prstGeom>
          <a:blipFill rotWithShape="1">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表格 4">
            <a:extLst>
              <a:ext uri="{FF2B5EF4-FFF2-40B4-BE49-F238E27FC236}">
                <a16:creationId xmlns:a16="http://schemas.microsoft.com/office/drawing/2014/main" id="{0DC37922-E88D-17F0-8B08-8757D077109C}"/>
              </a:ext>
            </a:extLst>
          </p:cNvPr>
          <p:cNvGraphicFramePr>
            <a:graphicFrameLocks noGrp="1"/>
          </p:cNvGraphicFramePr>
          <p:nvPr>
            <p:extLst>
              <p:ext uri="{D42A27DB-BD31-4B8C-83A1-F6EECF244321}">
                <p14:modId xmlns:p14="http://schemas.microsoft.com/office/powerpoint/2010/main" val="1282145624"/>
              </p:ext>
            </p:extLst>
          </p:nvPr>
        </p:nvGraphicFramePr>
        <p:xfrm>
          <a:off x="4819290" y="1408010"/>
          <a:ext cx="11250540" cy="5813282"/>
        </p:xfrm>
        <a:graphic>
          <a:graphicData uri="http://schemas.openxmlformats.org/drawingml/2006/table">
            <a:tbl>
              <a:tblPr firstRow="1" bandRow="1">
                <a:tableStyleId>{5C22544A-7EE6-4342-B048-85BDC9FD1C3A}</a:tableStyleId>
              </a:tblPr>
              <a:tblGrid>
                <a:gridCol w="1535040">
                  <a:extLst>
                    <a:ext uri="{9D8B030D-6E8A-4147-A177-3AD203B41FA5}">
                      <a16:colId xmlns:a16="http://schemas.microsoft.com/office/drawing/2014/main" val="804490841"/>
                    </a:ext>
                  </a:extLst>
                </a:gridCol>
                <a:gridCol w="2603500">
                  <a:extLst>
                    <a:ext uri="{9D8B030D-6E8A-4147-A177-3AD203B41FA5}">
                      <a16:colId xmlns:a16="http://schemas.microsoft.com/office/drawing/2014/main" val="3359018448"/>
                    </a:ext>
                  </a:extLst>
                </a:gridCol>
                <a:gridCol w="3746500">
                  <a:extLst>
                    <a:ext uri="{9D8B030D-6E8A-4147-A177-3AD203B41FA5}">
                      <a16:colId xmlns:a16="http://schemas.microsoft.com/office/drawing/2014/main" val="4284748114"/>
                    </a:ext>
                  </a:extLst>
                </a:gridCol>
                <a:gridCol w="3365500">
                  <a:extLst>
                    <a:ext uri="{9D8B030D-6E8A-4147-A177-3AD203B41FA5}">
                      <a16:colId xmlns:a16="http://schemas.microsoft.com/office/drawing/2014/main" val="847045964"/>
                    </a:ext>
                  </a:extLst>
                </a:gridCol>
              </a:tblGrid>
              <a:tr h="249708">
                <a:tc>
                  <a:txBody>
                    <a:bodyPr/>
                    <a:lstStyle/>
                    <a:p>
                      <a:pPr algn="l" fontAlgn="t">
                        <a:buNone/>
                      </a:pPr>
                      <a:endParaRPr lang="zh-CN" sz="1100" b="0" i="0" u="none" strike="noStrike" dirty="0">
                        <a:solidFill>
                          <a:schemeClr val="bg1"/>
                        </a:solidFill>
                        <a:effectLst/>
                        <a:latin typeface="Noto Sans CJK SC"/>
                      </a:endParaRPr>
                    </a:p>
                  </a:txBody>
                  <a:tcPr marL="4763" marR="4763" marT="4763" marB="0"/>
                </a:tc>
                <a:tc>
                  <a:txBody>
                    <a:bodyPr/>
                    <a:lstStyle/>
                    <a:p>
                      <a:pPr algn="l" fontAlgn="t">
                        <a:buNone/>
                      </a:pPr>
                      <a:r>
                        <a:rPr lang="en-US" altLang="zh-CN" sz="1100" b="0" i="0" u="none" strike="noStrike" dirty="0">
                          <a:solidFill>
                            <a:schemeClr val="bg1"/>
                          </a:solidFill>
                          <a:effectLst/>
                          <a:latin typeface="Noto Sans CJK SC"/>
                        </a:rPr>
                        <a:t>Institute</a:t>
                      </a:r>
                      <a:endParaRPr lang="zh-CN" sz="1100" b="0" i="0" u="none" strike="noStrike" dirty="0">
                        <a:solidFill>
                          <a:schemeClr val="bg1"/>
                        </a:solidFill>
                        <a:effectLst/>
                        <a:latin typeface="Noto Sans CJK SC"/>
                      </a:endParaRPr>
                    </a:p>
                  </a:txBody>
                  <a:tcPr marL="4763" marR="4763" marT="4763" marB="0"/>
                </a:tc>
                <a:tc>
                  <a:txBody>
                    <a:bodyPr/>
                    <a:lstStyle/>
                    <a:p>
                      <a:pPr algn="l" fontAlgn="t">
                        <a:buNone/>
                      </a:pPr>
                      <a:r>
                        <a:rPr lang="zh-CN" altLang="en-US" sz="1100" b="0" i="0" u="none" strike="noStrike" dirty="0">
                          <a:solidFill>
                            <a:schemeClr val="bg1"/>
                          </a:solidFill>
                          <a:effectLst/>
                          <a:latin typeface="Noto Sans CJK SC"/>
                        </a:rPr>
                        <a:t>研究领域</a:t>
                      </a:r>
                      <a:endParaRPr lang="zh-CN" sz="1100" b="0" i="0" u="none" strike="noStrike" dirty="0">
                        <a:solidFill>
                          <a:schemeClr val="bg1"/>
                        </a:solidFill>
                        <a:effectLst/>
                        <a:latin typeface="Noto Sans CJK SC"/>
                      </a:endParaRPr>
                    </a:p>
                  </a:txBody>
                  <a:tcPr marL="4763" marR="4763" marT="4763" marB="0"/>
                </a:tc>
                <a:tc>
                  <a:txBody>
                    <a:bodyPr/>
                    <a:lstStyle/>
                    <a:p>
                      <a:pPr algn="l" fontAlgn="t">
                        <a:buNone/>
                      </a:pPr>
                      <a:endParaRPr lang="zh-CN" sz="1100" b="0" i="0" u="none" strike="noStrike" dirty="0">
                        <a:solidFill>
                          <a:schemeClr val="bg1"/>
                        </a:solidFill>
                        <a:effectLst/>
                        <a:latin typeface="Noto Sans CJK SC"/>
                      </a:endParaRPr>
                    </a:p>
                  </a:txBody>
                  <a:tcPr marL="4763" marR="4763" marT="4763" marB="0"/>
                </a:tc>
                <a:extLst>
                  <a:ext uri="{0D108BD9-81ED-4DB2-BD59-A6C34878D82A}">
                    <a16:rowId xmlns:a16="http://schemas.microsoft.com/office/drawing/2014/main" val="1242391721"/>
                  </a:ext>
                </a:extLst>
              </a:tr>
              <a:tr h="738684">
                <a:tc>
                  <a:txBody>
                    <a:bodyPr/>
                    <a:lstStyle/>
                    <a:p>
                      <a:pPr algn="l" fontAlgn="t">
                        <a:buNone/>
                      </a:pPr>
                      <a:r>
                        <a:rPr lang="zh-CN" sz="1100" b="0" i="0" u="none" strike="noStrike" dirty="0">
                          <a:solidFill>
                            <a:srgbClr val="1F2937"/>
                          </a:solidFill>
                          <a:effectLst/>
                          <a:latin typeface="Noto Sans CJK SC"/>
                        </a:rPr>
                        <a:t>叶嘉安</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Anthony G. O. Yeh</a:t>
                      </a:r>
                    </a:p>
                  </a:txBody>
                  <a:tcPr marL="4763" marR="4763" marT="4763" marB="0"/>
                </a:tc>
                <a:tc>
                  <a:txBody>
                    <a:bodyPr/>
                    <a:lstStyle/>
                    <a:p>
                      <a:pPr algn="l" fontAlgn="t">
                        <a:buNone/>
                      </a:pPr>
                      <a:r>
                        <a:rPr lang="zh-CN" sz="1100" b="0" i="0" u="none" strike="noStrike" dirty="0">
                          <a:solidFill>
                            <a:srgbClr val="1F2937"/>
                          </a:solidFill>
                          <a:effectLst/>
                          <a:latin typeface="Noto Sans CJK SC"/>
                        </a:rPr>
                        <a:t>香港大学</a:t>
                      </a:r>
                    </a:p>
                  </a:txBody>
                  <a:tcPr marL="4763" marR="4763" marT="4763" marB="0"/>
                </a:tc>
                <a:tc>
                  <a:txBody>
                    <a:bodyPr/>
                    <a:lstStyle/>
                    <a:p>
                      <a:pPr algn="l" fontAlgn="t">
                        <a:buNone/>
                      </a:pPr>
                      <a:r>
                        <a:rPr lang="zh-CN" sz="1100" b="0" i="0" u="none" strike="noStrike" dirty="0">
                          <a:solidFill>
                            <a:srgbClr val="1F2937"/>
                          </a:solidFill>
                          <a:effectLst/>
                          <a:latin typeface="Noto Sans CJK SC"/>
                        </a:rPr>
                        <a:t>城市规划、GIS、智慧城市</a:t>
                      </a:r>
                    </a:p>
                  </a:txBody>
                  <a:tcPr marL="4763" marR="4763" marT="4763" marB="0"/>
                </a:tc>
                <a:tc>
                  <a:txBody>
                    <a:bodyPr/>
                    <a:lstStyle/>
                    <a:p>
                      <a:pPr algn="l" fontAlgn="t">
                        <a:buNone/>
                      </a:pPr>
                      <a:r>
                        <a:rPr lang="zh-CN" sz="1100" b="0" i="0" u="none" strike="noStrike" dirty="0">
                          <a:solidFill>
                            <a:srgbClr val="1F2937"/>
                          </a:solidFill>
                          <a:effectLst/>
                          <a:latin typeface="Noto Sans CJK SC"/>
                        </a:rPr>
                        <a:t>中国科学院院士</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发展中国家科学院（TWAS）院士</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英国社会科学院院士（FAcSS）</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香港科学院院士</a:t>
                      </a:r>
                    </a:p>
                  </a:txBody>
                  <a:tcPr marL="4763" marR="4763" marT="4763" marB="0"/>
                </a:tc>
                <a:extLst>
                  <a:ext uri="{0D108BD9-81ED-4DB2-BD59-A6C34878D82A}">
                    <a16:rowId xmlns:a16="http://schemas.microsoft.com/office/drawing/2014/main" val="2990123299"/>
                  </a:ext>
                </a:extLst>
              </a:tr>
              <a:tr h="555315">
                <a:tc>
                  <a:txBody>
                    <a:bodyPr/>
                    <a:lstStyle/>
                    <a:p>
                      <a:pPr algn="l" fontAlgn="t">
                        <a:buNone/>
                      </a:pPr>
                      <a:r>
                        <a:rPr lang="zh-CN" sz="1100" b="0" i="0" u="none" strike="noStrike">
                          <a:solidFill>
                            <a:srgbClr val="1F2937"/>
                          </a:solidFill>
                          <a:effectLst/>
                          <a:latin typeface="Noto Sans CJK SC"/>
                        </a:rPr>
                        <a:t>William C. Clark</a:t>
                      </a:r>
                    </a:p>
                  </a:txBody>
                  <a:tcPr marL="4763" marR="4763" marT="4763" marB="0"/>
                </a:tc>
                <a:tc>
                  <a:txBody>
                    <a:bodyPr/>
                    <a:lstStyle/>
                    <a:p>
                      <a:pPr algn="l" fontAlgn="t">
                        <a:buNone/>
                      </a:pPr>
                      <a:r>
                        <a:rPr lang="zh-CN" sz="1100" b="0" i="0" u="none" strike="noStrike" dirty="0">
                          <a:solidFill>
                            <a:srgbClr val="1F2937"/>
                          </a:solidFill>
                          <a:effectLst/>
                          <a:latin typeface="Noto Sans CJK SC"/>
                        </a:rPr>
                        <a:t>哈佛大学</a:t>
                      </a:r>
                      <a:br>
                        <a:rPr lang="zh-CN" sz="1100" b="0" i="0" u="none" strike="noStrike" dirty="0">
                          <a:solidFill>
                            <a:srgbClr val="1F2937"/>
                          </a:solidFill>
                          <a:effectLst/>
                          <a:latin typeface="Noto Sans CJK SC"/>
                        </a:rPr>
                      </a:br>
                      <a:r>
                        <a:rPr lang="zh-CN" sz="1100" b="0" i="0" u="none" strike="noStrike" dirty="0">
                          <a:solidFill>
                            <a:srgbClr val="1F2937"/>
                          </a:solidFill>
                          <a:effectLst/>
                          <a:latin typeface="Noto Sans CJK SC"/>
                        </a:rPr>
                        <a:t>Harvard University</a:t>
                      </a:r>
                    </a:p>
                  </a:txBody>
                  <a:tcPr marL="4763" marR="4763" marT="4763" marB="0"/>
                </a:tc>
                <a:tc>
                  <a:txBody>
                    <a:bodyPr/>
                    <a:lstStyle/>
                    <a:p>
                      <a:pPr algn="l" fontAlgn="t">
                        <a:buNone/>
                      </a:pPr>
                      <a:r>
                        <a:rPr lang="zh-CN" sz="1100" b="0" i="0" u="none" strike="noStrike">
                          <a:solidFill>
                            <a:srgbClr val="1F2937"/>
                          </a:solidFill>
                          <a:effectLst/>
                          <a:latin typeface="Noto Sans CJK SC"/>
                        </a:rPr>
                        <a:t>可持续性科学、生态学、人类与环境系统</a:t>
                      </a:r>
                    </a:p>
                  </a:txBody>
                  <a:tcPr marL="4763" marR="4763" marT="4763" marB="0"/>
                </a:tc>
                <a:tc>
                  <a:txBody>
                    <a:bodyPr/>
                    <a:lstStyle/>
                    <a:p>
                      <a:pPr algn="l" fontAlgn="t">
                        <a:buNone/>
                      </a:pPr>
                      <a:r>
                        <a:rPr lang="zh-CN" sz="1100" b="0" i="0" u="none" strike="noStrike">
                          <a:solidFill>
                            <a:srgbClr val="1F2937"/>
                          </a:solidFill>
                          <a:effectLst/>
                          <a:latin typeface="Noto Sans CJK SC"/>
                        </a:rPr>
                        <a:t>美国国家科学院院士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美国人文与科学院院士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美国科学促进会会士（AAAS Fellow）</a:t>
                      </a:r>
                    </a:p>
                  </a:txBody>
                  <a:tcPr marL="4763" marR="4763" marT="4763" marB="0"/>
                </a:tc>
                <a:extLst>
                  <a:ext uri="{0D108BD9-81ED-4DB2-BD59-A6C34878D82A}">
                    <a16:rowId xmlns:a16="http://schemas.microsoft.com/office/drawing/2014/main" val="2261936239"/>
                  </a:ext>
                </a:extLst>
              </a:tr>
              <a:tr h="371947">
                <a:tc>
                  <a:txBody>
                    <a:bodyPr/>
                    <a:lstStyle/>
                    <a:p>
                      <a:pPr algn="l" fontAlgn="t">
                        <a:buNone/>
                      </a:pPr>
                      <a:r>
                        <a:rPr lang="zh-CN" sz="1100" b="0" i="0" u="none" strike="noStrike" dirty="0">
                          <a:solidFill>
                            <a:srgbClr val="1F2937"/>
                          </a:solidFill>
                          <a:effectLst/>
                          <a:latin typeface="Noto Sans CJK SC"/>
                        </a:rPr>
                        <a:t>吴缚龙</a:t>
                      </a:r>
                    </a:p>
                  </a:txBody>
                  <a:tcPr marL="4763" marR="4763" marT="4763" marB="0"/>
                </a:tc>
                <a:tc>
                  <a:txBody>
                    <a:bodyPr/>
                    <a:lstStyle/>
                    <a:p>
                      <a:pPr algn="l" fontAlgn="t">
                        <a:buNone/>
                      </a:pPr>
                      <a:r>
                        <a:rPr lang="zh-CN" sz="1100" b="0" i="0" u="none" strike="noStrike">
                          <a:solidFill>
                            <a:srgbClr val="1F2937"/>
                          </a:solidFill>
                          <a:effectLst/>
                          <a:latin typeface="Noto Sans CJK SC"/>
                        </a:rPr>
                        <a:t>伦敦大学学院</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University College London</a:t>
                      </a:r>
                    </a:p>
                  </a:txBody>
                  <a:tcPr marL="4763" marR="4763" marT="4763" marB="0"/>
                </a:tc>
                <a:tc>
                  <a:txBody>
                    <a:bodyPr/>
                    <a:lstStyle/>
                    <a:p>
                      <a:pPr algn="l" fontAlgn="t">
                        <a:buNone/>
                      </a:pPr>
                      <a:r>
                        <a:rPr lang="zh-CN" sz="1100" b="0" i="0" u="none" strike="noStrike">
                          <a:solidFill>
                            <a:srgbClr val="1F2937"/>
                          </a:solidFill>
                          <a:effectLst/>
                          <a:latin typeface="Noto Sans CJK SC"/>
                        </a:rPr>
                        <a:t>城市转型、城市规划、住房与治理</a:t>
                      </a:r>
                    </a:p>
                  </a:txBody>
                  <a:tcPr marL="4763" marR="4763" marT="4763" marB="0"/>
                </a:tc>
                <a:tc>
                  <a:txBody>
                    <a:bodyPr/>
                    <a:lstStyle/>
                    <a:p>
                      <a:pPr algn="l" fontAlgn="t">
                        <a:buNone/>
                      </a:pPr>
                      <a:r>
                        <a:rPr lang="zh-CN" sz="1100" b="0" i="0" u="none" strike="noStrike">
                          <a:solidFill>
                            <a:srgbClr val="1F2937"/>
                          </a:solidFill>
                          <a:effectLst/>
                          <a:latin typeface="Noto Sans CJK SC"/>
                        </a:rPr>
                        <a:t>英国社会科学院院士（FAcSS）</a:t>
                      </a:r>
                    </a:p>
                  </a:txBody>
                  <a:tcPr marL="4763" marR="4763" marT="4763" marB="0"/>
                </a:tc>
                <a:extLst>
                  <a:ext uri="{0D108BD9-81ED-4DB2-BD59-A6C34878D82A}">
                    <a16:rowId xmlns:a16="http://schemas.microsoft.com/office/drawing/2014/main" val="481736008"/>
                  </a:ext>
                </a:extLst>
              </a:tr>
              <a:tr h="922052">
                <a:tc>
                  <a:txBody>
                    <a:bodyPr/>
                    <a:lstStyle/>
                    <a:p>
                      <a:pPr algn="l" fontAlgn="t">
                        <a:buNone/>
                      </a:pPr>
                      <a:r>
                        <a:rPr lang="zh-CN" sz="1100" b="0" i="0" u="none" strike="noStrike" dirty="0">
                          <a:solidFill>
                            <a:srgbClr val="1F2937"/>
                          </a:solidFill>
                          <a:effectLst/>
                          <a:latin typeface="Noto Sans CJK SC"/>
                        </a:rPr>
                        <a:t>傅伯杰</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中国科学院生态环境研究中心</a:t>
                      </a:r>
                    </a:p>
                  </a:txBody>
                  <a:tcPr marL="4763" marR="4763" marT="4763" marB="0"/>
                </a:tc>
                <a:tc>
                  <a:txBody>
                    <a:bodyPr/>
                    <a:lstStyle/>
                    <a:p>
                      <a:pPr algn="l" fontAlgn="t">
                        <a:buNone/>
                      </a:pPr>
                      <a:r>
                        <a:rPr lang="zh-CN" sz="1100" b="0" i="0" u="none" strike="noStrike">
                          <a:solidFill>
                            <a:srgbClr val="1F2937"/>
                          </a:solidFill>
                          <a:effectLst/>
                          <a:latin typeface="Noto Sans CJK SC"/>
                        </a:rPr>
                        <a:t>景观生态、生态系统服务、环境与地理科学</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TWAS院士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美国人文与科学院外籍院士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英国爱丁堡皇家学会外籍院士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英国皇家地理学会荣誉会士</a:t>
                      </a:r>
                    </a:p>
                  </a:txBody>
                  <a:tcPr marL="4763" marR="4763" marT="4763" marB="0"/>
                </a:tc>
                <a:extLst>
                  <a:ext uri="{0D108BD9-81ED-4DB2-BD59-A6C34878D82A}">
                    <a16:rowId xmlns:a16="http://schemas.microsoft.com/office/drawing/2014/main" val="2795107554"/>
                  </a:ext>
                </a:extLst>
              </a:tr>
              <a:tr h="371947">
                <a:tc>
                  <a:txBody>
                    <a:bodyPr/>
                    <a:lstStyle/>
                    <a:p>
                      <a:pPr algn="l" fontAlgn="t">
                        <a:buNone/>
                      </a:pPr>
                      <a:r>
                        <a:rPr lang="zh-CN" sz="1100" b="0" i="0" u="none" strike="noStrike" dirty="0">
                          <a:solidFill>
                            <a:srgbClr val="1F2937"/>
                          </a:solidFill>
                          <a:effectLst/>
                          <a:latin typeface="Noto Sans CJK SC"/>
                        </a:rPr>
                        <a:t>樊杰</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中国科学院地理科学与资源研究所</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中国科学院大学</a:t>
                      </a:r>
                    </a:p>
                  </a:txBody>
                  <a:tcPr marL="4763" marR="4763" marT="4763" marB="0"/>
                </a:tc>
                <a:tc>
                  <a:txBody>
                    <a:bodyPr/>
                    <a:lstStyle/>
                    <a:p>
                      <a:pPr algn="l" fontAlgn="t">
                        <a:buNone/>
                      </a:pPr>
                      <a:r>
                        <a:rPr lang="zh-CN" sz="1100" b="0" i="0" u="none" strike="noStrike">
                          <a:solidFill>
                            <a:srgbClr val="1F2937"/>
                          </a:solidFill>
                          <a:effectLst/>
                          <a:latin typeface="Noto Sans CJK SC"/>
                        </a:rPr>
                        <a:t>国土空间规划、区域发展、空间资源与可持续发展</a:t>
                      </a:r>
                    </a:p>
                  </a:txBody>
                  <a:tcPr marL="4763" marR="4763" marT="4763" marB="0"/>
                </a:tc>
                <a:tc>
                  <a:txBody>
                    <a:bodyPr/>
                    <a:lstStyle/>
                    <a:p>
                      <a:pPr algn="l" fontAlgn="t">
                        <a:buNone/>
                      </a:pPr>
                      <a:r>
                        <a:rPr lang="zh-CN" sz="1100" b="0" i="0" u="none" strike="noStrike">
                          <a:solidFill>
                            <a:srgbClr val="1F2937"/>
                          </a:solidFill>
                          <a:effectLst/>
                          <a:latin typeface="Noto Sans CJK SC"/>
                        </a:rPr>
                        <a:t>中国科学院院士（2025年当选）</a:t>
                      </a:r>
                    </a:p>
                  </a:txBody>
                  <a:tcPr marL="4763" marR="4763" marT="4763" marB="0"/>
                </a:tc>
                <a:extLst>
                  <a:ext uri="{0D108BD9-81ED-4DB2-BD59-A6C34878D82A}">
                    <a16:rowId xmlns:a16="http://schemas.microsoft.com/office/drawing/2014/main" val="1148065162"/>
                  </a:ext>
                </a:extLst>
              </a:tr>
              <a:tr h="371947">
                <a:tc>
                  <a:txBody>
                    <a:bodyPr/>
                    <a:lstStyle/>
                    <a:p>
                      <a:pPr algn="l" fontAlgn="t">
                        <a:buNone/>
                      </a:pPr>
                      <a:r>
                        <a:rPr lang="zh-CN" sz="1100" b="0" i="0" u="none" strike="noStrike" dirty="0">
                          <a:solidFill>
                            <a:srgbClr val="1F2937"/>
                          </a:solidFill>
                          <a:effectLst/>
                          <a:latin typeface="Noto Sans CJK SC"/>
                        </a:rPr>
                        <a:t>宫鹏</a:t>
                      </a:r>
                    </a:p>
                  </a:txBody>
                  <a:tcPr marL="4763" marR="4763" marT="4763" marB="0"/>
                </a:tc>
                <a:tc>
                  <a:txBody>
                    <a:bodyPr/>
                    <a:lstStyle/>
                    <a:p>
                      <a:pPr algn="l" fontAlgn="t">
                        <a:buNone/>
                      </a:pPr>
                      <a:r>
                        <a:rPr lang="zh-CN" sz="1100" b="0" i="0" u="none" strike="noStrike">
                          <a:solidFill>
                            <a:srgbClr val="1F2937"/>
                          </a:solidFill>
                          <a:effectLst/>
                          <a:latin typeface="Noto Sans CJK SC"/>
                        </a:rPr>
                        <a:t>香港大学</a:t>
                      </a:r>
                    </a:p>
                  </a:txBody>
                  <a:tcPr marL="4763" marR="4763" marT="4763" marB="0"/>
                </a:tc>
                <a:tc>
                  <a:txBody>
                    <a:bodyPr/>
                    <a:lstStyle/>
                    <a:p>
                      <a:pPr algn="l" fontAlgn="t">
                        <a:buNone/>
                      </a:pPr>
                      <a:r>
                        <a:rPr lang="zh-CN" sz="1100" b="0" i="0" u="none" strike="noStrike">
                          <a:solidFill>
                            <a:srgbClr val="1F2937"/>
                          </a:solidFill>
                          <a:effectLst/>
                          <a:latin typeface="Noto Sans CJK SC"/>
                        </a:rPr>
                        <a:t>遥感、全球环境变化、城市化与健康</a:t>
                      </a:r>
                    </a:p>
                  </a:txBody>
                  <a:tcPr marL="4763" marR="4763" marT="4763" marB="0"/>
                </a:tc>
                <a:tc>
                  <a:txBody>
                    <a:bodyPr/>
                    <a:lstStyle/>
                    <a:p>
                      <a:pPr algn="l" fontAlgn="t">
                        <a:buNone/>
                      </a:pPr>
                      <a:r>
                        <a:rPr lang="zh-CN" sz="1100" b="0" i="0" u="none" strike="noStrike">
                          <a:solidFill>
                            <a:srgbClr val="1F2937"/>
                          </a:solidFill>
                          <a:effectLst/>
                          <a:latin typeface="Noto Sans CJK SC"/>
                        </a:rPr>
                        <a:t>欧洲科学院（Academia Europaea）外籍院士</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国际欧亚科学院院士</a:t>
                      </a:r>
                    </a:p>
                  </a:txBody>
                  <a:tcPr marL="4763" marR="4763" marT="4763" marB="0"/>
                </a:tc>
                <a:extLst>
                  <a:ext uri="{0D108BD9-81ED-4DB2-BD59-A6C34878D82A}">
                    <a16:rowId xmlns:a16="http://schemas.microsoft.com/office/drawing/2014/main" val="1393788127"/>
                  </a:ext>
                </a:extLst>
              </a:tr>
              <a:tr h="371947">
                <a:tc>
                  <a:txBody>
                    <a:bodyPr/>
                    <a:lstStyle/>
                    <a:p>
                      <a:pPr algn="l" fontAlgn="t">
                        <a:buNone/>
                      </a:pPr>
                      <a:r>
                        <a:rPr lang="zh-CN" sz="1100" b="0" i="0" u="none" strike="noStrike">
                          <a:solidFill>
                            <a:srgbClr val="1F2937"/>
                          </a:solidFill>
                          <a:effectLst/>
                          <a:latin typeface="Noto Sans CJK SC"/>
                        </a:rPr>
                        <a:t>Patrick Roberts</a:t>
                      </a:r>
                    </a:p>
                  </a:txBody>
                  <a:tcPr marL="4763" marR="4763" marT="4763" marB="0"/>
                </a:tc>
                <a:tc>
                  <a:txBody>
                    <a:bodyPr/>
                    <a:lstStyle/>
                    <a:p>
                      <a:pPr algn="l" fontAlgn="t">
                        <a:buNone/>
                      </a:pPr>
                      <a:r>
                        <a:rPr lang="zh-CN" sz="1100" b="0" i="0" u="none" strike="noStrike">
                          <a:solidFill>
                            <a:srgbClr val="1F2937"/>
                          </a:solidFill>
                          <a:effectLst/>
                          <a:latin typeface="Noto Sans CJK SC"/>
                        </a:rPr>
                        <a:t>马克斯·普朗克地球人类学研究所</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Max Planck Institute of Geoanthropology</a:t>
                      </a:r>
                    </a:p>
                  </a:txBody>
                  <a:tcPr marL="4763" marR="4763" marT="4763" marB="0"/>
                </a:tc>
                <a:tc>
                  <a:txBody>
                    <a:bodyPr/>
                    <a:lstStyle/>
                    <a:p>
                      <a:pPr algn="l" fontAlgn="t">
                        <a:buNone/>
                      </a:pPr>
                      <a:r>
                        <a:rPr lang="zh-CN" sz="1100" b="0" i="0" u="none" strike="noStrike">
                          <a:solidFill>
                            <a:srgbClr val="1F2937"/>
                          </a:solidFill>
                          <a:effectLst/>
                          <a:latin typeface="Noto Sans CJK SC"/>
                        </a:rPr>
                        <a:t>考古科学、古生态、土地利用与城市化协同演化</a:t>
                      </a:r>
                    </a:p>
                  </a:txBody>
                  <a:tcPr marL="4763" marR="4763" marT="4763" marB="0"/>
                </a:tc>
                <a:tc>
                  <a:txBody>
                    <a:bodyPr/>
                    <a:lstStyle/>
                    <a:p>
                      <a:pPr algn="l" fontAlgn="t">
                        <a:buNone/>
                      </a:pPr>
                      <a:r>
                        <a:rPr lang="zh-CN" sz="1100" b="0" i="0" u="none" strike="noStrike">
                          <a:solidFill>
                            <a:srgbClr val="1F2937"/>
                          </a:solidFill>
                          <a:effectLst/>
                          <a:latin typeface="Noto Sans CJK SC"/>
                        </a:rPr>
                        <a:t>　</a:t>
                      </a:r>
                    </a:p>
                  </a:txBody>
                  <a:tcPr marL="4763" marR="4763" marT="4763" marB="0"/>
                </a:tc>
                <a:extLst>
                  <a:ext uri="{0D108BD9-81ED-4DB2-BD59-A6C34878D82A}">
                    <a16:rowId xmlns:a16="http://schemas.microsoft.com/office/drawing/2014/main" val="1175260973"/>
                  </a:ext>
                </a:extLst>
              </a:tr>
              <a:tr h="371947">
                <a:tc>
                  <a:txBody>
                    <a:bodyPr/>
                    <a:lstStyle/>
                    <a:p>
                      <a:pPr algn="l" fontAlgn="t">
                        <a:buNone/>
                      </a:pPr>
                      <a:r>
                        <a:rPr lang="zh-CN" sz="1100" b="0" i="0" u="none" strike="noStrike">
                          <a:solidFill>
                            <a:srgbClr val="1F2937"/>
                          </a:solidFill>
                          <a:effectLst/>
                          <a:latin typeface="Noto Sans CJK SC"/>
                        </a:rPr>
                        <a:t>Luis Bettencourt</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Luís M. A. Bettencourt</a:t>
                      </a:r>
                    </a:p>
                  </a:txBody>
                  <a:tcPr marL="4763" marR="4763" marT="4763" marB="0"/>
                </a:tc>
                <a:tc>
                  <a:txBody>
                    <a:bodyPr/>
                    <a:lstStyle/>
                    <a:p>
                      <a:pPr algn="l" fontAlgn="t">
                        <a:buNone/>
                      </a:pPr>
                      <a:r>
                        <a:rPr lang="zh-CN" sz="1100" b="0" i="0" u="none" strike="noStrike">
                          <a:solidFill>
                            <a:srgbClr val="1F2937"/>
                          </a:solidFill>
                          <a:effectLst/>
                          <a:latin typeface="Noto Sans CJK SC"/>
                        </a:rPr>
                        <a:t>芝加哥大学</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University of Chicago</a:t>
                      </a:r>
                    </a:p>
                  </a:txBody>
                  <a:tcPr marL="4763" marR="4763" marT="4763" marB="0"/>
                </a:tc>
                <a:tc>
                  <a:txBody>
                    <a:bodyPr/>
                    <a:lstStyle/>
                    <a:p>
                      <a:pPr algn="l" fontAlgn="t">
                        <a:buNone/>
                      </a:pPr>
                      <a:r>
                        <a:rPr lang="zh-CN" sz="1100" b="0" i="0" u="none" strike="noStrike">
                          <a:solidFill>
                            <a:srgbClr val="1F2937"/>
                          </a:solidFill>
                          <a:effectLst/>
                          <a:latin typeface="Noto Sans CJK SC"/>
                        </a:rPr>
                        <a:t>城市复杂系统、网络、城市尺度理论</a:t>
                      </a:r>
                    </a:p>
                  </a:txBody>
                  <a:tcPr marL="4763" marR="4763" marT="4763" marB="0"/>
                </a:tc>
                <a:tc>
                  <a:txBody>
                    <a:bodyPr/>
                    <a:lstStyle/>
                    <a:p>
                      <a:pPr algn="l" fontAlgn="t">
                        <a:buNone/>
                      </a:pPr>
                      <a:r>
                        <a:rPr lang="zh-CN" sz="1100" b="0" i="0" u="none" strike="noStrike">
                          <a:solidFill>
                            <a:srgbClr val="1F2937"/>
                          </a:solidFill>
                          <a:effectLst/>
                          <a:latin typeface="Noto Sans CJK SC"/>
                        </a:rPr>
                        <a:t>　</a:t>
                      </a:r>
                    </a:p>
                  </a:txBody>
                  <a:tcPr marL="4763" marR="4763" marT="4763" marB="0"/>
                </a:tc>
                <a:extLst>
                  <a:ext uri="{0D108BD9-81ED-4DB2-BD59-A6C34878D82A}">
                    <a16:rowId xmlns:a16="http://schemas.microsoft.com/office/drawing/2014/main" val="4057487682"/>
                  </a:ext>
                </a:extLst>
              </a:tr>
              <a:tr h="371947">
                <a:tc>
                  <a:txBody>
                    <a:bodyPr/>
                    <a:lstStyle/>
                    <a:p>
                      <a:pPr algn="l" fontAlgn="t">
                        <a:buNone/>
                      </a:pPr>
                      <a:r>
                        <a:rPr lang="zh-CN" sz="1100" b="0" i="0" u="none" strike="noStrike">
                          <a:solidFill>
                            <a:srgbClr val="1F2937"/>
                          </a:solidFill>
                          <a:effectLst/>
                          <a:latin typeface="Noto Sans CJK SC"/>
                        </a:rPr>
                        <a:t>Rebecca Bentley</a:t>
                      </a:r>
                    </a:p>
                  </a:txBody>
                  <a:tcPr marL="4763" marR="4763" marT="4763" marB="0"/>
                </a:tc>
                <a:tc>
                  <a:txBody>
                    <a:bodyPr/>
                    <a:lstStyle/>
                    <a:p>
                      <a:pPr algn="l" fontAlgn="t">
                        <a:buNone/>
                      </a:pPr>
                      <a:r>
                        <a:rPr lang="zh-CN" sz="1100" b="0" i="0" u="none" strike="noStrike">
                          <a:solidFill>
                            <a:srgbClr val="1F2937"/>
                          </a:solidFill>
                          <a:effectLst/>
                          <a:latin typeface="Noto Sans CJK SC"/>
                        </a:rPr>
                        <a:t>墨尔本大学</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University of Melbourne</a:t>
                      </a:r>
                    </a:p>
                  </a:txBody>
                  <a:tcPr marL="4763" marR="4763" marT="4763" marB="0"/>
                </a:tc>
                <a:tc>
                  <a:txBody>
                    <a:bodyPr/>
                    <a:lstStyle/>
                    <a:p>
                      <a:pPr algn="l" fontAlgn="t">
                        <a:buNone/>
                      </a:pPr>
                      <a:r>
                        <a:rPr lang="zh-CN" sz="1100" b="0" i="0" u="none" strike="noStrike">
                          <a:solidFill>
                            <a:srgbClr val="1F2937"/>
                          </a:solidFill>
                          <a:effectLst/>
                          <a:latin typeface="Noto Sans CJK SC"/>
                        </a:rPr>
                        <a:t>住房与建成环境、流行病学、城市健康</a:t>
                      </a:r>
                    </a:p>
                  </a:txBody>
                  <a:tcPr marL="4763" marR="4763" marT="4763" marB="0"/>
                </a:tc>
                <a:tc>
                  <a:txBody>
                    <a:bodyPr/>
                    <a:lstStyle/>
                    <a:p>
                      <a:pPr algn="l" fontAlgn="t">
                        <a:buNone/>
                      </a:pPr>
                      <a:r>
                        <a:rPr lang="zh-CN" sz="1100" b="0" i="0" u="none" strike="noStrike">
                          <a:solidFill>
                            <a:srgbClr val="1F2937"/>
                          </a:solidFill>
                          <a:effectLst/>
                          <a:latin typeface="Noto Sans CJK SC"/>
                        </a:rPr>
                        <a:t>　</a:t>
                      </a:r>
                    </a:p>
                  </a:txBody>
                  <a:tcPr marL="4763" marR="4763" marT="4763" marB="0"/>
                </a:tc>
                <a:extLst>
                  <a:ext uri="{0D108BD9-81ED-4DB2-BD59-A6C34878D82A}">
                    <a16:rowId xmlns:a16="http://schemas.microsoft.com/office/drawing/2014/main" val="1798828106"/>
                  </a:ext>
                </a:extLst>
              </a:tr>
              <a:tr h="371947">
                <a:tc>
                  <a:txBody>
                    <a:bodyPr/>
                    <a:lstStyle/>
                    <a:p>
                      <a:pPr algn="l" fontAlgn="t">
                        <a:buNone/>
                      </a:pPr>
                      <a:r>
                        <a:rPr lang="zh-CN" sz="1100" b="0" i="0" u="none" strike="noStrike" dirty="0">
                          <a:solidFill>
                            <a:srgbClr val="1F2937"/>
                          </a:solidFill>
                          <a:effectLst/>
                          <a:latin typeface="Noto Sans CJK SC"/>
                        </a:rPr>
                        <a:t>Emma Baker</a:t>
                      </a:r>
                    </a:p>
                  </a:txBody>
                  <a:tcPr marL="4763" marR="4763" marT="4763" marB="0"/>
                </a:tc>
                <a:tc>
                  <a:txBody>
                    <a:bodyPr/>
                    <a:lstStyle/>
                    <a:p>
                      <a:pPr algn="l" fontAlgn="t">
                        <a:buNone/>
                      </a:pPr>
                      <a:r>
                        <a:rPr lang="zh-CN" sz="1100" b="0" i="0" u="none" strike="noStrike">
                          <a:solidFill>
                            <a:srgbClr val="1F2937"/>
                          </a:solidFill>
                          <a:effectLst/>
                          <a:latin typeface="Noto Sans CJK SC"/>
                        </a:rPr>
                        <a:t>阿德莱德大学</a:t>
                      </a:r>
                      <a:br>
                        <a:rPr lang="zh-CN" sz="1100" b="0" i="0" u="none" strike="noStrike">
                          <a:solidFill>
                            <a:srgbClr val="1F2937"/>
                          </a:solidFill>
                          <a:effectLst/>
                          <a:latin typeface="Noto Sans CJK SC"/>
                        </a:rPr>
                      </a:br>
                      <a:r>
                        <a:rPr lang="zh-CN" sz="1100" b="0" i="0" u="none" strike="noStrike">
                          <a:solidFill>
                            <a:srgbClr val="1F2937"/>
                          </a:solidFill>
                          <a:effectLst/>
                          <a:latin typeface="Noto Sans CJK SC"/>
                        </a:rPr>
                        <a:t>Adelaide University</a:t>
                      </a:r>
                    </a:p>
                  </a:txBody>
                  <a:tcPr marL="4763" marR="4763" marT="4763" marB="0"/>
                </a:tc>
                <a:tc>
                  <a:txBody>
                    <a:bodyPr/>
                    <a:lstStyle/>
                    <a:p>
                      <a:pPr algn="l" fontAlgn="t">
                        <a:buNone/>
                      </a:pPr>
                      <a:r>
                        <a:rPr lang="zh-CN" sz="1100" b="0" i="0" u="none" strike="noStrike" dirty="0">
                          <a:solidFill>
                            <a:srgbClr val="1F2937"/>
                          </a:solidFill>
                          <a:effectLst/>
                          <a:latin typeface="Noto Sans CJK SC"/>
                        </a:rPr>
                        <a:t>住房研究、住房质量、城市健康与居住环境</a:t>
                      </a:r>
                    </a:p>
                  </a:txBody>
                  <a:tcPr marL="4763" marR="4763" marT="4763" marB="0"/>
                </a:tc>
                <a:tc>
                  <a:txBody>
                    <a:bodyPr/>
                    <a:lstStyle/>
                    <a:p>
                      <a:pPr algn="l" fontAlgn="t">
                        <a:buNone/>
                      </a:pPr>
                      <a:r>
                        <a:rPr lang="zh-CN" sz="1100" b="0" i="0" u="none" strike="noStrike" dirty="0">
                          <a:solidFill>
                            <a:srgbClr val="1F2937"/>
                          </a:solidFill>
                          <a:effectLst/>
                          <a:latin typeface="Noto Sans CJK SC"/>
                        </a:rPr>
                        <a:t>　</a:t>
                      </a:r>
                    </a:p>
                  </a:txBody>
                  <a:tcPr marL="4763" marR="4763" marT="4763" marB="0"/>
                </a:tc>
                <a:extLst>
                  <a:ext uri="{0D108BD9-81ED-4DB2-BD59-A6C34878D82A}">
                    <a16:rowId xmlns:a16="http://schemas.microsoft.com/office/drawing/2014/main" val="2721096942"/>
                  </a:ext>
                </a:extLst>
              </a:tr>
              <a:tr h="371947">
                <a:tc>
                  <a:txBody>
                    <a:bodyPr/>
                    <a:lstStyle/>
                    <a:p>
                      <a:pPr algn="l" fontAlgn="t">
                        <a:buNone/>
                      </a:pPr>
                      <a:r>
                        <a:rPr lang="en-US" altLang="zh-CN" sz="1100" b="0" i="0" u="none" strike="noStrike" dirty="0" err="1">
                          <a:solidFill>
                            <a:srgbClr val="1F2937"/>
                          </a:solidFill>
                          <a:effectLst/>
                          <a:latin typeface="Noto Sans CJK SC"/>
                        </a:rPr>
                        <a:t>filip</a:t>
                      </a:r>
                      <a:r>
                        <a:rPr lang="en-US" altLang="zh-CN" sz="1100" b="0" i="0" u="none" strike="noStrike" dirty="0">
                          <a:solidFill>
                            <a:srgbClr val="1F2937"/>
                          </a:solidFill>
                          <a:effectLst/>
                          <a:latin typeface="Noto Sans CJK SC"/>
                        </a:rPr>
                        <a:t> </a:t>
                      </a:r>
                      <a:r>
                        <a:rPr lang="en-US" altLang="zh-CN" sz="1100" b="0" i="0" u="none" strike="noStrike" dirty="0" err="1">
                          <a:solidFill>
                            <a:srgbClr val="1F2937"/>
                          </a:solidFill>
                          <a:effectLst/>
                          <a:latin typeface="Noto Sans CJK SC"/>
                        </a:rPr>
                        <a:t>biljecki</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r>
                        <a:rPr lang="en-US" altLang="zh-CN" sz="1100" b="0" i="0" u="none" strike="noStrike" dirty="0">
                          <a:solidFill>
                            <a:srgbClr val="1F2937"/>
                          </a:solidFill>
                          <a:effectLst/>
                          <a:latin typeface="Noto Sans CJK SC"/>
                        </a:rPr>
                        <a:t>NUS </a:t>
                      </a:r>
                      <a:r>
                        <a:rPr lang="zh-CN" altLang="en-US" sz="1100" b="0" i="0" u="none" strike="noStrike" dirty="0">
                          <a:solidFill>
                            <a:srgbClr val="1F2937"/>
                          </a:solidFill>
                          <a:effectLst/>
                          <a:latin typeface="Noto Sans CJK SC"/>
                        </a:rPr>
                        <a:t>新加坡国立</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extLst>
                  <a:ext uri="{0D108BD9-81ED-4DB2-BD59-A6C34878D82A}">
                    <a16:rowId xmlns:a16="http://schemas.microsoft.com/office/drawing/2014/main" val="3589344124"/>
                  </a:ext>
                </a:extLst>
              </a:tr>
              <a:tr h="371947">
                <a:tc>
                  <a:txBody>
                    <a:bodyPr/>
                    <a:lstStyle/>
                    <a:p>
                      <a:pPr algn="l" fontAlgn="t">
                        <a:buNone/>
                      </a:pPr>
                      <a:r>
                        <a:rPr lang="en-US" altLang="zh-CN" sz="1100" b="0" i="0" u="none" strike="noStrike" dirty="0">
                          <a:solidFill>
                            <a:srgbClr val="1F2937"/>
                          </a:solidFill>
                          <a:effectLst/>
                          <a:latin typeface="Noto Sans CJK SC"/>
                        </a:rPr>
                        <a:t>Orlando Woods</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r>
                        <a:rPr lang="en-US" altLang="zh-CN" sz="1100" b="0" i="0" u="none" strike="noStrike" dirty="0">
                          <a:solidFill>
                            <a:srgbClr val="1F2937"/>
                          </a:solidFill>
                          <a:effectLst/>
                          <a:latin typeface="Noto Sans CJK SC"/>
                        </a:rPr>
                        <a:t>SMU </a:t>
                      </a:r>
                      <a:r>
                        <a:rPr lang="zh-CN" altLang="en-US" sz="1100" b="0" i="0" u="none" strike="noStrike" dirty="0">
                          <a:solidFill>
                            <a:srgbClr val="1F2937"/>
                          </a:solidFill>
                          <a:effectLst/>
                          <a:latin typeface="Noto Sans CJK SC"/>
                        </a:rPr>
                        <a:t>新加坡管理</a:t>
                      </a: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tc>
                  <a:txBody>
                    <a:bodyPr/>
                    <a:lstStyle/>
                    <a:p>
                      <a:pPr algn="l" fontAlgn="t">
                        <a:buNone/>
                      </a:pPr>
                      <a:endParaRPr lang="zh-CN" sz="1100" b="0" i="0" u="none" strike="noStrike" dirty="0">
                        <a:solidFill>
                          <a:srgbClr val="1F2937"/>
                        </a:solidFill>
                        <a:effectLst/>
                        <a:latin typeface="Noto Sans CJK SC"/>
                      </a:endParaRPr>
                    </a:p>
                  </a:txBody>
                  <a:tcPr marL="4763" marR="4763" marT="4763" marB="0"/>
                </a:tc>
                <a:extLst>
                  <a:ext uri="{0D108BD9-81ED-4DB2-BD59-A6C34878D82A}">
                    <a16:rowId xmlns:a16="http://schemas.microsoft.com/office/drawing/2014/main" val="770949703"/>
                  </a:ext>
                </a:extLst>
              </a:tr>
            </a:tbl>
          </a:graphicData>
        </a:graphic>
      </p:graphicFrame>
      <p:sp>
        <p:nvSpPr>
          <p:cNvPr id="7" name="文本框 6">
            <a:extLst>
              <a:ext uri="{FF2B5EF4-FFF2-40B4-BE49-F238E27FC236}">
                <a16:creationId xmlns:a16="http://schemas.microsoft.com/office/drawing/2014/main" id="{0DB944F2-F9A9-31A0-95D1-42E2CA8CED52}"/>
              </a:ext>
            </a:extLst>
          </p:cNvPr>
          <p:cNvSpPr txBox="1"/>
          <p:nvPr/>
        </p:nvSpPr>
        <p:spPr>
          <a:xfrm>
            <a:off x="596181" y="672022"/>
            <a:ext cx="3844322"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Editorial Board members</a:t>
            </a:r>
          </a:p>
        </p:txBody>
      </p:sp>
      <p:sp>
        <p:nvSpPr>
          <p:cNvPr id="9" name="文本框 8">
            <a:extLst>
              <a:ext uri="{FF2B5EF4-FFF2-40B4-BE49-F238E27FC236}">
                <a16:creationId xmlns:a16="http://schemas.microsoft.com/office/drawing/2014/main" id="{AEFD6AA8-CDDD-8E84-A9AC-E4DC6C1F3AD0}"/>
              </a:ext>
            </a:extLst>
          </p:cNvPr>
          <p:cNvSpPr txBox="1"/>
          <p:nvPr>
            <p:custDataLst>
              <p:tags r:id="rId2"/>
            </p:custDataLst>
          </p:nvPr>
        </p:nvSpPr>
        <p:spPr>
          <a:xfrm>
            <a:off x="832307" y="3093985"/>
            <a:ext cx="2418715" cy="769441"/>
          </a:xfrm>
          <a:prstGeom prst="rect">
            <a:avLst/>
          </a:prstGeom>
          <a:noFill/>
        </p:spPr>
        <p:txBody>
          <a:bodyPr wrap="square" rtlCol="0" anchor="t">
            <a:spAutoFit/>
          </a:bodyPr>
          <a:lstStyle/>
          <a:p>
            <a:pPr algn="ctr">
              <a:buClrTx/>
              <a:buSzTx/>
              <a:buFontTx/>
            </a:pPr>
            <a:r>
              <a:rPr lang="zh-CN" altLang="en-US" sz="1600" b="1" dirty="0">
                <a:latin typeface="Arial" panose="020B0604020202020204" pitchFamily="34" charset="0"/>
                <a:cs typeface="Arial" panose="020B0604020202020204" pitchFamily="34" charset="0"/>
                <a:sym typeface="+mn-ea"/>
              </a:rPr>
              <a:t>叶嘉安</a:t>
            </a:r>
            <a:endParaRPr lang="en-US" altLang="zh-CN" sz="1600" b="1" dirty="0">
              <a:latin typeface="Arial" panose="020B0604020202020204" pitchFamily="34" charset="0"/>
              <a:cs typeface="Arial" panose="020B0604020202020204" pitchFamily="34" charset="0"/>
              <a:sym typeface="+mn-ea"/>
            </a:endParaRPr>
          </a:p>
          <a:p>
            <a:pPr algn="ctr">
              <a:buClrTx/>
              <a:buSzTx/>
              <a:buFontTx/>
            </a:pPr>
            <a:r>
              <a:rPr lang="zh-CN" altLang="en-US"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rPr>
              <a:t>香港大学，中科院院士</a:t>
            </a:r>
            <a:endParaRPr lang="en-US" altLang="zh-CN"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algn="ctr">
              <a:buClrTx/>
              <a:buSzTx/>
              <a:buFontTx/>
            </a:pPr>
            <a:r>
              <a:rPr lang="zh-CN" altLang="en-US" sz="1400" kern="0" dirty="0">
                <a:latin typeface="Times New Roman" panose="02020603050405020304" pitchFamily="18" charset="0"/>
                <a:ea typeface="宋体" panose="02010600030101010101" pitchFamily="2" charset="-122"/>
                <a:cs typeface="Times New Roman" panose="02020603050405020304" pitchFamily="18" charset="0"/>
                <a:sym typeface="+mn-ea"/>
              </a:rPr>
              <a:t>智慧城市，</a:t>
            </a:r>
            <a:r>
              <a:rPr lang="en-US" altLang="zh-CN" sz="1400" kern="0" dirty="0">
                <a:latin typeface="Times New Roman" panose="02020603050405020304" pitchFamily="18" charset="0"/>
                <a:ea typeface="宋体" panose="02010600030101010101" pitchFamily="2" charset="-122"/>
                <a:cs typeface="Times New Roman" panose="02020603050405020304" pitchFamily="18" charset="0"/>
                <a:sym typeface="+mn-ea"/>
              </a:rPr>
              <a:t>GIS</a:t>
            </a:r>
            <a:endParaRPr lang="en-US" altLang="zh-CN" sz="1400" kern="0" dirty="0">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52EC930-9711-3F06-85EF-E677C531DDD3}"/>
              </a:ext>
            </a:extLst>
          </p:cNvPr>
          <p:cNvSpPr txBox="1"/>
          <p:nvPr/>
        </p:nvSpPr>
        <p:spPr>
          <a:xfrm>
            <a:off x="596181" y="672022"/>
            <a:ext cx="7064563"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International Academic Leadership &amp; Networks</a:t>
            </a:r>
            <a:endParaRPr lang="zh-CN" altLang="en-US" sz="2400" b="1" dirty="0">
              <a:latin typeface="Arial" panose="020B0604020202020204" pitchFamily="34" charset="0"/>
              <a:cs typeface="Arial" panose="020B0604020202020204" pitchFamily="34" charset="0"/>
            </a:endParaRPr>
          </a:p>
        </p:txBody>
      </p:sp>
      <p:pic>
        <p:nvPicPr>
          <p:cNvPr id="4" name="图片 3" descr="RSA session at forthcoming International Conference on Urban Affairs (ICUA) - RSA Main">
            <a:extLst>
              <a:ext uri="{FF2B5EF4-FFF2-40B4-BE49-F238E27FC236}">
                <a16:creationId xmlns:a16="http://schemas.microsoft.com/office/drawing/2014/main" id="{B96B6EF2-2608-2D1F-5246-C0D51A664172}"/>
              </a:ext>
            </a:extLst>
          </p:cNvPr>
          <p:cNvPicPr>
            <a:picLocks noChangeAspect="1"/>
          </p:cNvPicPr>
          <p:nvPr/>
        </p:nvPicPr>
        <p:blipFill>
          <a:blip r:embed="rId2"/>
          <a:srcRect l="23136" t="14241" r="23107" b="14083"/>
          <a:stretch>
            <a:fillRect/>
          </a:stretch>
        </p:blipFill>
        <p:spPr>
          <a:xfrm>
            <a:off x="690524" y="1655990"/>
            <a:ext cx="1596571" cy="1596570"/>
          </a:xfrm>
          <a:prstGeom prst="rect">
            <a:avLst/>
          </a:prstGeom>
        </p:spPr>
      </p:pic>
      <p:pic>
        <p:nvPicPr>
          <p:cNvPr id="5" name="图片 4" descr="IGU-UGI: Statement on Geography, Human Rights and Palestine - RUNIPACE">
            <a:extLst>
              <a:ext uri="{FF2B5EF4-FFF2-40B4-BE49-F238E27FC236}">
                <a16:creationId xmlns:a16="http://schemas.microsoft.com/office/drawing/2014/main" id="{4000F983-BF4C-CBE5-C24C-D3B1DBEF4B3F}"/>
              </a:ext>
            </a:extLst>
          </p:cNvPr>
          <p:cNvPicPr>
            <a:picLocks noChangeAspect="1"/>
          </p:cNvPicPr>
          <p:nvPr/>
        </p:nvPicPr>
        <p:blipFill>
          <a:blip r:embed="rId3"/>
          <a:srcRect t="34554" b="36850"/>
          <a:stretch>
            <a:fillRect/>
          </a:stretch>
        </p:blipFill>
        <p:spPr>
          <a:xfrm>
            <a:off x="6855201" y="2117655"/>
            <a:ext cx="5242456" cy="836297"/>
          </a:xfrm>
          <a:prstGeom prst="rect">
            <a:avLst/>
          </a:prstGeom>
        </p:spPr>
      </p:pic>
      <p:pic>
        <p:nvPicPr>
          <p:cNvPr id="6" name="图片 5" descr="Private Foundations | Eva Garland Consulting">
            <a:extLst>
              <a:ext uri="{FF2B5EF4-FFF2-40B4-BE49-F238E27FC236}">
                <a16:creationId xmlns:a16="http://schemas.microsoft.com/office/drawing/2014/main" id="{52A14E19-C79E-B518-460F-1DE52CCE8F9A}"/>
              </a:ext>
            </a:extLst>
          </p:cNvPr>
          <p:cNvPicPr>
            <a:picLocks noChangeAspect="1"/>
          </p:cNvPicPr>
          <p:nvPr/>
        </p:nvPicPr>
        <p:blipFill>
          <a:blip r:embed="rId4"/>
          <a:srcRect l="14162" t="31587" r="13739" b="31446"/>
          <a:stretch>
            <a:fillRect/>
          </a:stretch>
        </p:blipFill>
        <p:spPr>
          <a:xfrm>
            <a:off x="690524" y="4264474"/>
            <a:ext cx="1922047" cy="985472"/>
          </a:xfrm>
          <a:prstGeom prst="rect">
            <a:avLst/>
          </a:prstGeom>
        </p:spPr>
      </p:pic>
      <p:pic>
        <p:nvPicPr>
          <p:cNvPr id="7" name="图片 6" descr="Study Environmental Sciences at University of East Anglia">
            <a:extLst>
              <a:ext uri="{FF2B5EF4-FFF2-40B4-BE49-F238E27FC236}">
                <a16:creationId xmlns:a16="http://schemas.microsoft.com/office/drawing/2014/main" id="{53C621B1-9735-C611-5562-EAA125ED00F4}"/>
              </a:ext>
            </a:extLst>
          </p:cNvPr>
          <p:cNvPicPr>
            <a:picLocks noChangeAspect="1"/>
          </p:cNvPicPr>
          <p:nvPr/>
        </p:nvPicPr>
        <p:blipFill>
          <a:blip r:embed="rId5"/>
          <a:stretch>
            <a:fillRect/>
          </a:stretch>
        </p:blipFill>
        <p:spPr>
          <a:xfrm>
            <a:off x="3345465" y="3985842"/>
            <a:ext cx="1592034" cy="1592034"/>
          </a:xfrm>
          <a:prstGeom prst="rect">
            <a:avLst/>
          </a:prstGeom>
        </p:spPr>
      </p:pic>
      <p:pic>
        <p:nvPicPr>
          <p:cNvPr id="8" name="图片 7" descr="Regional Studies Association (@regstud) on X">
            <a:extLst>
              <a:ext uri="{FF2B5EF4-FFF2-40B4-BE49-F238E27FC236}">
                <a16:creationId xmlns:a16="http://schemas.microsoft.com/office/drawing/2014/main" id="{CBA8991D-73F6-5586-6478-BB053CBBACC1}"/>
              </a:ext>
            </a:extLst>
          </p:cNvPr>
          <p:cNvPicPr>
            <a:picLocks noChangeAspect="1"/>
          </p:cNvPicPr>
          <p:nvPr/>
        </p:nvPicPr>
        <p:blipFill>
          <a:blip r:embed="rId6"/>
          <a:stretch>
            <a:fillRect/>
          </a:stretch>
        </p:blipFill>
        <p:spPr>
          <a:xfrm>
            <a:off x="5804106" y="3982810"/>
            <a:ext cx="1652039" cy="1652039"/>
          </a:xfrm>
          <a:prstGeom prst="rect">
            <a:avLst/>
          </a:prstGeom>
        </p:spPr>
      </p:pic>
      <p:pic>
        <p:nvPicPr>
          <p:cNvPr id="9" name="图片 8" descr="Asia-Pacific Network for Housing Research: APNHR">
            <a:extLst>
              <a:ext uri="{FF2B5EF4-FFF2-40B4-BE49-F238E27FC236}">
                <a16:creationId xmlns:a16="http://schemas.microsoft.com/office/drawing/2014/main" id="{F724E304-4384-CC41-8EE8-FBEBDC4A4792}"/>
              </a:ext>
            </a:extLst>
          </p:cNvPr>
          <p:cNvPicPr>
            <a:picLocks noChangeAspect="1"/>
          </p:cNvPicPr>
          <p:nvPr/>
        </p:nvPicPr>
        <p:blipFill>
          <a:blip r:embed="rId7"/>
          <a:stretch>
            <a:fillRect/>
          </a:stretch>
        </p:blipFill>
        <p:spPr>
          <a:xfrm>
            <a:off x="3000203" y="1467826"/>
            <a:ext cx="3277226" cy="2180845"/>
          </a:xfrm>
          <a:prstGeom prst="rect">
            <a:avLst/>
          </a:prstGeom>
        </p:spPr>
      </p:pic>
      <p:pic>
        <p:nvPicPr>
          <p:cNvPr id="11" name="图片 10">
            <a:extLst>
              <a:ext uri="{FF2B5EF4-FFF2-40B4-BE49-F238E27FC236}">
                <a16:creationId xmlns:a16="http://schemas.microsoft.com/office/drawing/2014/main" id="{BB8317CC-1766-F17B-41B8-E70B27A39512}"/>
              </a:ext>
            </a:extLst>
          </p:cNvPr>
          <p:cNvPicPr>
            <a:picLocks noChangeAspect="1"/>
          </p:cNvPicPr>
          <p:nvPr/>
        </p:nvPicPr>
        <p:blipFill>
          <a:blip r:embed="rId8"/>
          <a:stretch>
            <a:fillRect/>
          </a:stretch>
        </p:blipFill>
        <p:spPr>
          <a:xfrm>
            <a:off x="7834601" y="4413649"/>
            <a:ext cx="4209197" cy="785632"/>
          </a:xfrm>
          <a:prstGeom prst="rect">
            <a:avLst/>
          </a:prstGeom>
        </p:spPr>
      </p:pic>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91460B-AA1C-4AA6-868D-8E50444E4FF8}"/>
              </a:ext>
            </a:extLst>
          </p:cNvPr>
          <p:cNvSpPr txBox="1"/>
          <p:nvPr/>
        </p:nvSpPr>
        <p:spPr>
          <a:xfrm>
            <a:off x="596181" y="672022"/>
            <a:ext cx="1426224"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Timeline</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BD2353D5-07C8-BADF-7BE8-8EABCFCC3793}"/>
              </a:ext>
            </a:extLst>
          </p:cNvPr>
          <p:cNvSpPr txBox="1"/>
          <p:nvPr/>
        </p:nvSpPr>
        <p:spPr>
          <a:xfrm>
            <a:off x="636438" y="1598647"/>
            <a:ext cx="11066732" cy="4674998"/>
          </a:xfrm>
          <a:prstGeom prst="rect">
            <a:avLst/>
          </a:prstGeom>
          <a:noFill/>
        </p:spPr>
        <p:txBody>
          <a:bodyPr wrap="square">
            <a:spAutoFit/>
          </a:bodyPr>
          <a:lstStyle/>
          <a:p>
            <a:pPr>
              <a:lnSpc>
                <a:spcPct val="125000"/>
              </a:lnSpc>
              <a:buNone/>
            </a:pPr>
            <a:r>
              <a:rPr lang="zh-CN" altLang="zh-CN" b="1" dirty="0">
                <a:latin typeface="Arial" panose="020B0604020202020204" pitchFamily="34" charset="0"/>
                <a:cs typeface="Arial" panose="020B0604020202020204" pitchFamily="34" charset="0"/>
              </a:rPr>
              <a:t>November–December 2026 | Editorial Board Formation &amp; Strategic Planning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Convene the inaugural Editorial Board meeting.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Finalize the journal’s vision, scope, editorial structure, and launch strategy.</a:t>
            </a:r>
          </a:p>
          <a:p>
            <a:pPr>
              <a:lnSpc>
                <a:spcPct val="125000"/>
              </a:lnSpc>
              <a:spcBef>
                <a:spcPts val="1200"/>
              </a:spcBef>
              <a:buNone/>
            </a:pPr>
            <a:r>
              <a:rPr lang="zh-CN" altLang="zh-CN" b="1" dirty="0">
                <a:latin typeface="Arial" panose="020B0604020202020204" pitchFamily="34" charset="0"/>
                <a:cs typeface="Arial" panose="020B0604020202020204" pitchFamily="34" charset="0"/>
              </a:rPr>
              <a:t>February 2027 | APNHR–AHRC Conference, Melbourne</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Introduce the journal to international research networks.</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Engage potential editors, contributors, and institutional partners.</a:t>
            </a:r>
          </a:p>
          <a:p>
            <a:pPr>
              <a:lnSpc>
                <a:spcPct val="125000"/>
              </a:lnSpc>
              <a:spcBef>
                <a:spcPts val="1200"/>
              </a:spcBef>
            </a:pPr>
            <a:r>
              <a:rPr lang="zh-CN" altLang="zh-CN" b="1" dirty="0">
                <a:latin typeface="Arial" panose="020B0604020202020204" pitchFamily="34" charset="0"/>
                <a:cs typeface="Arial" panose="020B0604020202020204" pitchFamily="34" charset="0"/>
              </a:rPr>
              <a:t>April 2027 | UAA Conference, New York</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Expand international networking and raise awareness of the journal.</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Invite prospective submissions and explore special issue opportunities.</a:t>
            </a:r>
          </a:p>
          <a:p>
            <a:pPr>
              <a:lnSpc>
                <a:spcPct val="125000"/>
              </a:lnSpc>
              <a:spcBef>
                <a:spcPts val="1200"/>
              </a:spcBef>
            </a:pPr>
            <a:r>
              <a:rPr lang="zh-CN" altLang="zh-CN" b="1" dirty="0">
                <a:latin typeface="Arial" panose="020B0604020202020204" pitchFamily="34" charset="0"/>
                <a:cs typeface="Arial" panose="020B0604020202020204" pitchFamily="34" charset="0"/>
              </a:rPr>
              <a:t>August 2027 | IGU Urban Commission Meeting</a:t>
            </a:r>
          </a:p>
          <a:p>
            <a:pPr marL="342900" lvl="0" indent="-342900">
              <a:lnSpc>
                <a:spcPct val="125000"/>
              </a:lnSpc>
              <a:buFont typeface="Arial" panose="020B0604020202020204" pitchFamily="34" charset="0"/>
              <a:buChar char="•"/>
            </a:pPr>
            <a:r>
              <a:rPr lang="zh-CN" altLang="zh-CN" b="1" dirty="0">
                <a:solidFill>
                  <a:srgbClr val="C00000"/>
                </a:solidFill>
                <a:latin typeface="Arial" panose="020B0604020202020204" pitchFamily="34" charset="0"/>
                <a:cs typeface="Arial" panose="020B0604020202020204" pitchFamily="34" charset="0"/>
              </a:rPr>
              <a:t>Official Launch of The Innovation Urban.</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Announce the editorial team, journal scope, and call for papers.</a:t>
            </a:r>
          </a:p>
        </p:txBody>
      </p:sp>
    </p:spTree>
    <p:extLst>
      <p:ext uri="{BB962C8B-B14F-4D97-AF65-F5344CB8AC3E}">
        <p14:creationId xmlns:p14="http://schemas.microsoft.com/office/powerpoint/2010/main" val="3110621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