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69" r:id="rId5"/>
    <p:sldId id="264" r:id="rId6"/>
    <p:sldId id="258" r:id="rId7"/>
    <p:sldId id="272" r:id="rId8"/>
    <p:sldId id="267" r:id="rId9"/>
    <p:sldId id="268"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45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showGuides="1">
      <p:cViewPr>
        <p:scale>
          <a:sx n="66" d="100"/>
          <a:sy n="66" d="100"/>
        </p:scale>
        <p:origin x="1050" y="4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B7E08-442D-7537-3BB8-05A070F422C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2833787-21F9-A7F5-F31C-4B3AC3CBB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E18EFC-89D2-ED18-58B4-E6E331E7BBBF}"/>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7418B04B-7286-9177-9161-A37F596848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A3DD75-EF64-37C0-D647-EAEE8E641AA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06077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EEC35-F089-AA04-17FB-0E6189FFB92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B6FB732-1946-351E-5081-5322A0417A7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D4744D-DE1B-21C6-4675-2F7208A7546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B4886D13-FEAA-CBF8-C161-8E3F0474AE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D9B545-62CB-04CC-6001-2FEC56AEB77D}"/>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429108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89C0-9986-5EFD-AF08-8ABB64B39E5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A6F522D-C131-5088-FC81-0CE680D47B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A219858-DC77-F4B3-1482-64176643E0D1}"/>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51F12131-45A5-F112-EACB-0F1C68ED51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DC198D-9589-887D-34C6-1AF50E47B80A}"/>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413355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7A0D93-FCE3-C6F3-139C-C1E0BC43C7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C764C12-F622-53E7-1341-AEBDBE190AC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5C7DF23-3164-F5A8-87AE-12650ABB176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7B8D20F-85E6-D4EB-57BB-65A7D7427CE5}"/>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3EABD7D6-23A7-BB35-2F3B-CE1819F604A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CFBEBC-AF66-FE08-1EE7-32149A1CEC3F}"/>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80178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E1EE4E-5EC0-78BB-22EC-5796D50C03A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28205D-DA2D-DF3F-5870-54378DF95D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C010DD2-327D-5069-236F-99E4235954C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D535DE7-809F-C0BD-FF1B-016497AECB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705FC93-71F2-00DF-008E-F421364B2BA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4C9EAEE-1C3B-BA83-DD99-BE364B6672E6}"/>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8" name="页脚占位符 7">
            <a:extLst>
              <a:ext uri="{FF2B5EF4-FFF2-40B4-BE49-F238E27FC236}">
                <a16:creationId xmlns:a16="http://schemas.microsoft.com/office/drawing/2014/main" id="{319F4AF3-973B-4362-160E-689440E3AD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797EEF-9F51-94E4-8D2D-06B49F07E7C2}"/>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420067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33FFF9-436B-1FBF-98FB-5CF5C71FB5E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6A92861-6E28-5860-D353-26C6DC742CAC}"/>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4" name="页脚占位符 3">
            <a:extLst>
              <a:ext uri="{FF2B5EF4-FFF2-40B4-BE49-F238E27FC236}">
                <a16:creationId xmlns:a16="http://schemas.microsoft.com/office/drawing/2014/main" id="{A2266A49-8C52-A474-AD2B-D53F984C053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30D2BAC-FBCF-F218-CC26-667BF048A8C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27277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4D5C4E3-C4DA-8CD3-A827-FE482DA8383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3" name="页脚占位符 2">
            <a:extLst>
              <a:ext uri="{FF2B5EF4-FFF2-40B4-BE49-F238E27FC236}">
                <a16:creationId xmlns:a16="http://schemas.microsoft.com/office/drawing/2014/main" id="{7E5C7A1D-DD41-F951-E64E-5FEA6885C73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444D3C0-7EDF-7A3C-B133-8B3DACCCBB95}"/>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212828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8BA60-021F-2AAB-4189-47D708D2309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17A12A7-108F-EBEE-E5C7-85DD366B83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E54675E-954D-07B6-9E8F-D94AE7157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C2704B-0B1C-E425-AC48-5C0CE459ECB7}"/>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0AAD5301-04CC-F9C5-DF54-70BFD5FE78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FC37CD-D408-A413-967C-8003D3772B9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878304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3A16E5-9060-04A3-6151-A4DB8ED17E8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DD524BF-3D86-71CF-E8E4-2D0667F2707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3424768-6262-42A1-2ACE-40B3981E1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3971BF7-5436-812C-0197-B784DFD8049B}"/>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6AB8BFBF-258D-ACBE-D279-40FE85F250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2DAAD80-946E-F09C-93D9-6ED45738B848}"/>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708823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B2910D-B9B1-82CC-55A6-6514EEE2674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8ED1190-5FD9-11A2-EA9A-B80B1E1D4C1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E30AB3-9035-45D6-E1BA-0AA79C30AF89}"/>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D560D189-67E1-96B1-43FC-A6E1623CC9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2D5793-839C-CF07-FC68-AA8CA741233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757121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D7D2D02-D59D-A506-833A-BFFE2C39581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B083D9-530C-A428-7DA4-8EAD708BF81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B7A19C5-09F7-C14C-6A36-85AE2760D9B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AB037A4F-FD94-065C-FA46-0589538CEF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507972-9ECB-AAF9-1568-8D02176DA3A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00197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7607E11-537A-A5AC-7849-1A6CA3A92A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54232E7-0F2A-467E-C680-76F6FDA90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D83F14-E303-F266-B76B-7EA87431D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364F5D62-24DC-D3C7-253E-FAFC2F684B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10959D6-57CF-5D7B-56A1-87EFBBB87A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082721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hero.jpeg"/><Relationship Id="rId3" Type="http://schemas.openxmlformats.org/officeDocument/2006/relationships/image" Target="../media/iu_cover.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fra_w.png"/><Relationship Id="rId3" Type="http://schemas.openxmlformats.org/officeDocument/2006/relationships/image" Target="../media/iu_tech_w.png"/><Relationship Id="rId4" Type="http://schemas.openxmlformats.org/officeDocument/2006/relationships/image" Target="../media/iu_climate_w.png"/><Relationship Id="rId5" Type="http://schemas.openxmlformats.org/officeDocument/2006/relationships/image" Target="../media/iu_globe_w.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tl_w.png"/><Relationship Id="rId3" Type="http://schemas.openxmlformats.org/officeDocument/2006/relationships/image" Target="../media/iu_inter_w.png"/><Relationship Id="rId4" Type="http://schemas.openxmlformats.org/officeDocument/2006/relationships/image" Target="../media/iu_gen_w.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mb_1_image1.png"/><Relationship Id="rId3" Type="http://schemas.openxmlformats.org/officeDocument/2006/relationships/image" Target="../media/mb_1_image5.jpeg"/><Relationship Id="rId4" Type="http://schemas.openxmlformats.org/officeDocument/2006/relationships/image" Target="../media/mb_1_image2.jpeg"/><Relationship Id="rId5" Type="http://schemas.openxmlformats.org/officeDocument/2006/relationships/image" Target="../media/mb_1_image3.jpeg"/><Relationship Id="rId6" Type="http://schemas.openxmlformats.org/officeDocument/2006/relationships/image" Target="../media/mb_1_image4.jpeg"/><Relationship Id="rId7" Type="http://schemas.openxmlformats.org/officeDocument/2006/relationships/image" Target="../media/mb_1_image6.jpeg"/><Relationship Id="rId8" Type="http://schemas.openxmlformats.org/officeDocument/2006/relationships/image" Target="../media/mb_1_image7.jpeg"/><Relationship Id="rId9" Type="http://schemas.openxmlformats.org/officeDocument/2006/relationships/image" Target="../media/mb_1_image8.jpeg"/><Relationship Id="rId10" Type="http://schemas.openxmlformats.org/officeDocument/2006/relationships/image" Target="../media/mb_1_image9.jpeg"/><Relationship Id="rId11" Type="http://schemas.openxmlformats.org/officeDocument/2006/relationships/image" Target="../media/mb_1_image10.jpeg"/><Relationship Id="rId12" Type="http://schemas.openxmlformats.org/officeDocument/2006/relationships/image" Target="../media/mb_2_image11.jpeg"/><Relationship Id="rId13" Type="http://schemas.openxmlformats.org/officeDocument/2006/relationships/image" Target="../media/mb_2_image12.jpeg"/><Relationship Id="rId14" Type="http://schemas.openxmlformats.org/officeDocument/2006/relationships/image" Target="../media/mb_2_image13.jpeg"/><Relationship Id="rId15" Type="http://schemas.openxmlformats.org/officeDocument/2006/relationships/image" Target="../media/mb_2_image14.jpeg"/><Relationship Id="rId16" Type="http://schemas.openxmlformats.org/officeDocument/2006/relationships/image" Target="../media/mb_2_image15.jpeg"/><Relationship Id="rId17" Type="http://schemas.openxmlformats.org/officeDocument/2006/relationships/image" Target="../media/mb_2_image16.jpeg"/><Relationship Id="rId18" Type="http://schemas.openxmlformats.org/officeDocument/2006/relationships/image" Target="../media/mb_2_image17.jpe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5"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6" name="Nav Background"/>
          <p:cNvSpPr/>
          <p:nvPr/>
        </p:nvSpPr>
        <p:spPr>
          <a:xfrm>
            <a:off x="59280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7" name="Nav Vision"/>
          <p:cNvSpPr/>
          <p:nvPr/>
        </p:nvSpPr>
        <p:spPr>
          <a:xfrm>
            <a:off x="72539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8" name="Nav Mission"/>
          <p:cNvSpPr/>
          <p:nvPr/>
        </p:nvSpPr>
        <p:spPr>
          <a:xfrm>
            <a:off x="81226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9" name="Nav Topics"/>
          <p:cNvSpPr/>
          <p:nvPr/>
        </p:nvSpPr>
        <p:spPr>
          <a:xfrm>
            <a:off x="91284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0" name="Nav Editorial Board"/>
          <p:cNvSpPr/>
          <p:nvPr/>
        </p:nvSpPr>
        <p:spPr>
          <a:xfrm>
            <a:off x="10042855" y="429768"/>
            <a:ext cx="16002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Editorial Board</a:t>
            </a:r>
          </a:p>
        </p:txBody>
      </p:sp>
      <p:pic>
        <p:nvPicPr>
          <p:cNvPr id="11" name="Hero skyline" descr="Night skyline of a city under a starry sky"/>
          <p:cNvPicPr>
            <a:picLocks noChangeAspect="1"/>
          </p:cNvPicPr>
          <p:nvPr/>
        </p:nvPicPr>
        <p:blipFill>
          <a:blip r:embed="rId2"/>
          <a:stretch>
            <a:fillRect/>
          </a:stretch>
        </p:blipFill>
        <p:spPr>
          <a:xfrm>
            <a:off x="0" y="1078992"/>
            <a:ext cx="12191695" cy="5779008"/>
          </a:xfrm>
          <a:prstGeom prst="rect">
            <a:avLst/>
          </a:prstGeom>
        </p:spPr>
      </p:pic>
      <p:sp>
        <p:nvSpPr>
          <p:cNvPr id="12" name="Hero kicker"/>
          <p:cNvSpPr txBox="1"/>
          <p:nvPr/>
        </p:nvSpPr>
        <p:spPr>
          <a:xfrm>
            <a:off x="548640" y="1691640"/>
            <a:ext cx="7680960" cy="320040"/>
          </a:xfrm>
          <a:prstGeom prst="rect">
            <a:avLst/>
          </a:prstGeom>
          <a:noFill/>
          <a:ln>
            <a:noFill/>
          </a:ln>
        </p:spPr>
        <p:txBody>
          <a:bodyPr wrap="square" lIns="0" tIns="0" rIns="0" bIns="0" anchor="t" rtlCol="0">
            <a:normAutofit/>
          </a:bodyPr>
          <a:lstStyle/>
          <a:p>
            <a:pPr algn="l">
              <a:spcAft>
                <a:spcPts val="0"/>
              </a:spcAft>
              <a:buNone/>
            </a:pPr>
            <a:r>
              <a:rPr lang="en-US" altLang="zh-CN" sz="1200" b="1" i="0" spc="200" dirty="0">
                <a:solidFill>
                  <a:srgbClr val="F6B26B"/>
                </a:solidFill>
                <a:latin typeface="Arial"/>
                <a:ea typeface="Microsoft YaHei"/>
                <a:cs typeface="Arial"/>
              </a:rPr>
              <a:t>SEE THE CITY  ·  CHANGE THE CITY</a:t>
            </a:r>
          </a:p>
        </p:txBody>
      </p:sp>
      <p:sp>
        <p:nvSpPr>
          <p:cNvPr id="13" name="Cover title"/>
          <p:cNvSpPr txBox="1"/>
          <p:nvPr/>
        </p:nvSpPr>
        <p:spPr>
          <a:xfrm>
            <a:off x="548640" y="2057400"/>
            <a:ext cx="7863840" cy="914400"/>
          </a:xfrm>
          <a:prstGeom prst="rect">
            <a:avLst/>
          </a:prstGeom>
          <a:noFill/>
          <a:ln>
            <a:noFill/>
          </a:ln>
        </p:spPr>
        <p:txBody>
          <a:bodyPr wrap="square" lIns="0" tIns="0" rIns="0" bIns="0" anchor="t" rtlCol="0">
            <a:normAutofit/>
          </a:bodyPr>
          <a:lstStyle/>
          <a:p>
            <a:pPr algn="l">
              <a:spcAft>
                <a:spcPts val="0"/>
              </a:spcAft>
              <a:buNone/>
            </a:pPr>
            <a:r>
              <a:rPr lang="en-US" altLang="zh-CN" sz="5000" b="1" i="0" dirty="0">
                <a:solidFill>
                  <a:srgbClr val="FFFFFF"/>
                </a:solidFill>
                <a:latin typeface="Arial"/>
                <a:ea typeface="Microsoft YaHei"/>
                <a:cs typeface="Arial"/>
              </a:rPr>
              <a:t xml:space="preserve">The Innovation </a:t>
            </a:r>
            <a:r>
              <a:rPr lang="en-US" altLang="zh-CN" sz="5000" b="1" i="0" dirty="0">
                <a:solidFill>
                  <a:srgbClr val="F6B26B"/>
                </a:solidFill>
                <a:latin typeface="Arial"/>
                <a:ea typeface="Microsoft YaHei"/>
                <a:cs typeface="Arial"/>
              </a:rPr>
              <a:t>Urban</a:t>
            </a:r>
          </a:p>
        </p:txBody>
      </p:sp>
      <p:sp>
        <p:nvSpPr>
          <p:cNvPr id="14" name="Cover subtitle"/>
          <p:cNvSpPr txBox="1"/>
          <p:nvPr/>
        </p:nvSpPr>
        <p:spPr>
          <a:xfrm>
            <a:off x="548640" y="3017520"/>
            <a:ext cx="8046720" cy="914400"/>
          </a:xfrm>
          <a:prstGeom prst="rect">
            <a:avLst/>
          </a:prstGeom>
          <a:noFill/>
          <a:ln>
            <a:noFill/>
          </a:ln>
        </p:spPr>
        <p:txBody>
          <a:bodyPr wrap="square" lIns="0" tIns="0" rIns="0" bIns="0" anchor="t" rtlCol="0">
            <a:normAutofit/>
          </a:bodyPr>
          <a:lstStyle/>
          <a:p>
            <a:pPr algn="l">
              <a:lnSpc>
                <a:spcPct val="95000"/>
              </a:lnSpc>
              <a:spcAft>
                <a:spcPts val="0"/>
              </a:spcAft>
              <a:buNone/>
            </a:pPr>
            <a:r>
              <a:rPr lang="en-US" altLang="zh-CN" sz="2200" b="0" i="1" dirty="0">
                <a:solidFill>
                  <a:srgbClr val="E6E6F7"/>
                </a:solidFill>
                <a:latin typeface="Times New Roman"/>
                <a:ea typeface="Microsoft YaHei"/>
                <a:cs typeface="Times New Roman"/>
              </a:rPr>
              <a:t>Linking Infrastructure, Technology, Governance, and Climate Action for Sustainable Urban Transition</a:t>
            </a:r>
          </a:p>
        </p:txBody>
      </p:sp>
      <p:sp>
        <p:nvSpPr>
          <p:cNvPr id="15" name="Pillar Infrastructure"/>
          <p:cNvSpPr txBox="1"/>
          <p:nvPr/>
        </p:nvSpPr>
        <p:spPr>
          <a:xfrm>
            <a:off x="5486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01</a:t>
            </a:r>
          </a:p>
          <a:p>
            <a:pPr algn="l">
              <a:spcAft>
                <a:spcPts val="0"/>
              </a:spcAft>
              <a:buNone/>
            </a:pPr>
            <a:r>
              <a:rPr lang="en-US" altLang="zh-CN" sz="1200" b="0" i="0" dirty="0">
                <a:solidFill>
                  <a:srgbClr val="D9DAF5"/>
                </a:solidFill>
                <a:latin typeface="Arial"/>
                <a:ea typeface="Microsoft YaHei"/>
                <a:cs typeface="Arial"/>
              </a:rPr>
              <a:t>Infrastructure</a:t>
            </a:r>
          </a:p>
        </p:txBody>
      </p:sp>
      <p:sp>
        <p:nvSpPr>
          <p:cNvPr id="16" name="Pillar divider 1"/>
          <p:cNvSpPr/>
          <p:nvPr/>
        </p:nvSpPr>
        <p:spPr>
          <a:xfrm>
            <a:off x="231343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7" name="Pillar Technology"/>
          <p:cNvSpPr txBox="1"/>
          <p:nvPr/>
        </p:nvSpPr>
        <p:spPr>
          <a:xfrm>
            <a:off x="246888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02</a:t>
            </a:r>
          </a:p>
          <a:p>
            <a:pPr algn="l">
              <a:spcAft>
                <a:spcPts val="0"/>
              </a:spcAft>
              <a:buNone/>
            </a:pPr>
            <a:r>
              <a:rPr lang="en-US" altLang="zh-CN" sz="1200" b="0" i="0" dirty="0">
                <a:solidFill>
                  <a:srgbClr val="D9DAF5"/>
                </a:solidFill>
                <a:latin typeface="Arial"/>
                <a:ea typeface="Microsoft YaHei"/>
                <a:cs typeface="Arial"/>
              </a:rPr>
              <a:t>Technology</a:t>
            </a:r>
          </a:p>
        </p:txBody>
      </p:sp>
      <p:sp>
        <p:nvSpPr>
          <p:cNvPr id="18" name="Pillar divider 2"/>
          <p:cNvSpPr/>
          <p:nvPr/>
        </p:nvSpPr>
        <p:spPr>
          <a:xfrm>
            <a:off x="409651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9" name="Pillar Governance"/>
          <p:cNvSpPr txBox="1"/>
          <p:nvPr/>
        </p:nvSpPr>
        <p:spPr>
          <a:xfrm>
            <a:off x="425196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03</a:t>
            </a:r>
          </a:p>
          <a:p>
            <a:pPr algn="l">
              <a:spcAft>
                <a:spcPts val="0"/>
              </a:spcAft>
              <a:buNone/>
            </a:pPr>
            <a:r>
              <a:rPr lang="en-US" altLang="zh-CN" sz="1200" b="0" i="0" dirty="0">
                <a:solidFill>
                  <a:srgbClr val="D9DAF5"/>
                </a:solidFill>
                <a:latin typeface="Arial"/>
                <a:ea typeface="Microsoft YaHei"/>
                <a:cs typeface="Arial"/>
              </a:rPr>
              <a:t>Governance</a:t>
            </a:r>
          </a:p>
        </p:txBody>
      </p:sp>
      <p:sp>
        <p:nvSpPr>
          <p:cNvPr id="20" name="Pillar divider 3"/>
          <p:cNvSpPr/>
          <p:nvPr/>
        </p:nvSpPr>
        <p:spPr>
          <a:xfrm>
            <a:off x="587959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21" name="Pillar Climate Action"/>
          <p:cNvSpPr txBox="1"/>
          <p:nvPr/>
        </p:nvSpPr>
        <p:spPr>
          <a:xfrm>
            <a:off x="60350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04</a:t>
            </a:r>
          </a:p>
          <a:p>
            <a:pPr algn="l">
              <a:spcAft>
                <a:spcPts val="0"/>
              </a:spcAft>
              <a:buNone/>
            </a:pPr>
            <a:r>
              <a:rPr lang="en-US" altLang="zh-CN" sz="1200" b="0" i="0" dirty="0">
                <a:solidFill>
                  <a:srgbClr val="D9DAF5"/>
                </a:solidFill>
                <a:latin typeface="Arial"/>
                <a:ea typeface="Microsoft YaHei"/>
                <a:cs typeface="Arial"/>
              </a:rPr>
              <a:t>Climate Action</a:t>
            </a:r>
          </a:p>
        </p:txBody>
      </p:sp>
      <p:sp>
        <p:nvSpPr>
          <p:cNvPr id="22" name="Open access chip"/>
          <p:cNvSpPr/>
          <p:nvPr/>
        </p:nvSpPr>
        <p:spPr>
          <a:xfrm>
            <a:off x="548640" y="5349240"/>
            <a:ext cx="1325880" cy="347472"/>
          </a:xfrm>
          <a:prstGeom prst="roundRect">
            <a:avLst>
              <a:gd name="adj" fmla="val 50000"/>
            </a:avLst>
          </a:prstGeom>
          <a:solidFill>
            <a:srgbClr val="4C8C2B"/>
          </a:solidFill>
          <a:ln>
            <a:noFill/>
          </a:ln>
        </p:spPr>
        <p:txBody>
          <a:bodyPr wrap="square" lIns="0" tIns="0" rIns="0" bIns="0" anchor="ctr" rtlCol="0">
            <a:normAutofit/>
          </a:bodyPr>
          <a:lstStyle/>
          <a:p>
            <a:pPr algn="ctr">
              <a:spcAft>
                <a:spcPts val="0"/>
              </a:spcAft>
              <a:buNone/>
            </a:pPr>
            <a:r>
              <a:rPr lang="en-US" altLang="zh-CN" sz="1200" b="1" i="0" dirty="0">
                <a:solidFill>
                  <a:srgbClr val="FFFFFF"/>
                </a:solidFill>
                <a:latin typeface="Arial"/>
                <a:ea typeface="Microsoft YaHei"/>
                <a:cs typeface="Arial"/>
              </a:rPr>
              <a:t>Open access</a:t>
            </a:r>
          </a:p>
        </p:txBody>
      </p:sp>
      <p:sp>
        <p:nvSpPr>
          <p:cNvPr id="23" name="Interdisciplinary note"/>
          <p:cNvSpPr txBox="1"/>
          <p:nvPr/>
        </p:nvSpPr>
        <p:spPr>
          <a:xfrm>
            <a:off x="2011680" y="5349240"/>
            <a:ext cx="5943600" cy="347472"/>
          </a:xfrm>
          <a:prstGeom prst="rect">
            <a:avLst/>
          </a:prstGeom>
          <a:noFill/>
          <a:ln>
            <a:noFill/>
          </a:ln>
        </p:spPr>
        <p:txBody>
          <a:bodyPr wrap="square" lIns="0" tIns="0" rIns="0" bIns="0" anchor="ctr" rtlCol="0">
            <a:normAutofit/>
          </a:bodyPr>
          <a:lstStyle/>
          <a:p>
            <a:pPr algn="l">
              <a:spcAft>
                <a:spcPts val="0"/>
              </a:spcAft>
              <a:buNone/>
            </a:pPr>
            <a:r>
              <a:rPr lang="en-US" altLang="zh-CN" sz="1200" b="0" i="1" dirty="0">
                <a:solidFill>
                  <a:srgbClr val="D9DAF5"/>
                </a:solidFill>
                <a:latin typeface="Arial"/>
                <a:ea typeface="Microsoft YaHei"/>
                <a:cs typeface="Arial"/>
              </a:rPr>
              <a:t>An interdisciplinary journal for scientific innovation in cities</a:t>
            </a:r>
          </a:p>
        </p:txBody>
      </p:sp>
      <p:sp>
        <p:nvSpPr>
          <p:cNvPr id="24" name="Cover frame"/>
          <p:cNvSpPr/>
          <p:nvPr/>
        </p:nvSpPr>
        <p:spPr>
          <a:xfrm>
            <a:off x="8842248" y="1636776"/>
            <a:ext cx="2852928" cy="3767328"/>
          </a:xfrm>
          <a:prstGeom prst="rect">
            <a:avLst/>
          </a:prstGeom>
          <a:solidFill>
            <a:srgbClr val="FFFFFF"/>
          </a:solidFill>
          <a:ln>
            <a:noFill/>
          </a:ln>
          <a:effectLst>
            <a:outerShdw blurRad="190500" dist="38100" dir="5400000" algn="t" rotWithShape="0">
              <a:srgbClr val="000000">
                <a:alpha val="22000"/>
              </a:srgbClr>
            </a:outerShdw>
          </a:effectLst>
        </p:spPr>
        <p:txBody>
          <a:bodyPr wrap="square" lIns="0" tIns="0" rIns="0" bIns="0" anchor="t" rtlCol="0">
            <a:normAutofit/>
          </a:bodyPr>
          <a:lstStyle/>
          <a:p>
            <a:endParaRPr lang="en-US"/>
          </a:p>
        </p:txBody>
      </p:sp>
      <p:pic>
        <p:nvPicPr>
          <p:cNvPr id="25" name="Cover art" descr="Illustrative journal cover"/>
          <p:cNvPicPr>
            <a:picLocks noChangeAspect="1"/>
          </p:cNvPicPr>
          <p:nvPr/>
        </p:nvPicPr>
        <p:blipFill>
          <a:blip r:embed="rId3"/>
          <a:stretch>
            <a:fillRect/>
          </a:stretch>
        </p:blipFill>
        <p:spPr>
          <a:xfrm>
            <a:off x="8897112" y="1691640"/>
            <a:ext cx="2743200" cy="3657600"/>
          </a:xfrm>
          <a:prstGeom prst="rect">
            <a:avLst/>
          </a:prstGeom>
        </p:spPr>
      </p:pic>
      <p:sp>
        <p:nvSpPr>
          <p:cNvPr id="26" name="Cover the"/>
          <p:cNvSpPr txBox="1"/>
          <p:nvPr/>
        </p:nvSpPr>
        <p:spPr>
          <a:xfrm>
            <a:off x="9061704" y="1801368"/>
            <a:ext cx="1828800" cy="228600"/>
          </a:xfrm>
          <a:prstGeom prst="rect">
            <a:avLst/>
          </a:prstGeom>
          <a:noFill/>
          <a:ln>
            <a:noFill/>
          </a:ln>
        </p:spPr>
        <p:txBody>
          <a:bodyPr wrap="square" lIns="0" tIns="0" rIns="0" bIns="0" anchor="t" rtlCol="0">
            <a:normAutofit/>
          </a:bodyPr>
          <a:lstStyle/>
          <a:p>
            <a:pPr algn="l">
              <a:spcAft>
                <a:spcPts val="0"/>
              </a:spcAft>
              <a:buNone/>
            </a:pPr>
            <a:r>
              <a:rPr lang="en-US" altLang="zh-CN" sz="1100" b="1" i="0" dirty="0">
                <a:solidFill>
                  <a:srgbClr val="FFFFFF"/>
                </a:solidFill>
                <a:latin typeface="Arial"/>
                <a:ea typeface="Microsoft YaHei"/>
                <a:cs typeface="Arial"/>
              </a:rPr>
              <a:t>The</a:t>
            </a:r>
          </a:p>
        </p:txBody>
      </p:sp>
      <p:sp>
        <p:nvSpPr>
          <p:cNvPr id="27" name="Cover innovation"/>
          <p:cNvSpPr txBox="1"/>
          <p:nvPr/>
        </p:nvSpPr>
        <p:spPr>
          <a:xfrm>
            <a:off x="9061704" y="1965960"/>
            <a:ext cx="2468880" cy="457200"/>
          </a:xfrm>
          <a:prstGeom prst="rect">
            <a:avLst/>
          </a:prstGeom>
          <a:noFill/>
          <a:ln>
            <a:noFill/>
          </a:ln>
        </p:spPr>
        <p:txBody>
          <a:bodyPr wrap="square" lIns="0" tIns="0" rIns="0" bIns="0" anchor="t" rtlCol="0">
            <a:normAutofit/>
          </a:bodyPr>
          <a:lstStyle/>
          <a:p>
            <a:pPr algn="l">
              <a:spcAft>
                <a:spcPts val="0"/>
              </a:spcAft>
              <a:buNone/>
            </a:pPr>
            <a:r>
              <a:rPr lang="en-US" altLang="zh-CN" sz="2800" b="1" i="0" dirty="0">
                <a:solidFill>
                  <a:srgbClr val="FFFFFF"/>
                </a:solidFill>
                <a:latin typeface="Arial"/>
                <a:ea typeface="Microsoft YaHei"/>
                <a:cs typeface="Arial"/>
              </a:rPr>
              <a:t>Innovation</a:t>
            </a:r>
          </a:p>
        </p:txBody>
      </p:sp>
      <p:sp>
        <p:nvSpPr>
          <p:cNvPr id="28" name="Cover urban"/>
          <p:cNvSpPr txBox="1"/>
          <p:nvPr/>
        </p:nvSpPr>
        <p:spPr>
          <a:xfrm>
            <a:off x="9061704" y="2423160"/>
            <a:ext cx="2468880" cy="292608"/>
          </a:xfrm>
          <a:prstGeom prst="rect">
            <a:avLst/>
          </a:prstGeom>
          <a:noFill/>
          <a:ln>
            <a:noFill/>
          </a:ln>
        </p:spPr>
        <p:txBody>
          <a:bodyPr wrap="square" lIns="0" tIns="0" rIns="0" bIns="0" anchor="t" rtlCol="0">
            <a:normAutofit/>
          </a:bodyPr>
          <a:lstStyle/>
          <a:p>
            <a:pPr algn="l">
              <a:spcAft>
                <a:spcPts val="0"/>
              </a:spcAft>
              <a:buNone/>
            </a:pPr>
            <a:r>
              <a:rPr lang="en-US" altLang="zh-CN" sz="1400" b="1" i="0" spc="600" dirty="0">
                <a:solidFill>
                  <a:srgbClr val="F6B26B"/>
                </a:solidFill>
                <a:latin typeface="Arial"/>
                <a:ea typeface="Microsoft YaHei"/>
                <a:cs typeface="Arial"/>
              </a:rPr>
              <a:t>URBAN</a:t>
            </a:r>
          </a:p>
        </p:txBody>
      </p:sp>
    </p:spTree>
    <p:extLst>
      <p:ext uri="{BB962C8B-B14F-4D97-AF65-F5344CB8AC3E}">
        <p14:creationId xmlns:p14="http://schemas.microsoft.com/office/powerpoint/2010/main" val="519053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02</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5928055" y="429768"/>
            <a:ext cx="132588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Background</a:t>
            </a:r>
          </a:p>
        </p:txBody>
      </p:sp>
      <p:sp>
        <p:nvSpPr>
          <p:cNvPr id="8" name="Nav Vision"/>
          <p:cNvSpPr/>
          <p:nvPr/>
        </p:nvSpPr>
        <p:spPr>
          <a:xfrm>
            <a:off x="72539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9" name="Nav Mission"/>
          <p:cNvSpPr/>
          <p:nvPr/>
        </p:nvSpPr>
        <p:spPr>
          <a:xfrm>
            <a:off x="81226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 name="Nav Topics"/>
          <p:cNvSpPr/>
          <p:nvPr/>
        </p:nvSpPr>
        <p:spPr>
          <a:xfrm>
            <a:off x="91284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Nav Editorial Board"/>
          <p:cNvSpPr/>
          <p:nvPr/>
        </p:nvSpPr>
        <p:spPr>
          <a:xfrm>
            <a:off x="10042855" y="429768"/>
            <a:ext cx="16002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Editorial Board</a:t>
            </a:r>
          </a:p>
        </p:txBody>
      </p:sp>
      <p:sp>
        <p:nvSpPr>
          <p:cNvPr id="12"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WHY A NEW JOURNAL</a:t>
            </a:r>
          </a:p>
        </p:txBody>
      </p:sp>
      <p:sp>
        <p:nvSpPr>
          <p:cNvPr id="13"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Background</a:t>
            </a:r>
          </a:p>
        </p:txBody>
      </p:sp>
      <p:sp>
        <p:nvSpPr>
          <p:cNvPr id="14" name="Background statement"/>
          <p:cNvSpPr txBox="1"/>
          <p:nvPr/>
        </p:nvSpPr>
        <p:spPr>
          <a:xfrm>
            <a:off x="548640" y="2423160"/>
            <a:ext cx="5394960" cy="310896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Cities are among humanity’s most complex creations and a critical frontier for scientific and technological innovation, </a:t>
            </a:r>
            <a:r>
              <a:rPr lang="en-US" altLang="zh-CN" sz="2000" b="0" i="0" dirty="0">
                <a:solidFill>
                  <a:srgbClr val="1E1E2E"/>
                </a:solidFill>
                <a:latin typeface="Arial"/>
                <a:ea typeface="Microsoft YaHei"/>
                <a:cs typeface="Arial"/>
              </a:rPr>
              <a:t>yet face the urgent imperative to respond to infrastructure failures, disruptive technologies, climate change, and geopolitical and economic polycrises worldwide.</a:t>
            </a:r>
          </a:p>
        </p:txBody>
      </p:sp>
      <p:sp>
        <p:nvSpPr>
          <p:cNvPr id="15" name="Challenge card 1"/>
          <p:cNvSpPr/>
          <p:nvPr/>
        </p:nvSpPr>
        <p:spPr>
          <a:xfrm>
            <a:off x="6257239" y="242316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6" name="Challenge icon 1 circle"/>
          <p:cNvSpPr/>
          <p:nvPr/>
        </p:nvSpPr>
        <p:spPr>
          <a:xfrm>
            <a:off x="6485839" y="269748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7" name="Challenge icon 1" descr=""/>
          <p:cNvPicPr>
            <a:picLocks noChangeAspect="1"/>
          </p:cNvPicPr>
          <p:nvPr/>
        </p:nvPicPr>
        <p:blipFill>
          <a:blip r:embed="rId2"/>
          <a:stretch>
            <a:fillRect/>
          </a:stretch>
        </p:blipFill>
        <p:spPr>
          <a:xfrm>
            <a:off x="6634429" y="2846070"/>
            <a:ext cx="297180" cy="297180"/>
          </a:xfrm>
          <a:prstGeom prst="rect">
            <a:avLst/>
          </a:prstGeom>
        </p:spPr>
      </p:pic>
      <p:sp>
        <p:nvSpPr>
          <p:cNvPr id="18" name="Challenge title 1"/>
          <p:cNvSpPr txBox="1"/>
          <p:nvPr/>
        </p:nvSpPr>
        <p:spPr>
          <a:xfrm>
            <a:off x="6485839" y="342900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Infrastructure failures</a:t>
            </a:r>
          </a:p>
        </p:txBody>
      </p:sp>
      <p:sp>
        <p:nvSpPr>
          <p:cNvPr id="19" name="Challenge caption 1"/>
          <p:cNvSpPr txBox="1"/>
          <p:nvPr/>
        </p:nvSpPr>
        <p:spPr>
          <a:xfrm>
            <a:off x="6485839" y="370332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Ageing networks under rising demand</a:t>
            </a:r>
          </a:p>
        </p:txBody>
      </p:sp>
      <p:sp>
        <p:nvSpPr>
          <p:cNvPr id="20" name="Challenge card 2"/>
          <p:cNvSpPr/>
          <p:nvPr/>
        </p:nvSpPr>
        <p:spPr>
          <a:xfrm>
            <a:off x="9064447" y="242316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1" name="Challenge icon 2 circle"/>
          <p:cNvSpPr/>
          <p:nvPr/>
        </p:nvSpPr>
        <p:spPr>
          <a:xfrm>
            <a:off x="9293047" y="269748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2" name="Challenge icon 2" descr=""/>
          <p:cNvPicPr>
            <a:picLocks noChangeAspect="1"/>
          </p:cNvPicPr>
          <p:nvPr/>
        </p:nvPicPr>
        <p:blipFill>
          <a:blip r:embed="rId3"/>
          <a:stretch>
            <a:fillRect/>
          </a:stretch>
        </p:blipFill>
        <p:spPr>
          <a:xfrm>
            <a:off x="9441637" y="2846070"/>
            <a:ext cx="297180" cy="297180"/>
          </a:xfrm>
          <a:prstGeom prst="rect">
            <a:avLst/>
          </a:prstGeom>
        </p:spPr>
      </p:pic>
      <p:sp>
        <p:nvSpPr>
          <p:cNvPr id="23" name="Challenge title 2"/>
          <p:cNvSpPr txBox="1"/>
          <p:nvPr/>
        </p:nvSpPr>
        <p:spPr>
          <a:xfrm>
            <a:off x="9293047" y="342900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Disruptive technologies</a:t>
            </a:r>
          </a:p>
        </p:txBody>
      </p:sp>
      <p:sp>
        <p:nvSpPr>
          <p:cNvPr id="24" name="Challenge caption 2"/>
          <p:cNvSpPr txBox="1"/>
          <p:nvPr/>
        </p:nvSpPr>
        <p:spPr>
          <a:xfrm>
            <a:off x="9293047" y="370332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AI, sensing and automation reshaping cities</a:t>
            </a:r>
          </a:p>
        </p:txBody>
      </p:sp>
      <p:sp>
        <p:nvSpPr>
          <p:cNvPr id="25" name="Challenge card 3"/>
          <p:cNvSpPr/>
          <p:nvPr/>
        </p:nvSpPr>
        <p:spPr>
          <a:xfrm>
            <a:off x="6257239" y="443484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6" name="Challenge icon 3 circle"/>
          <p:cNvSpPr/>
          <p:nvPr/>
        </p:nvSpPr>
        <p:spPr>
          <a:xfrm>
            <a:off x="6485839" y="470916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7" name="Challenge icon 3" descr=""/>
          <p:cNvPicPr>
            <a:picLocks noChangeAspect="1"/>
          </p:cNvPicPr>
          <p:nvPr/>
        </p:nvPicPr>
        <p:blipFill>
          <a:blip r:embed="rId4"/>
          <a:stretch>
            <a:fillRect/>
          </a:stretch>
        </p:blipFill>
        <p:spPr>
          <a:xfrm>
            <a:off x="6634429" y="4857750"/>
            <a:ext cx="297180" cy="297180"/>
          </a:xfrm>
          <a:prstGeom prst="rect">
            <a:avLst/>
          </a:prstGeom>
        </p:spPr>
      </p:pic>
      <p:sp>
        <p:nvSpPr>
          <p:cNvPr id="28" name="Challenge title 3"/>
          <p:cNvSpPr txBox="1"/>
          <p:nvPr/>
        </p:nvSpPr>
        <p:spPr>
          <a:xfrm>
            <a:off x="6485839" y="544068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Climate change</a:t>
            </a:r>
          </a:p>
        </p:txBody>
      </p:sp>
      <p:sp>
        <p:nvSpPr>
          <p:cNvPr id="29" name="Challenge caption 3"/>
          <p:cNvSpPr txBox="1"/>
          <p:nvPr/>
        </p:nvSpPr>
        <p:spPr>
          <a:xfrm>
            <a:off x="6485839" y="571500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Heat, flooding and the need to decarbonize</a:t>
            </a:r>
          </a:p>
        </p:txBody>
      </p:sp>
      <p:sp>
        <p:nvSpPr>
          <p:cNvPr id="30" name="Challenge card 4"/>
          <p:cNvSpPr/>
          <p:nvPr/>
        </p:nvSpPr>
        <p:spPr>
          <a:xfrm>
            <a:off x="9064447" y="443484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31" name="Challenge icon 4 circle"/>
          <p:cNvSpPr/>
          <p:nvPr/>
        </p:nvSpPr>
        <p:spPr>
          <a:xfrm>
            <a:off x="9293047" y="470916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32" name="Challenge icon 4" descr=""/>
          <p:cNvPicPr>
            <a:picLocks noChangeAspect="1"/>
          </p:cNvPicPr>
          <p:nvPr/>
        </p:nvPicPr>
        <p:blipFill>
          <a:blip r:embed="rId5"/>
          <a:stretch>
            <a:fillRect/>
          </a:stretch>
        </p:blipFill>
        <p:spPr>
          <a:xfrm>
            <a:off x="9441637" y="4857750"/>
            <a:ext cx="297180" cy="297180"/>
          </a:xfrm>
          <a:prstGeom prst="rect">
            <a:avLst/>
          </a:prstGeom>
        </p:spPr>
      </p:pic>
      <p:sp>
        <p:nvSpPr>
          <p:cNvPr id="33" name="Challenge title 4"/>
          <p:cNvSpPr txBox="1"/>
          <p:nvPr/>
        </p:nvSpPr>
        <p:spPr>
          <a:xfrm>
            <a:off x="9293047" y="544068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Polycrises</a:t>
            </a:r>
          </a:p>
        </p:txBody>
      </p:sp>
      <p:sp>
        <p:nvSpPr>
          <p:cNvPr id="34" name="Challenge caption 4"/>
          <p:cNvSpPr txBox="1"/>
          <p:nvPr/>
        </p:nvSpPr>
        <p:spPr>
          <a:xfrm>
            <a:off x="9293047" y="571500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Geopolitical and economic shocks worldwide</a:t>
            </a:r>
          </a:p>
        </p:txBody>
      </p:sp>
    </p:spTree>
    <p:extLst>
      <p:ext uri="{BB962C8B-B14F-4D97-AF65-F5344CB8AC3E}">
        <p14:creationId xmlns:p14="http://schemas.microsoft.com/office/powerpoint/2010/main" val="69831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03</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59280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8" name="Nav Vision"/>
          <p:cNvSpPr/>
          <p:nvPr/>
        </p:nvSpPr>
        <p:spPr>
          <a:xfrm>
            <a:off x="7253935" y="429768"/>
            <a:ext cx="86868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Vision</a:t>
            </a:r>
          </a:p>
        </p:txBody>
      </p:sp>
      <p:sp>
        <p:nvSpPr>
          <p:cNvPr id="9" name="Nav Mission"/>
          <p:cNvSpPr/>
          <p:nvPr/>
        </p:nvSpPr>
        <p:spPr>
          <a:xfrm>
            <a:off x="81226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 name="Nav Topics"/>
          <p:cNvSpPr/>
          <p:nvPr/>
        </p:nvSpPr>
        <p:spPr>
          <a:xfrm>
            <a:off x="91284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Nav Editorial Board"/>
          <p:cNvSpPr/>
          <p:nvPr/>
        </p:nvSpPr>
        <p:spPr>
          <a:xfrm>
            <a:off x="10042855" y="429768"/>
            <a:ext cx="16002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Editorial Board</a:t>
            </a:r>
          </a:p>
        </p:txBody>
      </p:sp>
      <p:sp>
        <p:nvSpPr>
          <p:cNvPr id="12"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WHERE WE AIM TO BE</a:t>
            </a:r>
          </a:p>
        </p:txBody>
      </p:sp>
      <p:sp>
        <p:nvSpPr>
          <p:cNvPr id="13"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Vision</a:t>
            </a:r>
          </a:p>
        </p:txBody>
      </p:sp>
      <p:sp>
        <p:nvSpPr>
          <p:cNvPr id="14" name="Vision statement"/>
          <p:cNvSpPr txBox="1"/>
          <p:nvPr/>
        </p:nvSpPr>
        <p:spPr>
          <a:xfrm>
            <a:off x="548640" y="2377440"/>
            <a:ext cx="11094415" cy="13716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A world-class international journal based in China, </a:t>
            </a:r>
            <a:r>
              <a:rPr lang="en-US" altLang="zh-CN" sz="2000" b="0" i="0" dirty="0">
                <a:solidFill>
                  <a:srgbClr val="1E1E2E"/>
                </a:solidFill>
                <a:latin typeface="Arial"/>
                <a:ea typeface="Microsoft YaHei"/>
                <a:cs typeface="Arial"/>
              </a:rPr>
              <a:t>led by an international, interdisciplinary, and intergenerational team of leading scholars, and dedicated to advancing scientific discovery and technological innovation to diagnose and dissect urban challenges and devise innovative solutions for cities worldwide.</a:t>
            </a:r>
          </a:p>
        </p:txBody>
      </p:sp>
      <p:sp>
        <p:nvSpPr>
          <p:cNvPr id="15" name="Team card 1"/>
          <p:cNvSpPr/>
          <p:nvPr/>
        </p:nvSpPr>
        <p:spPr>
          <a:xfrm>
            <a:off x="548640" y="40690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6" name="Team icon 1 circle"/>
          <p:cNvSpPr/>
          <p:nvPr/>
        </p:nvSpPr>
        <p:spPr>
          <a:xfrm>
            <a:off x="777240" y="43251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7" name="Team icon 1" descr=""/>
          <p:cNvPicPr>
            <a:picLocks noChangeAspect="1"/>
          </p:cNvPicPr>
          <p:nvPr/>
        </p:nvPicPr>
        <p:blipFill>
          <a:blip r:embed="rId2"/>
          <a:stretch>
            <a:fillRect/>
          </a:stretch>
        </p:blipFill>
        <p:spPr>
          <a:xfrm>
            <a:off x="925830" y="4473702"/>
            <a:ext cx="297180" cy="297180"/>
          </a:xfrm>
          <a:prstGeom prst="rect">
            <a:avLst/>
          </a:prstGeom>
        </p:spPr>
      </p:pic>
      <p:sp>
        <p:nvSpPr>
          <p:cNvPr id="18" name="Team title 1"/>
          <p:cNvSpPr txBox="1"/>
          <p:nvPr/>
        </p:nvSpPr>
        <p:spPr>
          <a:xfrm>
            <a:off x="777240" y="50749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International</a:t>
            </a:r>
          </a:p>
        </p:txBody>
      </p:sp>
      <p:sp>
        <p:nvSpPr>
          <p:cNvPr id="19" name="Team caption 1"/>
          <p:cNvSpPr txBox="1"/>
          <p:nvPr/>
        </p:nvSpPr>
        <p:spPr>
          <a:xfrm>
            <a:off x="777240" y="54223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Editors and authors from leading institutions worldwide</a:t>
            </a:r>
          </a:p>
        </p:txBody>
      </p:sp>
      <p:sp>
        <p:nvSpPr>
          <p:cNvPr id="20" name="Team card 2"/>
          <p:cNvSpPr/>
          <p:nvPr/>
        </p:nvSpPr>
        <p:spPr>
          <a:xfrm>
            <a:off x="3108960" y="40690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1" name="Team icon 2 circle"/>
          <p:cNvSpPr/>
          <p:nvPr/>
        </p:nvSpPr>
        <p:spPr>
          <a:xfrm>
            <a:off x="3337560" y="43251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2" name="Team icon 2" descr=""/>
          <p:cNvPicPr>
            <a:picLocks noChangeAspect="1"/>
          </p:cNvPicPr>
          <p:nvPr/>
        </p:nvPicPr>
        <p:blipFill>
          <a:blip r:embed="rId3"/>
          <a:stretch>
            <a:fillRect/>
          </a:stretch>
        </p:blipFill>
        <p:spPr>
          <a:xfrm>
            <a:off x="3486150" y="4473702"/>
            <a:ext cx="297180" cy="297180"/>
          </a:xfrm>
          <a:prstGeom prst="rect">
            <a:avLst/>
          </a:prstGeom>
        </p:spPr>
      </p:pic>
      <p:sp>
        <p:nvSpPr>
          <p:cNvPr id="23" name="Team title 2"/>
          <p:cNvSpPr txBox="1"/>
          <p:nvPr/>
        </p:nvSpPr>
        <p:spPr>
          <a:xfrm>
            <a:off x="3337560" y="50749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Interdisciplinary</a:t>
            </a:r>
          </a:p>
        </p:txBody>
      </p:sp>
      <p:sp>
        <p:nvSpPr>
          <p:cNvPr id="24" name="Team caption 2"/>
          <p:cNvSpPr txBox="1"/>
          <p:nvPr/>
        </p:nvSpPr>
        <p:spPr>
          <a:xfrm>
            <a:off x="3337560" y="54223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Engineering, technology, governance and climate science</a:t>
            </a:r>
          </a:p>
        </p:txBody>
      </p:sp>
      <p:sp>
        <p:nvSpPr>
          <p:cNvPr id="25" name="Team card 3"/>
          <p:cNvSpPr/>
          <p:nvPr/>
        </p:nvSpPr>
        <p:spPr>
          <a:xfrm>
            <a:off x="5669280" y="40690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6" name="Team icon 3 circle"/>
          <p:cNvSpPr/>
          <p:nvPr/>
        </p:nvSpPr>
        <p:spPr>
          <a:xfrm>
            <a:off x="5897880" y="43251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7" name="Team icon 3" descr=""/>
          <p:cNvPicPr>
            <a:picLocks noChangeAspect="1"/>
          </p:cNvPicPr>
          <p:nvPr/>
        </p:nvPicPr>
        <p:blipFill>
          <a:blip r:embed="rId4"/>
          <a:stretch>
            <a:fillRect/>
          </a:stretch>
        </p:blipFill>
        <p:spPr>
          <a:xfrm>
            <a:off x="6046470" y="4473702"/>
            <a:ext cx="297180" cy="297180"/>
          </a:xfrm>
          <a:prstGeom prst="rect">
            <a:avLst/>
          </a:prstGeom>
        </p:spPr>
      </p:pic>
      <p:sp>
        <p:nvSpPr>
          <p:cNvPr id="28" name="Team title 3"/>
          <p:cNvSpPr txBox="1"/>
          <p:nvPr/>
        </p:nvSpPr>
        <p:spPr>
          <a:xfrm>
            <a:off x="5897880" y="50749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Intergenerational</a:t>
            </a:r>
          </a:p>
        </p:txBody>
      </p:sp>
      <p:sp>
        <p:nvSpPr>
          <p:cNvPr id="29" name="Team caption 3"/>
          <p:cNvSpPr txBox="1"/>
          <p:nvPr/>
        </p:nvSpPr>
        <p:spPr>
          <a:xfrm>
            <a:off x="5897880" y="54223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Leading scholars together with emerging researchers</a:t>
            </a:r>
          </a:p>
        </p:txBody>
      </p:sp>
      <p:sp>
        <p:nvSpPr>
          <p:cNvPr id="30" name="Approach panel"/>
          <p:cNvSpPr/>
          <p:nvPr/>
        </p:nvSpPr>
        <p:spPr>
          <a:xfrm>
            <a:off x="8229600" y="4069080"/>
            <a:ext cx="3413455" cy="2148840"/>
          </a:xfrm>
          <a:prstGeom prst="roundRect">
            <a:avLst>
              <a:gd name="adj" fmla="val 6000"/>
            </a:avLst>
          </a:prstGeom>
          <a:solidFill>
            <a:srgbClr val="4245AF"/>
          </a:solidFill>
          <a:ln>
            <a:noFill/>
          </a:ln>
        </p:spPr>
        <p:txBody>
          <a:bodyPr wrap="square" lIns="0" tIns="0" rIns="0" bIns="0" anchor="t" rtlCol="0">
            <a:normAutofit/>
          </a:bodyPr>
          <a:lstStyle/>
          <a:p>
            <a:endParaRPr lang="en-US"/>
          </a:p>
        </p:txBody>
      </p:sp>
      <p:sp>
        <p:nvSpPr>
          <p:cNvPr id="31" name="Approach kicker"/>
          <p:cNvSpPr txBox="1"/>
          <p:nvPr/>
        </p:nvSpPr>
        <p:spPr>
          <a:xfrm>
            <a:off x="8549640" y="4297680"/>
            <a:ext cx="2864815" cy="274320"/>
          </a:xfrm>
          <a:prstGeom prst="rect">
            <a:avLst/>
          </a:prstGeom>
          <a:noFill/>
          <a:ln>
            <a:noFill/>
          </a:ln>
        </p:spPr>
        <p:txBody>
          <a:bodyPr wrap="square" lIns="0" tIns="0" rIns="0" bIns="0" anchor="t" rtlCol="0">
            <a:normAutofit/>
          </a:bodyPr>
          <a:lstStyle/>
          <a:p>
            <a:pPr algn="l">
              <a:spcAft>
                <a:spcPts val="0"/>
              </a:spcAft>
              <a:buNone/>
            </a:pPr>
            <a:r>
              <a:rPr lang="en-US" altLang="zh-CN" sz="1100" b="1" i="0" spc="100" dirty="0">
                <a:solidFill>
                  <a:srgbClr val="F6B26B"/>
                </a:solidFill>
                <a:latin typeface="Arial"/>
                <a:ea typeface="Microsoft YaHei"/>
                <a:cs typeface="Arial"/>
              </a:rPr>
              <a:t>FROM DISCOVERY TO SOLUTIONS</a:t>
            </a:r>
          </a:p>
        </p:txBody>
      </p:sp>
      <p:sp>
        <p:nvSpPr>
          <p:cNvPr id="32" name="Step number 1"/>
          <p:cNvSpPr txBox="1"/>
          <p:nvPr/>
        </p:nvSpPr>
        <p:spPr>
          <a:xfrm>
            <a:off x="8549640" y="4690872"/>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01</a:t>
            </a:r>
          </a:p>
        </p:txBody>
      </p:sp>
      <p:sp>
        <p:nvSpPr>
          <p:cNvPr id="33" name="Step text 1"/>
          <p:cNvSpPr txBox="1"/>
          <p:nvPr/>
        </p:nvSpPr>
        <p:spPr>
          <a:xfrm>
            <a:off x="9098280" y="4690872"/>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Diagnose </a:t>
            </a:r>
            <a:r>
              <a:rPr lang="en-US" altLang="zh-CN" sz="1200" b="0" i="0" dirty="0">
                <a:solidFill>
                  <a:srgbClr val="D9DAF5"/>
                </a:solidFill>
                <a:latin typeface="Arial"/>
                <a:ea typeface="Microsoft YaHei"/>
                <a:cs typeface="Arial"/>
              </a:rPr>
              <a:t>urban challenges</a:t>
            </a:r>
          </a:p>
        </p:txBody>
      </p:sp>
      <p:sp>
        <p:nvSpPr>
          <p:cNvPr id="34" name="Step number 2"/>
          <p:cNvSpPr txBox="1"/>
          <p:nvPr/>
        </p:nvSpPr>
        <p:spPr>
          <a:xfrm>
            <a:off x="8549640" y="5184648"/>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02</a:t>
            </a:r>
          </a:p>
        </p:txBody>
      </p:sp>
      <p:sp>
        <p:nvSpPr>
          <p:cNvPr id="35" name="Step text 2"/>
          <p:cNvSpPr txBox="1"/>
          <p:nvPr/>
        </p:nvSpPr>
        <p:spPr>
          <a:xfrm>
            <a:off x="9098280" y="5184648"/>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Dissect </a:t>
            </a:r>
            <a:r>
              <a:rPr lang="en-US" altLang="zh-CN" sz="1200" b="0" i="0" dirty="0">
                <a:solidFill>
                  <a:srgbClr val="D9DAF5"/>
                </a:solidFill>
                <a:latin typeface="Arial"/>
                <a:ea typeface="Microsoft YaHei"/>
                <a:cs typeface="Arial"/>
              </a:rPr>
              <a:t>their causes and interactions</a:t>
            </a:r>
          </a:p>
        </p:txBody>
      </p:sp>
      <p:sp>
        <p:nvSpPr>
          <p:cNvPr id="36" name="Step number 3"/>
          <p:cNvSpPr txBox="1"/>
          <p:nvPr/>
        </p:nvSpPr>
        <p:spPr>
          <a:xfrm>
            <a:off x="8549640" y="5678424"/>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03</a:t>
            </a:r>
          </a:p>
        </p:txBody>
      </p:sp>
      <p:sp>
        <p:nvSpPr>
          <p:cNvPr id="37" name="Step text 3"/>
          <p:cNvSpPr txBox="1"/>
          <p:nvPr/>
        </p:nvSpPr>
        <p:spPr>
          <a:xfrm>
            <a:off x="9098280" y="5678424"/>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Devise </a:t>
            </a:r>
            <a:r>
              <a:rPr lang="en-US" altLang="zh-CN" sz="1200" b="0" i="0" dirty="0">
                <a:solidFill>
                  <a:srgbClr val="D9DAF5"/>
                </a:solidFill>
                <a:latin typeface="Arial"/>
                <a:ea typeface="Microsoft YaHei"/>
                <a:cs typeface="Arial"/>
              </a:rPr>
              <a:t>innovative solutions for cities</a:t>
            </a:r>
          </a:p>
        </p:txBody>
      </p:sp>
    </p:spTree>
    <p:extLst>
      <p:ext uri="{BB962C8B-B14F-4D97-AF65-F5344CB8AC3E}">
        <p14:creationId xmlns:p14="http://schemas.microsoft.com/office/powerpoint/2010/main" val="528369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04</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59280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8" name="Nav Vision"/>
          <p:cNvSpPr/>
          <p:nvPr/>
        </p:nvSpPr>
        <p:spPr>
          <a:xfrm>
            <a:off x="72539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9" name="Nav Mission"/>
          <p:cNvSpPr/>
          <p:nvPr/>
        </p:nvSpPr>
        <p:spPr>
          <a:xfrm>
            <a:off x="8122615" y="429768"/>
            <a:ext cx="100584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Mission</a:t>
            </a:r>
          </a:p>
        </p:txBody>
      </p:sp>
      <p:sp>
        <p:nvSpPr>
          <p:cNvPr id="10" name="Nav Topics"/>
          <p:cNvSpPr/>
          <p:nvPr/>
        </p:nvSpPr>
        <p:spPr>
          <a:xfrm>
            <a:off x="91284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Nav Editorial Board"/>
          <p:cNvSpPr/>
          <p:nvPr/>
        </p:nvSpPr>
        <p:spPr>
          <a:xfrm>
            <a:off x="10042855" y="429768"/>
            <a:ext cx="16002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Editorial Board</a:t>
            </a:r>
          </a:p>
        </p:txBody>
      </p:sp>
      <p:sp>
        <p:nvSpPr>
          <p:cNvPr id="12"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WILL DO</a:t>
            </a:r>
          </a:p>
        </p:txBody>
      </p:sp>
      <p:sp>
        <p:nvSpPr>
          <p:cNvPr id="13"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Mission</a:t>
            </a:r>
          </a:p>
        </p:txBody>
      </p:sp>
      <p:sp>
        <p:nvSpPr>
          <p:cNvPr id="14" name="Mission statement"/>
          <p:cNvSpPr txBox="1"/>
          <p:nvPr/>
        </p:nvSpPr>
        <p:spPr>
          <a:xfrm>
            <a:off x="548640" y="2286000"/>
            <a:ext cx="11094415" cy="11430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1800" b="0" i="0" dirty="0">
                <a:solidFill>
                  <a:srgbClr val="1E1E2E"/>
                </a:solidFill>
                <a:latin typeface="Arial"/>
                <a:ea typeface="Microsoft YaHei"/>
                <a:cs typeface="Arial"/>
              </a:rPr>
              <a:t xml:space="preserve">The journal’s mission is to establish a </a:t>
            </a:r>
            <a:r>
              <a:rPr lang="en-US" altLang="zh-CN" sz="1800" b="1" i="0" dirty="0">
                <a:solidFill>
                  <a:srgbClr val="4245AF"/>
                </a:solidFill>
                <a:latin typeface="Arial"/>
                <a:ea typeface="Microsoft YaHei"/>
                <a:cs typeface="Arial"/>
              </a:rPr>
              <a:t>distinctive and authoritative international forum</a:t>
            </a:r>
            <a:r>
              <a:rPr lang="en-US" altLang="zh-CN" sz="1800" b="0" i="0" dirty="0">
                <a:solidFill>
                  <a:srgbClr val="1E1E2E"/>
                </a:solidFill>
                <a:latin typeface="Arial"/>
                <a:ea typeface="Microsoft YaHei"/>
                <a:cs typeface="Arial"/>
              </a:rPr>
              <a:t xml:space="preserve"> for pioneering interdisciplinary scholarship on the interdependent challenges of urban infrastructure, technological transformation, governance, and climate action.</a:t>
            </a:r>
          </a:p>
        </p:txBody>
      </p:sp>
      <p:sp>
        <p:nvSpPr>
          <p:cNvPr id="15" name="Goal card 1"/>
          <p:cNvSpPr/>
          <p:nvPr/>
        </p:nvSpPr>
        <p:spPr>
          <a:xfrm>
            <a:off x="548640"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6" name="Goal number 1"/>
          <p:cNvSpPr/>
          <p:nvPr/>
        </p:nvSpPr>
        <p:spPr>
          <a:xfrm>
            <a:off x="749808"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01</a:t>
            </a:r>
          </a:p>
        </p:txBody>
      </p:sp>
      <p:sp>
        <p:nvSpPr>
          <p:cNvPr id="17" name="Goal text 1"/>
          <p:cNvSpPr txBox="1"/>
          <p:nvPr/>
        </p:nvSpPr>
        <p:spPr>
          <a:xfrm>
            <a:off x="749808"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interdisciplinary scientific understanding of cities</a:t>
            </a:r>
          </a:p>
        </p:txBody>
      </p:sp>
      <p:sp>
        <p:nvSpPr>
          <p:cNvPr id="18" name="Goal card 2"/>
          <p:cNvSpPr/>
          <p:nvPr/>
        </p:nvSpPr>
        <p:spPr>
          <a:xfrm>
            <a:off x="3379394"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9" name="Goal number 2"/>
          <p:cNvSpPr/>
          <p:nvPr/>
        </p:nvSpPr>
        <p:spPr>
          <a:xfrm>
            <a:off x="3580562"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02</a:t>
            </a:r>
          </a:p>
        </p:txBody>
      </p:sp>
      <p:sp>
        <p:nvSpPr>
          <p:cNvPr id="20" name="Goal text 2"/>
          <p:cNvSpPr txBox="1"/>
          <p:nvPr/>
        </p:nvSpPr>
        <p:spPr>
          <a:xfrm>
            <a:off x="3580562"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Promote innovation in urban infrastructure and engineering</a:t>
            </a:r>
          </a:p>
        </p:txBody>
      </p:sp>
      <p:sp>
        <p:nvSpPr>
          <p:cNvPr id="21" name="Goal card 3"/>
          <p:cNvSpPr/>
          <p:nvPr/>
        </p:nvSpPr>
        <p:spPr>
          <a:xfrm>
            <a:off x="6210148"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2" name="Goal number 3"/>
          <p:cNvSpPr/>
          <p:nvPr/>
        </p:nvSpPr>
        <p:spPr>
          <a:xfrm>
            <a:off x="6411316"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03</a:t>
            </a:r>
          </a:p>
        </p:txBody>
      </p:sp>
      <p:sp>
        <p:nvSpPr>
          <p:cNvPr id="23" name="Goal text 3"/>
          <p:cNvSpPr txBox="1"/>
          <p:nvPr/>
        </p:nvSpPr>
        <p:spPr>
          <a:xfrm>
            <a:off x="6411316"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Enable technological transformation of urban systems</a:t>
            </a:r>
          </a:p>
        </p:txBody>
      </p:sp>
      <p:sp>
        <p:nvSpPr>
          <p:cNvPr id="24" name="Goal card 4"/>
          <p:cNvSpPr/>
          <p:nvPr/>
        </p:nvSpPr>
        <p:spPr>
          <a:xfrm>
            <a:off x="9040901"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5" name="Goal number 4"/>
          <p:cNvSpPr/>
          <p:nvPr/>
        </p:nvSpPr>
        <p:spPr>
          <a:xfrm>
            <a:off x="9242069"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04</a:t>
            </a:r>
          </a:p>
        </p:txBody>
      </p:sp>
      <p:sp>
        <p:nvSpPr>
          <p:cNvPr id="26" name="Goal text 4"/>
          <p:cNvSpPr txBox="1"/>
          <p:nvPr/>
        </p:nvSpPr>
        <p:spPr>
          <a:xfrm>
            <a:off x="9242069"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urban climate action and environmental resilience</a:t>
            </a:r>
          </a:p>
        </p:txBody>
      </p:sp>
      <p:sp>
        <p:nvSpPr>
          <p:cNvPr id="27" name="Goal card 5"/>
          <p:cNvSpPr/>
          <p:nvPr/>
        </p:nvSpPr>
        <p:spPr>
          <a:xfrm>
            <a:off x="548640" y="51389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8" name="Goal number 5"/>
          <p:cNvSpPr/>
          <p:nvPr/>
        </p:nvSpPr>
        <p:spPr>
          <a:xfrm>
            <a:off x="749808" y="53035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05</a:t>
            </a:r>
          </a:p>
        </p:txBody>
      </p:sp>
      <p:sp>
        <p:nvSpPr>
          <p:cNvPr id="29" name="Goal text 5"/>
          <p:cNvSpPr txBox="1"/>
          <p:nvPr/>
        </p:nvSpPr>
        <p:spPr>
          <a:xfrm>
            <a:off x="749808"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Understand how governance enables or constrains urban innovation</a:t>
            </a:r>
          </a:p>
        </p:txBody>
      </p:sp>
      <p:sp>
        <p:nvSpPr>
          <p:cNvPr id="30" name="Goal card 6"/>
          <p:cNvSpPr/>
          <p:nvPr/>
        </p:nvSpPr>
        <p:spPr>
          <a:xfrm>
            <a:off x="3379394" y="51389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1" name="Goal number 6"/>
          <p:cNvSpPr/>
          <p:nvPr/>
        </p:nvSpPr>
        <p:spPr>
          <a:xfrm>
            <a:off x="3580562" y="53035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06</a:t>
            </a:r>
          </a:p>
        </p:txBody>
      </p:sp>
      <p:sp>
        <p:nvSpPr>
          <p:cNvPr id="32" name="Goal text 6"/>
          <p:cNvSpPr txBox="1"/>
          <p:nvPr/>
        </p:nvSpPr>
        <p:spPr>
          <a:xfrm>
            <a:off x="3580562"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Generate comparative evidence and contextually responsive solutions</a:t>
            </a:r>
          </a:p>
        </p:txBody>
      </p:sp>
      <p:sp>
        <p:nvSpPr>
          <p:cNvPr id="33" name="Goal card 7"/>
          <p:cNvSpPr/>
          <p:nvPr/>
        </p:nvSpPr>
        <p:spPr>
          <a:xfrm>
            <a:off x="6210148" y="51389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4" name="Goal number 7"/>
          <p:cNvSpPr/>
          <p:nvPr/>
        </p:nvSpPr>
        <p:spPr>
          <a:xfrm>
            <a:off x="6411316" y="53035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07</a:t>
            </a:r>
          </a:p>
        </p:txBody>
      </p:sp>
      <p:sp>
        <p:nvSpPr>
          <p:cNvPr id="35" name="Goal text 7"/>
          <p:cNvSpPr txBox="1"/>
          <p:nvPr/>
        </p:nvSpPr>
        <p:spPr>
          <a:xfrm>
            <a:off x="6411316"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Accelerate translation from discovery to application</a:t>
            </a:r>
          </a:p>
        </p:txBody>
      </p:sp>
      <p:sp>
        <p:nvSpPr>
          <p:cNvPr id="36" name="Goal card 8"/>
          <p:cNvSpPr/>
          <p:nvPr/>
        </p:nvSpPr>
        <p:spPr>
          <a:xfrm>
            <a:off x="9040901" y="5138928"/>
            <a:ext cx="2602154" cy="1325880"/>
          </a:xfrm>
          <a:prstGeom prst="roundRect">
            <a:avLst>
              <a:gd name="adj" fmla="val 7000"/>
            </a:avLst>
          </a:prstGeom>
          <a:solidFill>
            <a:srgbClr val="4245AF"/>
          </a:solidFill>
          <a:ln>
            <a:noFill/>
          </a:ln>
        </p:spPr>
        <p:txBody>
          <a:bodyPr wrap="square" lIns="0" tIns="0" rIns="0" bIns="0" anchor="t" rtlCol="0">
            <a:normAutofit/>
          </a:bodyPr>
          <a:lstStyle/>
          <a:p>
            <a:endParaRPr lang="en-US"/>
          </a:p>
        </p:txBody>
      </p:sp>
      <p:sp>
        <p:nvSpPr>
          <p:cNvPr id="37" name="Goal number 8"/>
          <p:cNvSpPr/>
          <p:nvPr/>
        </p:nvSpPr>
        <p:spPr>
          <a:xfrm>
            <a:off x="9242069" y="5303520"/>
            <a:ext cx="420624" cy="420624"/>
          </a:xfrm>
          <a:prstGeom prst="ellipse">
            <a:avLst/>
          </a:prstGeom>
          <a:solidFill>
            <a:srgbClr val="FFFFFF"/>
          </a:solidFill>
          <a:ln>
            <a:noFill/>
          </a:ln>
        </p:spPr>
        <p:txBody>
          <a:bodyPr wrap="square" lIns="0" tIns="0" rIns="0" bIns="0" anchor="ctr" rtlCol="0">
            <a:normAutofit/>
          </a:bodyPr>
          <a:lstStyle/>
          <a:p>
            <a:pPr algn="ctr">
              <a:spcAft>
                <a:spcPts val="0"/>
              </a:spcAft>
              <a:buNone/>
            </a:pPr>
            <a:r>
              <a:rPr lang="en-US" altLang="zh-CN" sz="1300" b="1" i="0" dirty="0">
                <a:solidFill>
                  <a:srgbClr val="4245AF"/>
                </a:solidFill>
                <a:latin typeface="Arial"/>
                <a:ea typeface="Microsoft YaHei"/>
                <a:cs typeface="Arial"/>
              </a:rPr>
              <a:t>08</a:t>
            </a:r>
          </a:p>
        </p:txBody>
      </p:sp>
      <p:sp>
        <p:nvSpPr>
          <p:cNvPr id="38" name="Goal text 8"/>
          <p:cNvSpPr txBox="1"/>
          <p:nvPr/>
        </p:nvSpPr>
        <p:spPr>
          <a:xfrm>
            <a:off x="9242069"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FFFFFF"/>
                </a:solidFill>
                <a:latin typeface="Arial"/>
                <a:ea typeface="Microsoft YaHei"/>
                <a:cs typeface="Arial"/>
              </a:rPr>
              <a:t>Build a global community for urban innovation</a:t>
            </a:r>
          </a:p>
        </p:txBody>
      </p:sp>
    </p:spTree>
    <p:extLst>
      <p:ext uri="{BB962C8B-B14F-4D97-AF65-F5344CB8AC3E}">
        <p14:creationId xmlns:p14="http://schemas.microsoft.com/office/powerpoint/2010/main" val="406266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D9B29-DB17-AC6B-B91E-29C8480A2B52}"/>
            </a:ext>
          </a:extLst>
        </p:cNvPr>
        <p:cNvGrpSpPr/>
        <p:nvPr/>
      </p:nvGrpSpPr>
      <p:grpSpPr>
        <a:xfrm>
          <a:off x="0" y="0"/>
          <a:ext cx="0" cy="0"/>
          <a:chOff x="0" y="0"/>
          <a:chExt cx="0" cy="0"/>
        </a:xfrm>
      </p:grpSpPr>
      <p:sp>
        <p:nvSpPr>
          <p:cNvPr id="101"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102"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103"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05</a:t>
            </a:r>
          </a:p>
        </p:txBody>
      </p:sp>
      <p:sp>
        <p:nvSpPr>
          <p:cNvPr id="104"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105"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106" name="Nav Background"/>
          <p:cNvSpPr/>
          <p:nvPr/>
        </p:nvSpPr>
        <p:spPr>
          <a:xfrm>
            <a:off x="59280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107" name="Nav Vision"/>
          <p:cNvSpPr/>
          <p:nvPr/>
        </p:nvSpPr>
        <p:spPr>
          <a:xfrm>
            <a:off x="72539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108" name="Nav Mission"/>
          <p:cNvSpPr/>
          <p:nvPr/>
        </p:nvSpPr>
        <p:spPr>
          <a:xfrm>
            <a:off x="81226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9" name="Nav Topics"/>
          <p:cNvSpPr/>
          <p:nvPr/>
        </p:nvSpPr>
        <p:spPr>
          <a:xfrm>
            <a:off x="9128455" y="429768"/>
            <a:ext cx="91440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Topics</a:t>
            </a:r>
          </a:p>
        </p:txBody>
      </p:sp>
      <p:sp>
        <p:nvSpPr>
          <p:cNvPr id="110" name="Nav Editorial Board"/>
          <p:cNvSpPr/>
          <p:nvPr/>
        </p:nvSpPr>
        <p:spPr>
          <a:xfrm>
            <a:off x="10042855" y="429768"/>
            <a:ext cx="16002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Editorial Board</a:t>
            </a:r>
          </a:p>
        </p:txBody>
      </p:sp>
      <p:sp>
        <p:nvSpPr>
          <p:cNvPr id="111"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PUBLISH</a:t>
            </a:r>
          </a:p>
        </p:txBody>
      </p:sp>
      <p:sp>
        <p:nvSpPr>
          <p:cNvPr id="112"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Topics of Interest</a:t>
            </a:r>
          </a:p>
        </p:txBody>
      </p:sp>
      <p:graphicFrame>
        <p:nvGraphicFramePr>
          <p:cNvPr id="4" name="表格 3">
            <a:extLst>
              <a:ext uri="{FF2B5EF4-FFF2-40B4-BE49-F238E27FC236}">
                <a16:creationId xmlns:a16="http://schemas.microsoft.com/office/drawing/2014/main" id="{C00B6AD1-662E-E372-1EE6-EB1C7ECCD650}"/>
              </a:ext>
            </a:extLst>
          </p:cNvPr>
          <p:cNvGraphicFramePr>
            <a:graphicFrameLocks noGrp="1"/>
          </p:cNvGraphicFramePr>
          <p:nvPr>
            <p:extLst>
              <p:ext uri="{D42A27DB-BD31-4B8C-83A1-F6EECF244321}">
                <p14:modId xmlns:p14="http://schemas.microsoft.com/office/powerpoint/2010/main" val="3029594399"/>
              </p:ext>
            </p:extLst>
          </p:nvPr>
        </p:nvGraphicFramePr>
        <p:xfrm>
          <a:off x="548640" y="2331720"/>
          <a:ext cx="11094415" cy="416052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1018197210"/>
                    </a:ext>
                  </a:extLst>
                </a:gridCol>
                <a:gridCol w="7528255">
                  <a:extLst>
                    <a:ext uri="{9D8B030D-6E8A-4147-A177-3AD203B41FA5}">
                      <a16:colId xmlns:a16="http://schemas.microsoft.com/office/drawing/2014/main" val="1709403564"/>
                    </a:ext>
                  </a:extLst>
                </a:gridCol>
              </a:tblGrid>
              <a:tr h="384048">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Topics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Examples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extLst>
                  <a:ext uri="{0D108BD9-81ED-4DB2-BD59-A6C34878D82A}">
                    <a16:rowId xmlns:a16="http://schemas.microsoft.com/office/drawing/2014/main" val="57648298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Infrastructure and Engineering</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Renewal of aging urban infrastructure; engineering solutions for dense urban environments; coordinated design and operation of urban infrastructure networks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3496641808"/>
                  </a:ext>
                </a:extLst>
              </a:tr>
              <a:tr h="462280">
                <a:tc>
                  <a:txBody>
                    <a:bodyPr/>
                    <a:lstStyle/>
                    <a:p>
                      <a:pPr algn="l" fontAlgn="ctr">
                        <a:buNone/>
                      </a:pPr>
                      <a:r>
                        <a:rPr lang="zh-CN" sz="1300" b="1" i="0" u="none" strike="noStrike">
                          <a:solidFill>
                            <a:srgbClr val="2E3192"/>
                          </a:solidFill>
                          <a:effectLst/>
                          <a:latin typeface="Arial"/>
                          <a:ea typeface="等线" panose="02010600030101010101" pitchFamily="2" charset="-122"/>
                          <a:cs typeface="Arial"/>
                        </a:rPr>
                        <a:t>Urban Technologies and Intelligent Systems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City-scale sensing and digital twins; AI and robotics for urban services and infrastructure operations; development and validation of technologies in urban settings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254080113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Climate Action and Urban Resilience</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en-US" altLang="zh-CN" sz="1150" b="0" i="0" u="none" strike="noStrike" kern="1200" dirty="0">
                          <a:solidFill>
                            <a:srgbClr val="1E1E2E"/>
                          </a:solidFill>
                          <a:effectLst/>
                          <a:latin typeface="Arial"/>
                          <a:ea typeface="等线" panose="02010600030101010101" pitchFamily="2" charset="-122"/>
                          <a:cs typeface="Arial"/>
                        </a:rPr>
                        <a:t>Urban heat and flood risks; adaptation through urban design, infrastructure, and nature-based solutions; decarbonization pathways for cities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417384921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Buildings, Energy, and the Built Environment</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zh-CN" sz="1150" b="0" i="0" u="none" strike="noStrike" kern="1200" dirty="0">
                          <a:solidFill>
                            <a:srgbClr val="1E1E2E"/>
                          </a:solidFill>
                          <a:effectLst/>
                          <a:latin typeface="Arial"/>
                          <a:ea typeface="等线" panose="02010600030101010101" pitchFamily="2" charset="-122"/>
                          <a:cs typeface="Arial"/>
                        </a:rPr>
                        <a:t>Effects of urban form and climate on building energy use;</a:t>
                      </a:r>
                      <a:r>
                        <a:rPr lang="en-US" altLang="zh-CN" sz="1150" b="0" i="0" u="none" strike="noStrike" kern="1200" dirty="0">
                          <a:solidFill>
                            <a:srgbClr val="1E1E2E"/>
                          </a:solidFill>
                          <a:effectLst/>
                          <a:latin typeface="Arial"/>
                          <a:ea typeface="等线" panose="02010600030101010101" pitchFamily="2" charset="-122"/>
                          <a:cs typeface="Arial"/>
                        </a:rPr>
                        <a:t> Building–neighbourhood–city energy interactions; urban retrofits; urban indoor–outdoor environmental quality</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457600358"/>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Mobility and Transportation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Interactions between urban form and mobility; integration of multimodal urban transport networks; effects of mobility innovations on accessibility, energy use, and emissions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253051452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Environment, Resources,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water–energy–waste linkages; circular resource flows within and across cities; relationships between urban form, environmental exposure,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3451591153"/>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Systems, Complexity, and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scaling and metabolism; cascading failures across interconnected urban networks; technological and infrastructural pathways of urban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131560744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Governance, Planning, and Policy for Urban Innovation</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Planning and regulation for urban technology deployment; governance of integrated infrastructure systems; evaluation and adaptation of innovations across diverse cities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965057857"/>
                  </a:ext>
                </a:extLst>
              </a:tr>
            </a:tbl>
          </a:graphicData>
        </a:graphic>
      </p:graphicFrame>
    </p:spTree>
    <p:extLst>
      <p:ext uri="{BB962C8B-B14F-4D97-AF65-F5344CB8AC3E}">
        <p14:creationId xmlns:p14="http://schemas.microsoft.com/office/powerpoint/2010/main" val="2515479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4437C89-EFC0-0A27-9684-FCFDFBF30DE1}"/>
              </a:ext>
            </a:extLst>
          </p:cNvPr>
          <p:cNvSpPr txBox="1"/>
          <p:nvPr/>
        </p:nvSpPr>
        <p:spPr>
          <a:xfrm>
            <a:off x="596181" y="672022"/>
            <a:ext cx="4976875"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Editor-in-Chief &amp; Working group </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733850B5-B224-5592-3648-6C1974902BCD}"/>
              </a:ext>
            </a:extLst>
          </p:cNvPr>
          <p:cNvSpPr txBox="1"/>
          <p:nvPr/>
        </p:nvSpPr>
        <p:spPr>
          <a:xfrm>
            <a:off x="2233331" y="3083082"/>
            <a:ext cx="2746265"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Prof. </a:t>
            </a:r>
            <a:r>
              <a:rPr lang="en-US" altLang="zh-CN" sz="2400" b="1" dirty="0" err="1">
                <a:latin typeface="Arial" panose="020B0604020202020204" pitchFamily="34" charset="0"/>
                <a:cs typeface="Arial" panose="020B0604020202020204" pitchFamily="34" charset="0"/>
              </a:rPr>
              <a:t>Shenjing</a:t>
            </a:r>
            <a:r>
              <a:rPr lang="en-US" altLang="zh-CN" sz="2400" b="1" dirty="0">
                <a:latin typeface="Arial" panose="020B0604020202020204" pitchFamily="34" charset="0"/>
                <a:cs typeface="Arial" panose="020B0604020202020204" pitchFamily="34" charset="0"/>
              </a:rPr>
              <a:t> He</a:t>
            </a:r>
            <a:endParaRPr lang="zh-CN" altLang="en-US" sz="2400" b="1" dirty="0">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B056DD10-C2F4-9869-E731-44FBB15AE9AC}"/>
              </a:ext>
            </a:extLst>
          </p:cNvPr>
          <p:cNvSpPr txBox="1"/>
          <p:nvPr/>
        </p:nvSpPr>
        <p:spPr>
          <a:xfrm>
            <a:off x="1013714" y="4628672"/>
            <a:ext cx="2433551"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Prof. Xiang Yan</a:t>
            </a:r>
            <a:endParaRPr lang="zh-CN" altLang="en-US" sz="2400" b="1" dirty="0">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90B690D4-085F-03C3-7C8C-B52709B7D190}"/>
              </a:ext>
            </a:extLst>
          </p:cNvPr>
          <p:cNvSpPr txBox="1"/>
          <p:nvPr/>
        </p:nvSpPr>
        <p:spPr>
          <a:xfrm>
            <a:off x="4494321" y="4628672"/>
            <a:ext cx="2853730"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Prof. </a:t>
            </a:r>
            <a:r>
              <a:rPr lang="en-US" altLang="zh-CN" sz="2400" b="1" dirty="0" err="1">
                <a:latin typeface="Arial" panose="020B0604020202020204" pitchFamily="34" charset="0"/>
                <a:cs typeface="Arial" panose="020B0604020202020204" pitchFamily="34" charset="0"/>
              </a:rPr>
              <a:t>Tianzuo</a:t>
            </a:r>
            <a:r>
              <a:rPr lang="en-US" altLang="zh-CN" sz="2400" b="1" dirty="0">
                <a:latin typeface="Arial" panose="020B0604020202020204" pitchFamily="34" charset="0"/>
                <a:cs typeface="Arial" panose="020B0604020202020204" pitchFamily="34" charset="0"/>
              </a:rPr>
              <a:t> Wen</a:t>
            </a:r>
          </a:p>
        </p:txBody>
      </p:sp>
      <p:sp>
        <p:nvSpPr>
          <p:cNvPr id="13" name="文本框 12">
            <a:extLst>
              <a:ext uri="{FF2B5EF4-FFF2-40B4-BE49-F238E27FC236}">
                <a16:creationId xmlns:a16="http://schemas.microsoft.com/office/drawing/2014/main" id="{BFB8132D-417D-01F9-B162-9E3F97D55B7B}"/>
              </a:ext>
            </a:extLst>
          </p:cNvPr>
          <p:cNvSpPr txBox="1"/>
          <p:nvPr/>
        </p:nvSpPr>
        <p:spPr>
          <a:xfrm>
            <a:off x="8335951" y="4628672"/>
            <a:ext cx="2057486"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Dr. </a:t>
            </a:r>
            <a:r>
              <a:rPr lang="en-US" altLang="zh-CN" sz="2400" b="1" dirty="0" err="1">
                <a:latin typeface="Arial" panose="020B0604020202020204" pitchFamily="34" charset="0"/>
                <a:cs typeface="Arial" panose="020B0604020202020204" pitchFamily="34" charset="0"/>
              </a:rPr>
              <a:t>Yutian</a:t>
            </a:r>
            <a:r>
              <a:rPr lang="en-US" altLang="zh-CN" sz="2400" b="1" dirty="0">
                <a:latin typeface="Arial" panose="020B0604020202020204" pitchFamily="34" charset="0"/>
                <a:cs typeface="Arial" panose="020B0604020202020204" pitchFamily="34" charset="0"/>
              </a:rPr>
              <a:t> Lu</a:t>
            </a:r>
            <a:endParaRPr lang="zh-CN" altLang="en-US" sz="2400" b="1" dirty="0">
              <a:latin typeface="Arial" panose="020B0604020202020204" pitchFamily="34" charset="0"/>
              <a:cs typeface="Arial" panose="020B0604020202020204" pitchFamily="34" charset="0"/>
            </a:endParaRPr>
          </a:p>
        </p:txBody>
      </p:sp>
      <p:sp>
        <p:nvSpPr>
          <p:cNvPr id="15" name="椭圆 14">
            <a:extLst>
              <a:ext uri="{FF2B5EF4-FFF2-40B4-BE49-F238E27FC236}">
                <a16:creationId xmlns:a16="http://schemas.microsoft.com/office/drawing/2014/main" id="{9EE514A6-51FB-1F26-5428-196DE3188FB5}"/>
              </a:ext>
            </a:extLst>
          </p:cNvPr>
          <p:cNvSpPr/>
          <p:nvPr>
            <p:custDataLst>
              <p:tags r:id="rId1"/>
            </p:custDataLst>
          </p:nvPr>
        </p:nvSpPr>
        <p:spPr>
          <a:xfrm>
            <a:off x="2788265" y="1446687"/>
            <a:ext cx="1636395" cy="1636395"/>
          </a:xfrm>
          <a:prstGeom prst="ellipse">
            <a:avLst/>
          </a:prstGeom>
          <a:blipFill rotWithShape="1">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005354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07</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59280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8" name="Nav Vision"/>
          <p:cNvSpPr/>
          <p:nvPr/>
        </p:nvSpPr>
        <p:spPr>
          <a:xfrm>
            <a:off x="72539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9" name="Nav Mission"/>
          <p:cNvSpPr/>
          <p:nvPr/>
        </p:nvSpPr>
        <p:spPr>
          <a:xfrm>
            <a:off x="81226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 name="Nav Topics"/>
          <p:cNvSpPr/>
          <p:nvPr/>
        </p:nvSpPr>
        <p:spPr>
          <a:xfrm>
            <a:off x="91284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Nav Editorial Board"/>
          <p:cNvSpPr/>
          <p:nvPr/>
        </p:nvSpPr>
        <p:spPr>
          <a:xfrm>
            <a:off x="10042855" y="429768"/>
            <a:ext cx="160020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Editorial Board</a:t>
            </a:r>
          </a:p>
        </p:txBody>
      </p:sp>
      <p:sp>
        <p:nvSpPr>
          <p:cNvPr id="12"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EDITORIAL BOARD MEMBERS</a:t>
            </a:r>
          </a:p>
        </p:txBody>
      </p:sp>
      <p:sp>
        <p:nvSpPr>
          <p:cNvPr id="13"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Editorial Board</a:t>
            </a:r>
          </a:p>
        </p:txBody>
      </p:sp>
      <p:sp>
        <p:nvSpPr>
          <p:cNvPr id="14" name="To be invited"/>
          <p:cNvSpPr txBox="1"/>
          <p:nvPr/>
        </p:nvSpPr>
        <p:spPr>
          <a:xfrm>
            <a:off x="6156655" y="1783080"/>
            <a:ext cx="5486400" cy="365760"/>
          </a:xfrm>
          <a:prstGeom prst="rect">
            <a:avLst/>
          </a:prstGeom>
          <a:noFill/>
          <a:ln>
            <a:noFill/>
          </a:ln>
        </p:spPr>
        <p:txBody>
          <a:bodyPr wrap="square" lIns="0" tIns="0" rIns="0" bIns="0" anchor="b" rtlCol="0">
            <a:normAutofit/>
          </a:bodyPr>
          <a:lstStyle/>
          <a:p>
            <a:pPr algn="r">
              <a:spcAft>
                <a:spcPts val="0"/>
              </a:spcAft>
              <a:buNone/>
            </a:pPr>
            <a:r>
              <a:rPr lang="en-US" altLang="zh-CN" sz="1200" b="0" i="1" dirty="0">
                <a:solidFill>
                  <a:srgbClr val="5B5D72"/>
                </a:solidFill>
                <a:latin typeface="Arial"/>
                <a:ea typeface="Microsoft YaHei"/>
                <a:cs typeface="Arial"/>
              </a:rPr>
              <a:t>More prospective Editorial Board members to be invited …</a:t>
            </a:r>
          </a:p>
        </p:txBody>
      </p:sp>
      <p:sp>
        <p:nvSpPr>
          <p:cNvPr id="15" name="Group Academicians"/>
          <p:cNvSpPr txBox="1"/>
          <p:nvPr/>
        </p:nvSpPr>
        <p:spPr>
          <a:xfrm>
            <a:off x="548640" y="2286000"/>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ACADEMICIANS</a:t>
            </a:r>
            <a:r>
              <a:rPr lang="en-US" altLang="zh-CN" sz="1100" b="1" i="0" dirty="0">
                <a:solidFill>
                  <a:srgbClr val="E5532D"/>
                </a:solidFill>
                <a:latin typeface="Arial"/>
                <a:ea typeface="Microsoft YaHei"/>
                <a:cs typeface="Arial"/>
              </a:rPr>
              <a:t xml:space="preserve">  院士</a:t>
            </a:r>
          </a:p>
        </p:txBody>
      </p:sp>
      <p:sp>
        <p:nvSpPr>
          <p:cNvPr id="16" name="Academician card 叶嘉安"/>
          <p:cNvSpPr/>
          <p:nvPr/>
        </p:nvSpPr>
        <p:spPr>
          <a:xfrm>
            <a:off x="548640" y="2578608"/>
            <a:ext cx="2109155" cy="1024128"/>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17" name="Portrait 叶嘉安" descr="叶嘉安"/>
          <p:cNvPicPr>
            <a:picLocks noChangeAspect="1"/>
          </p:cNvPicPr>
          <p:nvPr/>
        </p:nvPicPr>
        <p:blipFill>
          <a:blip r:embed="rId2"/>
          <a:stretch>
            <a:fillRect/>
          </a:stretch>
        </p:blipFill>
        <p:spPr>
          <a:xfrm>
            <a:off x="658368" y="2651760"/>
            <a:ext cx="786384" cy="786384"/>
          </a:xfrm>
          <a:prstGeom prst="ellipse">
            <a:avLst/>
          </a:prstGeom>
          <a:ln w="12700">
            <a:solidFill>
              <a:srgbClr val="4245AF"/>
            </a:solidFill>
          </a:ln>
        </p:spPr>
      </p:pic>
      <p:sp>
        <p:nvSpPr>
          <p:cNvPr id="18" name="Academician badge 叶嘉安"/>
          <p:cNvSpPr/>
          <p:nvPr/>
        </p:nvSpPr>
        <p:spPr>
          <a:xfrm>
            <a:off x="832104" y="3346704"/>
            <a:ext cx="438912" cy="192024"/>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900" b="1" i="0" dirty="0">
                <a:solidFill>
                  <a:srgbClr val="FFFFFF"/>
                </a:solidFill>
                <a:latin typeface="Arial"/>
                <a:ea typeface="Microsoft YaHei"/>
                <a:cs typeface="Arial"/>
              </a:rPr>
              <a:t>院士</a:t>
            </a:r>
          </a:p>
        </p:txBody>
      </p:sp>
      <p:sp>
        <p:nvSpPr>
          <p:cNvPr id="19" name="Academician text 叶嘉安"/>
          <p:cNvSpPr txBox="1"/>
          <p:nvPr/>
        </p:nvSpPr>
        <p:spPr>
          <a:xfrm>
            <a:off x="1527048" y="2633472"/>
            <a:ext cx="1057595" cy="914400"/>
          </a:xfrm>
          <a:prstGeom prst="rect">
            <a:avLst/>
          </a:prstGeom>
          <a:noFill/>
          <a:ln>
            <a:noFill/>
          </a:ln>
        </p:spPr>
        <p:txBody>
          <a:bodyPr wrap="square" lIns="0" tIns="0" rIns="0" bIns="0" anchor="ctr" rtlCol="0">
            <a:normAutofit/>
          </a:bodyPr>
          <a:lstStyle/>
          <a:p>
            <a:pPr algn="l">
              <a:spcAft>
                <a:spcPts val="200"/>
              </a:spcAft>
              <a:buNone/>
            </a:pPr>
            <a:r>
              <a:rPr lang="en-US" altLang="zh-CN" sz="1300" b="1" i="0" dirty="0">
                <a:solidFill>
                  <a:srgbClr val="1E1E2E"/>
                </a:solidFill>
                <a:latin typeface="Arial"/>
                <a:ea typeface="Microsoft YaHei"/>
                <a:cs typeface="Arial"/>
              </a:rPr>
              <a:t>叶嘉安</a:t>
            </a:r>
          </a:p>
          <a:p>
            <a:pPr algn="l">
              <a:lnSpc>
                <a:spcPct val="95000"/>
              </a:lnSpc>
              <a:spcAft>
                <a:spcPts val="0"/>
              </a:spcAft>
              <a:buNone/>
            </a:pPr>
            <a:r>
              <a:rPr lang="en-US" altLang="zh-CN" sz="900" b="1" i="0" dirty="0">
                <a:solidFill>
                  <a:srgbClr val="2E3192"/>
                </a:solidFill>
                <a:latin typeface="Arial"/>
                <a:ea typeface="Microsoft YaHei"/>
                <a:cs typeface="Arial"/>
              </a:rPr>
              <a:t>HKU</a:t>
            </a:r>
          </a:p>
          <a:p>
            <a:pPr algn="l">
              <a:lnSpc>
                <a:spcPct val="95000"/>
              </a:lnSpc>
              <a:spcAft>
                <a:spcPts val="0"/>
              </a:spcAft>
              <a:buNone/>
            </a:pPr>
            <a:r>
              <a:rPr lang="en-US" altLang="zh-CN" sz="900" b="0" i="0" dirty="0">
                <a:solidFill>
                  <a:srgbClr val="5B5D72"/>
                </a:solidFill>
                <a:latin typeface="Arial"/>
                <a:ea typeface="Microsoft YaHei"/>
                <a:cs typeface="Arial"/>
              </a:rPr>
              <a:t>智慧城市，地理信息系统，城市规划</a:t>
            </a:r>
          </a:p>
        </p:txBody>
      </p:sp>
      <p:sp>
        <p:nvSpPr>
          <p:cNvPr id="20" name="Academician card William Clark"/>
          <p:cNvSpPr/>
          <p:nvPr/>
        </p:nvSpPr>
        <p:spPr>
          <a:xfrm>
            <a:off x="2794955" y="2578608"/>
            <a:ext cx="2109155" cy="1024128"/>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21" name="Portrait William Clark" descr="William Clark"/>
          <p:cNvPicPr>
            <a:picLocks noChangeAspect="1"/>
          </p:cNvPicPr>
          <p:nvPr/>
        </p:nvPicPr>
        <p:blipFill>
          <a:blip r:embed="rId3"/>
          <a:srcRect l="3408" t="5481" r="1609" b="23282"/>
          <a:stretch>
            <a:fillRect/>
          </a:stretch>
        </p:blipFill>
        <p:spPr>
          <a:xfrm>
            <a:off x="2904683" y="2651760"/>
            <a:ext cx="786384" cy="786384"/>
          </a:xfrm>
          <a:prstGeom prst="ellipse">
            <a:avLst/>
          </a:prstGeom>
          <a:ln w="12700">
            <a:solidFill>
              <a:srgbClr val="4245AF"/>
            </a:solidFill>
          </a:ln>
        </p:spPr>
      </p:pic>
      <p:sp>
        <p:nvSpPr>
          <p:cNvPr id="22" name="Academician badge William Clark"/>
          <p:cNvSpPr/>
          <p:nvPr/>
        </p:nvSpPr>
        <p:spPr>
          <a:xfrm>
            <a:off x="3078419" y="3346704"/>
            <a:ext cx="438912" cy="192024"/>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900" b="1" i="0" dirty="0">
                <a:solidFill>
                  <a:srgbClr val="FFFFFF"/>
                </a:solidFill>
                <a:latin typeface="Arial"/>
                <a:ea typeface="Microsoft YaHei"/>
                <a:cs typeface="Arial"/>
              </a:rPr>
              <a:t>院士</a:t>
            </a:r>
          </a:p>
        </p:txBody>
      </p:sp>
      <p:sp>
        <p:nvSpPr>
          <p:cNvPr id="23" name="Academician text William Clark"/>
          <p:cNvSpPr txBox="1"/>
          <p:nvPr/>
        </p:nvSpPr>
        <p:spPr>
          <a:xfrm>
            <a:off x="3773363" y="2633472"/>
            <a:ext cx="1057595" cy="914400"/>
          </a:xfrm>
          <a:prstGeom prst="rect">
            <a:avLst/>
          </a:prstGeom>
          <a:noFill/>
          <a:ln>
            <a:noFill/>
          </a:ln>
        </p:spPr>
        <p:txBody>
          <a:bodyPr wrap="square" lIns="0" tIns="0" rIns="0" bIns="0" anchor="ctr" rtlCol="0">
            <a:normAutofit/>
          </a:bodyPr>
          <a:lstStyle/>
          <a:p>
            <a:pPr algn="l">
              <a:spcAft>
                <a:spcPts val="200"/>
              </a:spcAft>
              <a:buNone/>
            </a:pPr>
            <a:r>
              <a:rPr lang="en-US" altLang="zh-CN" sz="1300" b="1" i="0" dirty="0">
                <a:solidFill>
                  <a:srgbClr val="1E1E2E"/>
                </a:solidFill>
                <a:latin typeface="Arial"/>
                <a:ea typeface="Microsoft YaHei"/>
                <a:cs typeface="Arial"/>
              </a:rPr>
              <a:t>William Clark</a:t>
            </a:r>
          </a:p>
          <a:p>
            <a:pPr algn="l">
              <a:lnSpc>
                <a:spcPct val="95000"/>
              </a:lnSpc>
              <a:spcAft>
                <a:spcPts val="0"/>
              </a:spcAft>
              <a:buNone/>
            </a:pPr>
            <a:r>
              <a:rPr lang="en-US" altLang="zh-CN" sz="900" b="1" i="0" dirty="0">
                <a:solidFill>
                  <a:srgbClr val="2E3192"/>
                </a:solidFill>
                <a:latin typeface="Arial"/>
                <a:ea typeface="Microsoft YaHei"/>
                <a:cs typeface="Arial"/>
              </a:rPr>
              <a:t>UCLA</a:t>
            </a:r>
          </a:p>
          <a:p>
            <a:pPr algn="l">
              <a:lnSpc>
                <a:spcPct val="95000"/>
              </a:lnSpc>
              <a:spcAft>
                <a:spcPts val="0"/>
              </a:spcAft>
              <a:buNone/>
            </a:pPr>
            <a:r>
              <a:rPr lang="en-US" altLang="zh-CN" sz="900" b="0" i="0" dirty="0">
                <a:solidFill>
                  <a:srgbClr val="5B5D72"/>
                </a:solidFill>
                <a:latin typeface="Arial"/>
                <a:ea typeface="Microsoft YaHei"/>
                <a:cs typeface="Arial"/>
              </a:rPr>
              <a:t>城市地理，城市空间，人口迁移</a:t>
            </a:r>
          </a:p>
        </p:txBody>
      </p:sp>
      <p:sp>
        <p:nvSpPr>
          <p:cNvPr id="24" name="Academician card 吴缚龙"/>
          <p:cNvSpPr/>
          <p:nvPr/>
        </p:nvSpPr>
        <p:spPr>
          <a:xfrm>
            <a:off x="5041270" y="2578608"/>
            <a:ext cx="2109155" cy="1024128"/>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25" name="Portrait 吴缚龙" descr="吴缚龙"/>
          <p:cNvPicPr>
            <a:picLocks noChangeAspect="1"/>
          </p:cNvPicPr>
          <p:nvPr/>
        </p:nvPicPr>
        <p:blipFill>
          <a:blip r:embed="rId4"/>
          <a:srcRect l="17409" t="8275" r="19685" b="801"/>
          <a:stretch>
            <a:fillRect/>
          </a:stretch>
        </p:blipFill>
        <p:spPr>
          <a:xfrm>
            <a:off x="5150998" y="2651760"/>
            <a:ext cx="786384" cy="786384"/>
          </a:xfrm>
          <a:prstGeom prst="ellipse">
            <a:avLst/>
          </a:prstGeom>
          <a:ln w="12700">
            <a:solidFill>
              <a:srgbClr val="4245AF"/>
            </a:solidFill>
          </a:ln>
        </p:spPr>
      </p:pic>
      <p:sp>
        <p:nvSpPr>
          <p:cNvPr id="26" name="Academician badge 吴缚龙"/>
          <p:cNvSpPr/>
          <p:nvPr/>
        </p:nvSpPr>
        <p:spPr>
          <a:xfrm>
            <a:off x="5324734" y="3346704"/>
            <a:ext cx="438912" cy="192024"/>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900" b="1" i="0" dirty="0">
                <a:solidFill>
                  <a:srgbClr val="FFFFFF"/>
                </a:solidFill>
                <a:latin typeface="Arial"/>
                <a:ea typeface="Microsoft YaHei"/>
                <a:cs typeface="Arial"/>
              </a:rPr>
              <a:t>院士</a:t>
            </a:r>
          </a:p>
        </p:txBody>
      </p:sp>
      <p:sp>
        <p:nvSpPr>
          <p:cNvPr id="27" name="Academician text 吴缚龙"/>
          <p:cNvSpPr txBox="1"/>
          <p:nvPr/>
        </p:nvSpPr>
        <p:spPr>
          <a:xfrm>
            <a:off x="6019678" y="2633472"/>
            <a:ext cx="1057595" cy="914400"/>
          </a:xfrm>
          <a:prstGeom prst="rect">
            <a:avLst/>
          </a:prstGeom>
          <a:noFill/>
          <a:ln>
            <a:noFill/>
          </a:ln>
        </p:spPr>
        <p:txBody>
          <a:bodyPr wrap="square" lIns="0" tIns="0" rIns="0" bIns="0" anchor="ctr" rtlCol="0">
            <a:normAutofit/>
          </a:bodyPr>
          <a:lstStyle/>
          <a:p>
            <a:pPr algn="l">
              <a:spcAft>
                <a:spcPts val="200"/>
              </a:spcAft>
              <a:buNone/>
            </a:pPr>
            <a:r>
              <a:rPr lang="en-US" altLang="zh-CN" sz="1300" b="1" i="0" dirty="0">
                <a:solidFill>
                  <a:srgbClr val="1E1E2E"/>
                </a:solidFill>
                <a:latin typeface="Arial"/>
                <a:ea typeface="Microsoft YaHei"/>
                <a:cs typeface="Arial"/>
              </a:rPr>
              <a:t>吴缚龙</a:t>
            </a:r>
          </a:p>
          <a:p>
            <a:pPr algn="l">
              <a:lnSpc>
                <a:spcPct val="95000"/>
              </a:lnSpc>
              <a:spcAft>
                <a:spcPts val="0"/>
              </a:spcAft>
              <a:buNone/>
            </a:pPr>
            <a:r>
              <a:rPr lang="en-US" altLang="zh-CN" sz="900" b="1" i="0" dirty="0">
                <a:solidFill>
                  <a:srgbClr val="2E3192"/>
                </a:solidFill>
                <a:latin typeface="Arial"/>
                <a:ea typeface="Microsoft YaHei"/>
                <a:cs typeface="Arial"/>
              </a:rPr>
              <a:t>UCL</a:t>
            </a:r>
          </a:p>
          <a:p>
            <a:pPr algn="l">
              <a:lnSpc>
                <a:spcPct val="95000"/>
              </a:lnSpc>
              <a:spcAft>
                <a:spcPts val="0"/>
              </a:spcAft>
              <a:buNone/>
            </a:pPr>
            <a:r>
              <a:rPr lang="en-US" altLang="zh-CN" sz="900" b="0" i="0" dirty="0">
                <a:solidFill>
                  <a:srgbClr val="5B5D72"/>
                </a:solidFill>
                <a:latin typeface="Arial"/>
                <a:ea typeface="Microsoft YaHei"/>
                <a:cs typeface="Arial"/>
              </a:rPr>
              <a:t>城市规划，城市治理</a:t>
            </a:r>
          </a:p>
        </p:txBody>
      </p:sp>
      <p:sp>
        <p:nvSpPr>
          <p:cNvPr id="28" name="Academician card 傅伯杰"/>
          <p:cNvSpPr/>
          <p:nvPr/>
        </p:nvSpPr>
        <p:spPr>
          <a:xfrm>
            <a:off x="7287585" y="2578608"/>
            <a:ext cx="2109155" cy="1024128"/>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29" name="Portrait 傅伯杰" descr="傅伯杰"/>
          <p:cNvPicPr>
            <a:picLocks noChangeAspect="1"/>
          </p:cNvPicPr>
          <p:nvPr/>
        </p:nvPicPr>
        <p:blipFill>
          <a:blip r:embed="rId5"/>
          <a:srcRect t="2672" b="2672"/>
          <a:stretch>
            <a:fillRect/>
          </a:stretch>
        </p:blipFill>
        <p:spPr>
          <a:xfrm>
            <a:off x="7397313" y="2651760"/>
            <a:ext cx="786384" cy="786384"/>
          </a:xfrm>
          <a:prstGeom prst="ellipse">
            <a:avLst/>
          </a:prstGeom>
          <a:ln w="12700">
            <a:solidFill>
              <a:srgbClr val="4245AF"/>
            </a:solidFill>
          </a:ln>
        </p:spPr>
      </p:pic>
      <p:sp>
        <p:nvSpPr>
          <p:cNvPr id="30" name="Academician badge 傅伯杰"/>
          <p:cNvSpPr/>
          <p:nvPr/>
        </p:nvSpPr>
        <p:spPr>
          <a:xfrm>
            <a:off x="7571049" y="3346704"/>
            <a:ext cx="438912" cy="192024"/>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900" b="1" i="0" dirty="0">
                <a:solidFill>
                  <a:srgbClr val="FFFFFF"/>
                </a:solidFill>
                <a:latin typeface="Arial"/>
                <a:ea typeface="Microsoft YaHei"/>
                <a:cs typeface="Arial"/>
              </a:rPr>
              <a:t>院士</a:t>
            </a:r>
          </a:p>
        </p:txBody>
      </p:sp>
      <p:sp>
        <p:nvSpPr>
          <p:cNvPr id="31" name="Academician text 傅伯杰"/>
          <p:cNvSpPr txBox="1"/>
          <p:nvPr/>
        </p:nvSpPr>
        <p:spPr>
          <a:xfrm>
            <a:off x="8265993" y="2633472"/>
            <a:ext cx="1057595" cy="914400"/>
          </a:xfrm>
          <a:prstGeom prst="rect">
            <a:avLst/>
          </a:prstGeom>
          <a:noFill/>
          <a:ln>
            <a:noFill/>
          </a:ln>
        </p:spPr>
        <p:txBody>
          <a:bodyPr wrap="square" lIns="0" tIns="0" rIns="0" bIns="0" anchor="ctr" rtlCol="0">
            <a:normAutofit/>
          </a:bodyPr>
          <a:lstStyle/>
          <a:p>
            <a:pPr algn="l">
              <a:spcAft>
                <a:spcPts val="200"/>
              </a:spcAft>
              <a:buNone/>
            </a:pPr>
            <a:r>
              <a:rPr lang="en-US" altLang="zh-CN" sz="1300" b="1" i="0" dirty="0">
                <a:solidFill>
                  <a:srgbClr val="1E1E2E"/>
                </a:solidFill>
                <a:latin typeface="Arial"/>
                <a:ea typeface="Microsoft YaHei"/>
                <a:cs typeface="Arial"/>
              </a:rPr>
              <a:t>傅伯杰</a:t>
            </a:r>
          </a:p>
          <a:p>
            <a:pPr algn="l">
              <a:lnSpc>
                <a:spcPct val="95000"/>
              </a:lnSpc>
              <a:spcAft>
                <a:spcPts val="0"/>
              </a:spcAft>
              <a:buNone/>
            </a:pPr>
            <a:r>
              <a:rPr lang="en-US" altLang="zh-CN" sz="900" b="1" i="0" dirty="0">
                <a:solidFill>
                  <a:srgbClr val="2E3192"/>
                </a:solidFill>
                <a:latin typeface="Arial"/>
                <a:ea typeface="Microsoft YaHei"/>
                <a:cs typeface="Arial"/>
              </a:rPr>
              <a:t>中国科学院生态环境研究中心</a:t>
            </a:r>
          </a:p>
          <a:p>
            <a:pPr algn="l">
              <a:lnSpc>
                <a:spcPct val="95000"/>
              </a:lnSpc>
              <a:spcAft>
                <a:spcPts val="0"/>
              </a:spcAft>
              <a:buNone/>
            </a:pPr>
            <a:r>
              <a:rPr lang="en-US" altLang="zh-CN" sz="900" b="0" i="0" dirty="0">
                <a:solidFill>
                  <a:srgbClr val="5B5D72"/>
                </a:solidFill>
                <a:latin typeface="Arial"/>
                <a:ea typeface="Microsoft YaHei"/>
                <a:cs typeface="Arial"/>
              </a:rPr>
              <a:t>景观生态、生态系统服务</a:t>
            </a:r>
          </a:p>
        </p:txBody>
      </p:sp>
      <p:sp>
        <p:nvSpPr>
          <p:cNvPr id="32" name="Academician card 樊杰"/>
          <p:cNvSpPr/>
          <p:nvPr/>
        </p:nvSpPr>
        <p:spPr>
          <a:xfrm>
            <a:off x="9533900" y="2578608"/>
            <a:ext cx="2109155" cy="1024128"/>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33" name="Portrait 樊杰" descr="樊杰"/>
          <p:cNvPicPr>
            <a:picLocks noChangeAspect="1"/>
          </p:cNvPicPr>
          <p:nvPr/>
        </p:nvPicPr>
        <p:blipFill>
          <a:blip r:embed="rId6"/>
          <a:srcRect l="-1653" t="3825" r="1653" b="18415"/>
          <a:stretch>
            <a:fillRect/>
          </a:stretch>
        </p:blipFill>
        <p:spPr>
          <a:xfrm>
            <a:off x="9643628" y="2651760"/>
            <a:ext cx="786384" cy="786384"/>
          </a:xfrm>
          <a:prstGeom prst="ellipse">
            <a:avLst/>
          </a:prstGeom>
          <a:ln w="12700">
            <a:solidFill>
              <a:srgbClr val="4245AF"/>
            </a:solidFill>
          </a:ln>
        </p:spPr>
      </p:pic>
      <p:sp>
        <p:nvSpPr>
          <p:cNvPr id="34" name="Academician badge 樊杰"/>
          <p:cNvSpPr/>
          <p:nvPr/>
        </p:nvSpPr>
        <p:spPr>
          <a:xfrm>
            <a:off x="9817364" y="3346704"/>
            <a:ext cx="438912" cy="192024"/>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900" b="1" i="0" dirty="0">
                <a:solidFill>
                  <a:srgbClr val="FFFFFF"/>
                </a:solidFill>
                <a:latin typeface="Arial"/>
                <a:ea typeface="Microsoft YaHei"/>
                <a:cs typeface="Arial"/>
              </a:rPr>
              <a:t>院士</a:t>
            </a:r>
          </a:p>
        </p:txBody>
      </p:sp>
      <p:sp>
        <p:nvSpPr>
          <p:cNvPr id="35" name="Academician text 樊杰"/>
          <p:cNvSpPr txBox="1"/>
          <p:nvPr/>
        </p:nvSpPr>
        <p:spPr>
          <a:xfrm>
            <a:off x="10512308" y="2633472"/>
            <a:ext cx="1057595" cy="914400"/>
          </a:xfrm>
          <a:prstGeom prst="rect">
            <a:avLst/>
          </a:prstGeom>
          <a:noFill/>
          <a:ln>
            <a:noFill/>
          </a:ln>
        </p:spPr>
        <p:txBody>
          <a:bodyPr wrap="square" lIns="0" tIns="0" rIns="0" bIns="0" anchor="ctr" rtlCol="0">
            <a:normAutofit/>
          </a:bodyPr>
          <a:lstStyle/>
          <a:p>
            <a:pPr algn="l">
              <a:spcAft>
                <a:spcPts val="200"/>
              </a:spcAft>
              <a:buNone/>
            </a:pPr>
            <a:r>
              <a:rPr lang="en-US" altLang="zh-CN" sz="1300" b="1" i="0" dirty="0">
                <a:solidFill>
                  <a:srgbClr val="1E1E2E"/>
                </a:solidFill>
                <a:latin typeface="Arial"/>
                <a:ea typeface="Microsoft YaHei"/>
                <a:cs typeface="Arial"/>
              </a:rPr>
              <a:t>樊杰</a:t>
            </a:r>
          </a:p>
          <a:p>
            <a:pPr algn="l">
              <a:lnSpc>
                <a:spcPct val="95000"/>
              </a:lnSpc>
              <a:spcAft>
                <a:spcPts val="0"/>
              </a:spcAft>
              <a:buNone/>
            </a:pPr>
            <a:r>
              <a:rPr lang="en-US" altLang="zh-CN" sz="900" b="1" i="0" dirty="0">
                <a:solidFill>
                  <a:srgbClr val="2E3192"/>
                </a:solidFill>
                <a:latin typeface="Arial"/>
                <a:ea typeface="Microsoft YaHei"/>
                <a:cs typeface="Arial"/>
              </a:rPr>
              <a:t>中科院地理所</a:t>
            </a:r>
          </a:p>
          <a:p>
            <a:pPr algn="l">
              <a:lnSpc>
                <a:spcPct val="95000"/>
              </a:lnSpc>
              <a:spcAft>
                <a:spcPts val="0"/>
              </a:spcAft>
              <a:buNone/>
            </a:pPr>
            <a:r>
              <a:rPr lang="en-US" altLang="zh-CN" sz="900" b="0" i="0" dirty="0">
                <a:solidFill>
                  <a:srgbClr val="5B5D72"/>
                </a:solidFill>
                <a:latin typeface="Arial"/>
                <a:ea typeface="Microsoft YaHei"/>
                <a:cs typeface="Arial"/>
              </a:rPr>
              <a:t>国土空间规划、区域发展</a:t>
            </a:r>
          </a:p>
        </p:txBody>
      </p:sp>
      <p:sp>
        <p:nvSpPr>
          <p:cNvPr id="36" name="Academician card 宫鹏"/>
          <p:cNvSpPr/>
          <p:nvPr/>
        </p:nvSpPr>
        <p:spPr>
          <a:xfrm>
            <a:off x="548640" y="3694176"/>
            <a:ext cx="2109155" cy="1024128"/>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37" name="Portrait 宫鹏" descr="宫鹏"/>
          <p:cNvPicPr>
            <a:picLocks noChangeAspect="1"/>
          </p:cNvPicPr>
          <p:nvPr/>
        </p:nvPicPr>
        <p:blipFill>
          <a:blip r:embed="rId7"/>
          <a:srcRect l="9294" t="4766" r="7651" b="39863"/>
          <a:stretch>
            <a:fillRect/>
          </a:stretch>
        </p:blipFill>
        <p:spPr>
          <a:xfrm>
            <a:off x="658368" y="3767328"/>
            <a:ext cx="786384" cy="786384"/>
          </a:xfrm>
          <a:prstGeom prst="ellipse">
            <a:avLst/>
          </a:prstGeom>
          <a:ln w="12700">
            <a:solidFill>
              <a:srgbClr val="4245AF"/>
            </a:solidFill>
          </a:ln>
        </p:spPr>
      </p:pic>
      <p:sp>
        <p:nvSpPr>
          <p:cNvPr id="38" name="Academician badge 宫鹏"/>
          <p:cNvSpPr/>
          <p:nvPr/>
        </p:nvSpPr>
        <p:spPr>
          <a:xfrm>
            <a:off x="832104" y="4462272"/>
            <a:ext cx="438912" cy="192024"/>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900" b="1" i="0" dirty="0">
                <a:solidFill>
                  <a:srgbClr val="FFFFFF"/>
                </a:solidFill>
                <a:latin typeface="Arial"/>
                <a:ea typeface="Microsoft YaHei"/>
                <a:cs typeface="Arial"/>
              </a:rPr>
              <a:t>院士</a:t>
            </a:r>
          </a:p>
        </p:txBody>
      </p:sp>
      <p:sp>
        <p:nvSpPr>
          <p:cNvPr id="39" name="Academician text 宫鹏"/>
          <p:cNvSpPr txBox="1"/>
          <p:nvPr/>
        </p:nvSpPr>
        <p:spPr>
          <a:xfrm>
            <a:off x="1527048" y="3749040"/>
            <a:ext cx="1057595" cy="914400"/>
          </a:xfrm>
          <a:prstGeom prst="rect">
            <a:avLst/>
          </a:prstGeom>
          <a:noFill/>
          <a:ln>
            <a:noFill/>
          </a:ln>
        </p:spPr>
        <p:txBody>
          <a:bodyPr wrap="square" lIns="0" tIns="0" rIns="0" bIns="0" anchor="ctr" rtlCol="0">
            <a:normAutofit/>
          </a:bodyPr>
          <a:lstStyle/>
          <a:p>
            <a:pPr algn="l">
              <a:spcAft>
                <a:spcPts val="200"/>
              </a:spcAft>
              <a:buNone/>
            </a:pPr>
            <a:r>
              <a:rPr lang="en-US" altLang="zh-CN" sz="1300" b="1" i="0" dirty="0">
                <a:solidFill>
                  <a:srgbClr val="1E1E2E"/>
                </a:solidFill>
                <a:latin typeface="Arial"/>
                <a:ea typeface="Microsoft YaHei"/>
                <a:cs typeface="Arial"/>
              </a:rPr>
              <a:t>宫鹏</a:t>
            </a:r>
          </a:p>
          <a:p>
            <a:pPr algn="l">
              <a:lnSpc>
                <a:spcPct val="95000"/>
              </a:lnSpc>
              <a:spcAft>
                <a:spcPts val="0"/>
              </a:spcAft>
              <a:buNone/>
            </a:pPr>
            <a:r>
              <a:rPr lang="en-US" altLang="zh-CN" sz="900" b="1" i="0" dirty="0">
                <a:solidFill>
                  <a:srgbClr val="2E3192"/>
                </a:solidFill>
                <a:latin typeface="Arial"/>
                <a:ea typeface="Microsoft YaHei"/>
                <a:cs typeface="Arial"/>
              </a:rPr>
              <a:t>HKU</a:t>
            </a:r>
          </a:p>
          <a:p>
            <a:pPr algn="l">
              <a:lnSpc>
                <a:spcPct val="95000"/>
              </a:lnSpc>
              <a:spcAft>
                <a:spcPts val="0"/>
              </a:spcAft>
              <a:buNone/>
            </a:pPr>
            <a:r>
              <a:rPr lang="en-US" altLang="zh-CN" sz="900" b="0" i="0" dirty="0">
                <a:solidFill>
                  <a:srgbClr val="5B5D72"/>
                </a:solidFill>
                <a:latin typeface="Arial"/>
                <a:ea typeface="Microsoft YaHei"/>
                <a:cs typeface="Arial"/>
              </a:rPr>
              <a:t>遥感，全球环境变化，城市化与健康</a:t>
            </a:r>
          </a:p>
        </p:txBody>
      </p:sp>
      <p:sp>
        <p:nvSpPr>
          <p:cNvPr id="40" name="Academician card 陈德亮"/>
          <p:cNvSpPr/>
          <p:nvPr/>
        </p:nvSpPr>
        <p:spPr>
          <a:xfrm>
            <a:off x="2794955" y="3694176"/>
            <a:ext cx="2109155" cy="1024128"/>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41" name="Portrait 陈德亮" descr="陈德亮"/>
          <p:cNvPicPr>
            <a:picLocks noChangeAspect="1"/>
          </p:cNvPicPr>
          <p:nvPr/>
        </p:nvPicPr>
        <p:blipFill>
          <a:blip r:embed="rId8"/>
          <a:srcRect l="30000" r="30000"/>
          <a:stretch>
            <a:fillRect/>
          </a:stretch>
        </p:blipFill>
        <p:spPr>
          <a:xfrm>
            <a:off x="2904683" y="3767328"/>
            <a:ext cx="786384" cy="786384"/>
          </a:xfrm>
          <a:prstGeom prst="ellipse">
            <a:avLst/>
          </a:prstGeom>
          <a:ln w="12700">
            <a:solidFill>
              <a:srgbClr val="4245AF"/>
            </a:solidFill>
          </a:ln>
        </p:spPr>
      </p:pic>
      <p:sp>
        <p:nvSpPr>
          <p:cNvPr id="42" name="Academician badge 陈德亮"/>
          <p:cNvSpPr/>
          <p:nvPr/>
        </p:nvSpPr>
        <p:spPr>
          <a:xfrm>
            <a:off x="3078419" y="4462272"/>
            <a:ext cx="438912" cy="192024"/>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900" b="1" i="0" dirty="0">
                <a:solidFill>
                  <a:srgbClr val="FFFFFF"/>
                </a:solidFill>
                <a:latin typeface="Arial"/>
                <a:ea typeface="Microsoft YaHei"/>
                <a:cs typeface="Arial"/>
              </a:rPr>
              <a:t>院士</a:t>
            </a:r>
          </a:p>
        </p:txBody>
      </p:sp>
      <p:sp>
        <p:nvSpPr>
          <p:cNvPr id="43" name="Academician text 陈德亮"/>
          <p:cNvSpPr txBox="1"/>
          <p:nvPr/>
        </p:nvSpPr>
        <p:spPr>
          <a:xfrm>
            <a:off x="3773363" y="3749040"/>
            <a:ext cx="1057595" cy="914400"/>
          </a:xfrm>
          <a:prstGeom prst="rect">
            <a:avLst/>
          </a:prstGeom>
          <a:noFill/>
          <a:ln>
            <a:noFill/>
          </a:ln>
        </p:spPr>
        <p:txBody>
          <a:bodyPr wrap="square" lIns="0" tIns="0" rIns="0" bIns="0" anchor="ctr" rtlCol="0">
            <a:normAutofit/>
          </a:bodyPr>
          <a:lstStyle/>
          <a:p>
            <a:pPr algn="l">
              <a:spcAft>
                <a:spcPts val="200"/>
              </a:spcAft>
              <a:buNone/>
            </a:pPr>
            <a:r>
              <a:rPr lang="en-US" altLang="zh-CN" sz="1300" b="1" i="0" dirty="0">
                <a:solidFill>
                  <a:srgbClr val="1E1E2E"/>
                </a:solidFill>
                <a:latin typeface="Arial"/>
                <a:ea typeface="Microsoft YaHei"/>
                <a:cs typeface="Arial"/>
              </a:rPr>
              <a:t>陈德亮</a:t>
            </a:r>
          </a:p>
          <a:p>
            <a:pPr algn="l">
              <a:lnSpc>
                <a:spcPct val="95000"/>
              </a:lnSpc>
              <a:spcAft>
                <a:spcPts val="0"/>
              </a:spcAft>
              <a:buNone/>
            </a:pPr>
            <a:r>
              <a:rPr lang="en-US" altLang="zh-CN" sz="900" b="1" i="0" dirty="0">
                <a:solidFill>
                  <a:srgbClr val="2E3192"/>
                </a:solidFill>
                <a:latin typeface="Arial"/>
                <a:ea typeface="Microsoft YaHei"/>
                <a:cs typeface="Arial"/>
              </a:rPr>
              <a:t>瑞典哥德堡大学</a:t>
            </a:r>
          </a:p>
          <a:p>
            <a:pPr algn="l">
              <a:lnSpc>
                <a:spcPct val="95000"/>
              </a:lnSpc>
              <a:spcAft>
                <a:spcPts val="0"/>
              </a:spcAft>
              <a:buNone/>
            </a:pPr>
            <a:r>
              <a:rPr lang="en-US" altLang="zh-CN" sz="900" b="0" i="0" dirty="0">
                <a:solidFill>
                  <a:srgbClr val="5B5D72"/>
                </a:solidFill>
                <a:latin typeface="Arial"/>
                <a:ea typeface="Microsoft YaHei"/>
                <a:cs typeface="Arial"/>
              </a:rPr>
              <a:t>地球系统科学、全球环境变化、气候动力学与数值模拟</a:t>
            </a:r>
          </a:p>
        </p:txBody>
      </p:sp>
      <p:sp>
        <p:nvSpPr>
          <p:cNvPr id="44" name="Academician card 申作军"/>
          <p:cNvSpPr/>
          <p:nvPr/>
        </p:nvSpPr>
        <p:spPr>
          <a:xfrm>
            <a:off x="5041270" y="3694176"/>
            <a:ext cx="2109155" cy="1024128"/>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45" name="Portrait 申作军" descr="申作军"/>
          <p:cNvPicPr>
            <a:picLocks noChangeAspect="1"/>
          </p:cNvPicPr>
          <p:nvPr/>
        </p:nvPicPr>
        <p:blipFill>
          <a:blip r:embed="rId9"/>
          <a:srcRect/>
          <a:stretch>
            <a:fillRect/>
          </a:stretch>
        </p:blipFill>
        <p:spPr>
          <a:xfrm>
            <a:off x="5150998" y="3767328"/>
            <a:ext cx="786384" cy="786384"/>
          </a:xfrm>
          <a:prstGeom prst="ellipse">
            <a:avLst/>
          </a:prstGeom>
          <a:ln w="12700">
            <a:solidFill>
              <a:srgbClr val="4245AF"/>
            </a:solidFill>
          </a:ln>
        </p:spPr>
      </p:pic>
      <p:sp>
        <p:nvSpPr>
          <p:cNvPr id="46" name="Academician badge 申作军"/>
          <p:cNvSpPr/>
          <p:nvPr/>
        </p:nvSpPr>
        <p:spPr>
          <a:xfrm>
            <a:off x="5324734" y="4462272"/>
            <a:ext cx="438912" cy="192024"/>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900" b="1" i="0" dirty="0">
                <a:solidFill>
                  <a:srgbClr val="FFFFFF"/>
                </a:solidFill>
                <a:latin typeface="Arial"/>
                <a:ea typeface="Microsoft YaHei"/>
                <a:cs typeface="Arial"/>
              </a:rPr>
              <a:t>院士</a:t>
            </a:r>
          </a:p>
        </p:txBody>
      </p:sp>
      <p:sp>
        <p:nvSpPr>
          <p:cNvPr id="47" name="Academician text 申作军"/>
          <p:cNvSpPr txBox="1"/>
          <p:nvPr/>
        </p:nvSpPr>
        <p:spPr>
          <a:xfrm>
            <a:off x="6019678" y="3749040"/>
            <a:ext cx="1057595" cy="914400"/>
          </a:xfrm>
          <a:prstGeom prst="rect">
            <a:avLst/>
          </a:prstGeom>
          <a:noFill/>
          <a:ln>
            <a:noFill/>
          </a:ln>
        </p:spPr>
        <p:txBody>
          <a:bodyPr wrap="square" lIns="0" tIns="0" rIns="0" bIns="0" anchor="ctr" rtlCol="0">
            <a:normAutofit/>
          </a:bodyPr>
          <a:lstStyle/>
          <a:p>
            <a:pPr algn="l">
              <a:spcAft>
                <a:spcPts val="200"/>
              </a:spcAft>
              <a:buNone/>
            </a:pPr>
            <a:r>
              <a:rPr lang="en-US" altLang="zh-CN" sz="1300" b="1" i="0" dirty="0">
                <a:solidFill>
                  <a:srgbClr val="1E1E2E"/>
                </a:solidFill>
                <a:latin typeface="Arial"/>
                <a:ea typeface="Microsoft YaHei"/>
                <a:cs typeface="Arial"/>
              </a:rPr>
              <a:t>申作军</a:t>
            </a:r>
          </a:p>
          <a:p>
            <a:pPr algn="l">
              <a:lnSpc>
                <a:spcPct val="95000"/>
              </a:lnSpc>
              <a:spcAft>
                <a:spcPts val="0"/>
              </a:spcAft>
              <a:buNone/>
            </a:pPr>
            <a:r>
              <a:rPr lang="en-US" altLang="zh-CN" sz="900" b="1" i="0" dirty="0">
                <a:solidFill>
                  <a:srgbClr val="2E3192"/>
                </a:solidFill>
                <a:latin typeface="Arial"/>
                <a:ea typeface="Microsoft YaHei"/>
                <a:cs typeface="Arial"/>
              </a:rPr>
              <a:t>HKU</a:t>
            </a:r>
          </a:p>
          <a:p>
            <a:pPr algn="l">
              <a:lnSpc>
                <a:spcPct val="95000"/>
              </a:lnSpc>
              <a:spcAft>
                <a:spcPts val="0"/>
              </a:spcAft>
              <a:buNone/>
            </a:pPr>
            <a:r>
              <a:rPr lang="en-US" altLang="zh-CN" sz="900" b="0" i="0" dirty="0">
                <a:solidFill>
                  <a:srgbClr val="5B5D72"/>
                </a:solidFill>
                <a:latin typeface="Arial"/>
                <a:ea typeface="Microsoft YaHei"/>
                <a:cs typeface="Arial"/>
              </a:rPr>
              <a:t>供应链设计与管理、数据驱动物流优化</a:t>
            </a:r>
          </a:p>
        </p:txBody>
      </p:sp>
      <p:sp>
        <p:nvSpPr>
          <p:cNvPr id="48" name="Academician card 刘丛强"/>
          <p:cNvSpPr/>
          <p:nvPr/>
        </p:nvSpPr>
        <p:spPr>
          <a:xfrm>
            <a:off x="7287585" y="3694176"/>
            <a:ext cx="2109155" cy="1024128"/>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49" name="Portrait 刘丛强" descr="刘丛强"/>
          <p:cNvPicPr>
            <a:picLocks noChangeAspect="1"/>
          </p:cNvPicPr>
          <p:nvPr/>
        </p:nvPicPr>
        <p:blipFill>
          <a:blip r:embed="rId10"/>
          <a:srcRect l="952" t="8956" r="-952" b="15044"/>
          <a:stretch>
            <a:fillRect/>
          </a:stretch>
        </p:blipFill>
        <p:spPr>
          <a:xfrm>
            <a:off x="7397313" y="3767328"/>
            <a:ext cx="786384" cy="786384"/>
          </a:xfrm>
          <a:prstGeom prst="ellipse">
            <a:avLst/>
          </a:prstGeom>
          <a:ln w="12700">
            <a:solidFill>
              <a:srgbClr val="4245AF"/>
            </a:solidFill>
          </a:ln>
        </p:spPr>
      </p:pic>
      <p:sp>
        <p:nvSpPr>
          <p:cNvPr id="50" name="Academician badge 刘丛强"/>
          <p:cNvSpPr/>
          <p:nvPr/>
        </p:nvSpPr>
        <p:spPr>
          <a:xfrm>
            <a:off x="7571049" y="4462272"/>
            <a:ext cx="438912" cy="192024"/>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900" b="1" i="0" dirty="0">
                <a:solidFill>
                  <a:srgbClr val="FFFFFF"/>
                </a:solidFill>
                <a:latin typeface="Arial"/>
                <a:ea typeface="Microsoft YaHei"/>
                <a:cs typeface="Arial"/>
              </a:rPr>
              <a:t>院士</a:t>
            </a:r>
          </a:p>
        </p:txBody>
      </p:sp>
      <p:sp>
        <p:nvSpPr>
          <p:cNvPr id="51" name="Academician text 刘丛强"/>
          <p:cNvSpPr txBox="1"/>
          <p:nvPr/>
        </p:nvSpPr>
        <p:spPr>
          <a:xfrm>
            <a:off x="8265993" y="3749040"/>
            <a:ext cx="1057595" cy="914400"/>
          </a:xfrm>
          <a:prstGeom prst="rect">
            <a:avLst/>
          </a:prstGeom>
          <a:noFill/>
          <a:ln>
            <a:noFill/>
          </a:ln>
        </p:spPr>
        <p:txBody>
          <a:bodyPr wrap="square" lIns="0" tIns="0" rIns="0" bIns="0" anchor="ctr" rtlCol="0">
            <a:normAutofit/>
          </a:bodyPr>
          <a:lstStyle/>
          <a:p>
            <a:pPr algn="l">
              <a:spcAft>
                <a:spcPts val="200"/>
              </a:spcAft>
              <a:buNone/>
            </a:pPr>
            <a:r>
              <a:rPr lang="en-US" altLang="zh-CN" sz="1300" b="1" i="0" dirty="0">
                <a:solidFill>
                  <a:srgbClr val="1E1E2E"/>
                </a:solidFill>
                <a:latin typeface="Arial"/>
                <a:ea typeface="Microsoft YaHei"/>
                <a:cs typeface="Arial"/>
              </a:rPr>
              <a:t>刘丛强</a:t>
            </a:r>
          </a:p>
          <a:p>
            <a:pPr algn="l">
              <a:lnSpc>
                <a:spcPct val="95000"/>
              </a:lnSpc>
              <a:spcAft>
                <a:spcPts val="0"/>
              </a:spcAft>
              <a:buNone/>
            </a:pPr>
            <a:r>
              <a:rPr lang="en-US" altLang="zh-CN" sz="900" b="1" i="0" dirty="0">
                <a:solidFill>
                  <a:srgbClr val="2E3192"/>
                </a:solidFill>
                <a:latin typeface="Arial"/>
                <a:ea typeface="Microsoft YaHei"/>
                <a:cs typeface="Arial"/>
              </a:rPr>
              <a:t>天津大学</a:t>
            </a:r>
          </a:p>
          <a:p>
            <a:pPr algn="l">
              <a:lnSpc>
                <a:spcPct val="95000"/>
              </a:lnSpc>
              <a:spcAft>
                <a:spcPts val="0"/>
              </a:spcAft>
              <a:buNone/>
            </a:pPr>
            <a:r>
              <a:rPr lang="en-US" altLang="zh-CN" sz="900" b="0" i="0" dirty="0">
                <a:solidFill>
                  <a:srgbClr val="5B5D72"/>
                </a:solidFill>
                <a:latin typeface="Arial"/>
                <a:ea typeface="Microsoft YaHei"/>
                <a:cs typeface="Arial"/>
              </a:rPr>
              <a:t>地球关键带过程与生态功能</a:t>
            </a:r>
          </a:p>
        </p:txBody>
      </p:sp>
      <p:sp>
        <p:nvSpPr>
          <p:cNvPr id="52" name="Academician card 蔡文炬"/>
          <p:cNvSpPr/>
          <p:nvPr/>
        </p:nvSpPr>
        <p:spPr>
          <a:xfrm>
            <a:off x="9533900" y="3694176"/>
            <a:ext cx="2109155" cy="1024128"/>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53" name="Portrait 蔡文炬" descr="蔡文炬"/>
          <p:cNvPicPr>
            <a:picLocks noChangeAspect="1"/>
          </p:cNvPicPr>
          <p:nvPr/>
        </p:nvPicPr>
        <p:blipFill>
          <a:blip r:embed="rId11"/>
          <a:srcRect l="37924" t="1774" r="16714" b="30183"/>
          <a:stretch>
            <a:fillRect/>
          </a:stretch>
        </p:blipFill>
        <p:spPr>
          <a:xfrm>
            <a:off x="9643628" y="3767328"/>
            <a:ext cx="786384" cy="786384"/>
          </a:xfrm>
          <a:prstGeom prst="ellipse">
            <a:avLst/>
          </a:prstGeom>
          <a:ln w="12700">
            <a:solidFill>
              <a:srgbClr val="4245AF"/>
            </a:solidFill>
          </a:ln>
        </p:spPr>
      </p:pic>
      <p:sp>
        <p:nvSpPr>
          <p:cNvPr id="54" name="Academician badge 蔡文炬"/>
          <p:cNvSpPr/>
          <p:nvPr/>
        </p:nvSpPr>
        <p:spPr>
          <a:xfrm>
            <a:off x="9817364" y="4462272"/>
            <a:ext cx="438912" cy="192024"/>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900" b="1" i="0" dirty="0">
                <a:solidFill>
                  <a:srgbClr val="FFFFFF"/>
                </a:solidFill>
                <a:latin typeface="Arial"/>
                <a:ea typeface="Microsoft YaHei"/>
                <a:cs typeface="Arial"/>
              </a:rPr>
              <a:t>院士</a:t>
            </a:r>
          </a:p>
        </p:txBody>
      </p:sp>
      <p:sp>
        <p:nvSpPr>
          <p:cNvPr id="55" name="Academician text 蔡文炬"/>
          <p:cNvSpPr txBox="1"/>
          <p:nvPr/>
        </p:nvSpPr>
        <p:spPr>
          <a:xfrm>
            <a:off x="10512308" y="3749040"/>
            <a:ext cx="1057595" cy="914400"/>
          </a:xfrm>
          <a:prstGeom prst="rect">
            <a:avLst/>
          </a:prstGeom>
          <a:noFill/>
          <a:ln>
            <a:noFill/>
          </a:ln>
        </p:spPr>
        <p:txBody>
          <a:bodyPr wrap="square" lIns="0" tIns="0" rIns="0" bIns="0" anchor="ctr" rtlCol="0">
            <a:normAutofit/>
          </a:bodyPr>
          <a:lstStyle/>
          <a:p>
            <a:pPr algn="l">
              <a:spcAft>
                <a:spcPts val="200"/>
              </a:spcAft>
              <a:buNone/>
            </a:pPr>
            <a:r>
              <a:rPr lang="en-US" altLang="zh-CN" sz="1300" b="1" i="0" dirty="0">
                <a:solidFill>
                  <a:srgbClr val="1E1E2E"/>
                </a:solidFill>
                <a:latin typeface="Arial"/>
                <a:ea typeface="Microsoft YaHei"/>
                <a:cs typeface="Arial"/>
              </a:rPr>
              <a:t>蔡文炬</a:t>
            </a:r>
          </a:p>
          <a:p>
            <a:pPr algn="l">
              <a:lnSpc>
                <a:spcPct val="95000"/>
              </a:lnSpc>
              <a:spcAft>
                <a:spcPts val="0"/>
              </a:spcAft>
              <a:buNone/>
            </a:pPr>
            <a:r>
              <a:rPr lang="en-US" altLang="zh-CN" sz="900" b="1" i="0" dirty="0">
                <a:solidFill>
                  <a:srgbClr val="2E3192"/>
                </a:solidFill>
                <a:latin typeface="Arial"/>
                <a:ea typeface="Microsoft YaHei"/>
                <a:cs typeface="Arial"/>
              </a:rPr>
              <a:t>澳大利亚联邦科学与工业研究组织 CSIRO</a:t>
            </a:r>
          </a:p>
          <a:p>
            <a:pPr algn="l">
              <a:lnSpc>
                <a:spcPct val="95000"/>
              </a:lnSpc>
              <a:spcAft>
                <a:spcPts val="0"/>
              </a:spcAft>
              <a:buNone/>
            </a:pPr>
            <a:r>
              <a:rPr lang="en-US" altLang="zh-CN" sz="900" b="0" i="0" dirty="0">
                <a:solidFill>
                  <a:srgbClr val="5B5D72"/>
                </a:solidFill>
                <a:latin typeface="Arial"/>
                <a:ea typeface="Microsoft YaHei"/>
                <a:cs typeface="Arial"/>
              </a:rPr>
              <a:t>气候科学、全球变化</a:t>
            </a:r>
          </a:p>
        </p:txBody>
      </p:sp>
      <p:sp>
        <p:nvSpPr>
          <p:cNvPr id="56" name="Group Distinguished Scholars"/>
          <p:cNvSpPr txBox="1"/>
          <p:nvPr/>
        </p:nvSpPr>
        <p:spPr>
          <a:xfrm>
            <a:off x="548640" y="4828032"/>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DISTINGUISHED SCHOLARS</a:t>
            </a:r>
            <a:r>
              <a:rPr lang="en-US" altLang="zh-CN" sz="1100" b="1" i="0" dirty="0">
                <a:solidFill>
                  <a:srgbClr val="E5532D"/>
                </a:solidFill>
                <a:latin typeface="Arial"/>
                <a:ea typeface="Microsoft YaHei"/>
                <a:cs typeface="Arial"/>
              </a:rPr>
              <a:t xml:space="preserve">  国际知名学者</a:t>
            </a:r>
          </a:p>
        </p:txBody>
      </p:sp>
      <p:sp>
        <p:nvSpPr>
          <p:cNvPr id="57" name="Scholar card Patrick Roberts"/>
          <p:cNvSpPr/>
          <p:nvPr/>
        </p:nvSpPr>
        <p:spPr>
          <a:xfrm>
            <a:off x="548640" y="5084064"/>
            <a:ext cx="1490864" cy="1554480"/>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58" name="Portrait Patrick Roberts" descr="Patrick Roberts"/>
          <p:cNvPicPr>
            <a:picLocks noChangeAspect="1"/>
          </p:cNvPicPr>
          <p:nvPr/>
        </p:nvPicPr>
        <p:blipFill>
          <a:blip r:embed="rId12"/>
          <a:srcRect l="2186" t="2897" r="2274" b="30175"/>
          <a:stretch>
            <a:fillRect/>
          </a:stretch>
        </p:blipFill>
        <p:spPr>
          <a:xfrm>
            <a:off x="992320" y="5157216"/>
            <a:ext cx="603504" cy="603504"/>
          </a:xfrm>
          <a:prstGeom prst="ellipse">
            <a:avLst/>
          </a:prstGeom>
          <a:ln w="12700">
            <a:solidFill>
              <a:srgbClr val="4245AF"/>
            </a:solidFill>
          </a:ln>
        </p:spPr>
      </p:pic>
      <p:sp>
        <p:nvSpPr>
          <p:cNvPr id="59" name="Scholar name Patrick Roberts"/>
          <p:cNvSpPr txBox="1"/>
          <p:nvPr/>
        </p:nvSpPr>
        <p:spPr>
          <a:xfrm>
            <a:off x="603504" y="5788152"/>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50" b="1" i="0" dirty="0">
                <a:solidFill>
                  <a:srgbClr val="1E1E2E"/>
                </a:solidFill>
                <a:latin typeface="Arial"/>
                <a:ea typeface="Microsoft YaHei"/>
                <a:cs typeface="Arial"/>
              </a:rPr>
              <a:t>Patrick Roberts</a:t>
            </a:r>
          </a:p>
        </p:txBody>
      </p:sp>
      <p:sp>
        <p:nvSpPr>
          <p:cNvPr id="60" name="Scholar text Patrick Roberts"/>
          <p:cNvSpPr txBox="1"/>
          <p:nvPr/>
        </p:nvSpPr>
        <p:spPr>
          <a:xfrm>
            <a:off x="621792" y="6007608"/>
            <a:ext cx="1344560" cy="594360"/>
          </a:xfrm>
          <a:prstGeom prst="rect">
            <a:avLst/>
          </a:prstGeom>
          <a:noFill/>
          <a:ln>
            <a:noFill/>
          </a:ln>
        </p:spPr>
        <p:txBody>
          <a:bodyPr wrap="square" lIns="0" tIns="0" rIns="0" bIns="0" anchor="t" rtlCol="0">
            <a:normAutofit/>
          </a:bodyPr>
          <a:lstStyle/>
          <a:p>
            <a:pPr algn="ctr">
              <a:lnSpc>
                <a:spcPct val="90000"/>
              </a:lnSpc>
              <a:spcAft>
                <a:spcPts val="0"/>
              </a:spcAft>
              <a:buNone/>
            </a:pPr>
            <a:r>
              <a:rPr lang="en-US" altLang="zh-CN" sz="850" b="1" i="0" dirty="0">
                <a:solidFill>
                  <a:srgbClr val="2E3192"/>
                </a:solidFill>
                <a:latin typeface="Arial"/>
                <a:ea typeface="Microsoft YaHei"/>
                <a:cs typeface="Arial"/>
              </a:rPr>
              <a:t>马克斯·普朗克地球人类学研究所</a:t>
            </a:r>
          </a:p>
          <a:p>
            <a:pPr algn="ctr">
              <a:lnSpc>
                <a:spcPct val="90000"/>
              </a:lnSpc>
              <a:spcAft>
                <a:spcPts val="0"/>
              </a:spcAft>
              <a:buNone/>
            </a:pPr>
            <a:r>
              <a:rPr lang="en-US" altLang="zh-CN" sz="850" b="0" i="0" dirty="0">
                <a:solidFill>
                  <a:srgbClr val="5B5D72"/>
                </a:solidFill>
                <a:latin typeface="Arial"/>
                <a:ea typeface="Microsoft YaHei"/>
                <a:cs typeface="Arial"/>
              </a:rPr>
              <a:t>考古科学、古生态、土地利用与城市化协同演化</a:t>
            </a:r>
          </a:p>
        </p:txBody>
      </p:sp>
      <p:sp>
        <p:nvSpPr>
          <p:cNvPr id="61" name="Scholar card Luis Bettencourt"/>
          <p:cNvSpPr/>
          <p:nvPr/>
        </p:nvSpPr>
        <p:spPr>
          <a:xfrm>
            <a:off x="2149232" y="5084064"/>
            <a:ext cx="1490864" cy="1554480"/>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62" name="Portrait Luis Bettencourt" descr="Luis Bettencourt"/>
          <p:cNvPicPr>
            <a:picLocks noChangeAspect="1"/>
          </p:cNvPicPr>
          <p:nvPr/>
        </p:nvPicPr>
        <p:blipFill>
          <a:blip r:embed="rId13"/>
          <a:srcRect/>
          <a:stretch>
            <a:fillRect/>
          </a:stretch>
        </p:blipFill>
        <p:spPr>
          <a:xfrm>
            <a:off x="2592912" y="5157216"/>
            <a:ext cx="603504" cy="603504"/>
          </a:xfrm>
          <a:prstGeom prst="ellipse">
            <a:avLst/>
          </a:prstGeom>
          <a:ln w="12700">
            <a:solidFill>
              <a:srgbClr val="4245AF"/>
            </a:solidFill>
          </a:ln>
        </p:spPr>
      </p:pic>
      <p:sp>
        <p:nvSpPr>
          <p:cNvPr id="63" name="Scholar name Luis Bettencourt"/>
          <p:cNvSpPr txBox="1"/>
          <p:nvPr/>
        </p:nvSpPr>
        <p:spPr>
          <a:xfrm>
            <a:off x="2204096" y="5788152"/>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50" b="1" i="0" dirty="0">
                <a:solidFill>
                  <a:srgbClr val="1E1E2E"/>
                </a:solidFill>
                <a:latin typeface="Arial"/>
                <a:ea typeface="Microsoft YaHei"/>
                <a:cs typeface="Arial"/>
              </a:rPr>
              <a:t>Luis Bettencourt</a:t>
            </a:r>
          </a:p>
        </p:txBody>
      </p:sp>
      <p:sp>
        <p:nvSpPr>
          <p:cNvPr id="64" name="Scholar text Luis Bettencourt"/>
          <p:cNvSpPr txBox="1"/>
          <p:nvPr/>
        </p:nvSpPr>
        <p:spPr>
          <a:xfrm>
            <a:off x="2222384" y="6007608"/>
            <a:ext cx="1344560" cy="594360"/>
          </a:xfrm>
          <a:prstGeom prst="rect">
            <a:avLst/>
          </a:prstGeom>
          <a:noFill/>
          <a:ln>
            <a:noFill/>
          </a:ln>
        </p:spPr>
        <p:txBody>
          <a:bodyPr wrap="square" lIns="0" tIns="0" rIns="0" bIns="0" anchor="t" rtlCol="0">
            <a:normAutofit/>
          </a:bodyPr>
          <a:lstStyle/>
          <a:p>
            <a:pPr algn="ctr">
              <a:lnSpc>
                <a:spcPct val="90000"/>
              </a:lnSpc>
              <a:spcAft>
                <a:spcPts val="0"/>
              </a:spcAft>
              <a:buNone/>
            </a:pPr>
            <a:r>
              <a:rPr lang="en-US" altLang="zh-CN" sz="850" b="1" i="0" dirty="0">
                <a:solidFill>
                  <a:srgbClr val="2E3192"/>
                </a:solidFill>
                <a:latin typeface="Arial"/>
                <a:ea typeface="Microsoft YaHei"/>
                <a:cs typeface="Arial"/>
              </a:rPr>
              <a:t>芝加哥大学</a:t>
            </a:r>
          </a:p>
          <a:p>
            <a:pPr algn="ctr">
              <a:lnSpc>
                <a:spcPct val="90000"/>
              </a:lnSpc>
              <a:spcAft>
                <a:spcPts val="0"/>
              </a:spcAft>
              <a:buNone/>
            </a:pPr>
            <a:r>
              <a:rPr lang="en-US" altLang="zh-CN" sz="850" b="0" i="0" dirty="0">
                <a:solidFill>
                  <a:srgbClr val="5B5D72"/>
                </a:solidFill>
                <a:latin typeface="Arial"/>
                <a:ea typeface="Microsoft YaHei"/>
                <a:cs typeface="Arial"/>
              </a:rPr>
              <a:t>城市复杂系统、网络、城市尺度理论</a:t>
            </a:r>
          </a:p>
        </p:txBody>
      </p:sp>
      <p:sp>
        <p:nvSpPr>
          <p:cNvPr id="65" name="Scholar card Rebecca Bentley"/>
          <p:cNvSpPr/>
          <p:nvPr/>
        </p:nvSpPr>
        <p:spPr>
          <a:xfrm>
            <a:off x="3749824" y="5084064"/>
            <a:ext cx="1490864" cy="1554480"/>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66" name="Portrait Rebecca Bentley" descr="Rebecca Bentley"/>
          <p:cNvPicPr>
            <a:picLocks noChangeAspect="1"/>
          </p:cNvPicPr>
          <p:nvPr/>
        </p:nvPicPr>
        <p:blipFill>
          <a:blip r:embed="rId14"/>
          <a:srcRect t="83" b="83"/>
          <a:stretch>
            <a:fillRect/>
          </a:stretch>
        </p:blipFill>
        <p:spPr>
          <a:xfrm>
            <a:off x="4193504" y="5157216"/>
            <a:ext cx="603504" cy="603504"/>
          </a:xfrm>
          <a:prstGeom prst="ellipse">
            <a:avLst/>
          </a:prstGeom>
          <a:ln w="12700">
            <a:solidFill>
              <a:srgbClr val="4245AF"/>
            </a:solidFill>
          </a:ln>
        </p:spPr>
      </p:pic>
      <p:sp>
        <p:nvSpPr>
          <p:cNvPr id="67" name="Scholar name Rebecca Bentley"/>
          <p:cNvSpPr txBox="1"/>
          <p:nvPr/>
        </p:nvSpPr>
        <p:spPr>
          <a:xfrm>
            <a:off x="3804688" y="5788152"/>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50" b="1" i="0" dirty="0">
                <a:solidFill>
                  <a:srgbClr val="1E1E2E"/>
                </a:solidFill>
                <a:latin typeface="Arial"/>
                <a:ea typeface="Microsoft YaHei"/>
                <a:cs typeface="Arial"/>
              </a:rPr>
              <a:t>Rebecca Bentley</a:t>
            </a:r>
          </a:p>
        </p:txBody>
      </p:sp>
      <p:sp>
        <p:nvSpPr>
          <p:cNvPr id="68" name="Scholar text Rebecca Bentley"/>
          <p:cNvSpPr txBox="1"/>
          <p:nvPr/>
        </p:nvSpPr>
        <p:spPr>
          <a:xfrm>
            <a:off x="3822976" y="6007608"/>
            <a:ext cx="1344560" cy="594360"/>
          </a:xfrm>
          <a:prstGeom prst="rect">
            <a:avLst/>
          </a:prstGeom>
          <a:noFill/>
          <a:ln>
            <a:noFill/>
          </a:ln>
        </p:spPr>
        <p:txBody>
          <a:bodyPr wrap="square" lIns="0" tIns="0" rIns="0" bIns="0" anchor="t" rtlCol="0">
            <a:normAutofit/>
          </a:bodyPr>
          <a:lstStyle/>
          <a:p>
            <a:pPr algn="ctr">
              <a:lnSpc>
                <a:spcPct val="90000"/>
              </a:lnSpc>
              <a:spcAft>
                <a:spcPts val="0"/>
              </a:spcAft>
              <a:buNone/>
            </a:pPr>
            <a:r>
              <a:rPr lang="en-US" altLang="zh-CN" sz="850" b="1" i="0" dirty="0">
                <a:solidFill>
                  <a:srgbClr val="2E3192"/>
                </a:solidFill>
                <a:latin typeface="Arial"/>
                <a:ea typeface="Microsoft YaHei"/>
                <a:cs typeface="Arial"/>
              </a:rPr>
              <a:t>墨尔本大学</a:t>
            </a:r>
          </a:p>
          <a:p>
            <a:pPr algn="ctr">
              <a:lnSpc>
                <a:spcPct val="90000"/>
              </a:lnSpc>
              <a:spcAft>
                <a:spcPts val="0"/>
              </a:spcAft>
              <a:buNone/>
            </a:pPr>
            <a:r>
              <a:rPr lang="en-US" altLang="zh-CN" sz="850" b="0" i="0" dirty="0">
                <a:solidFill>
                  <a:srgbClr val="5B5D72"/>
                </a:solidFill>
                <a:latin typeface="Arial"/>
                <a:ea typeface="Microsoft YaHei"/>
                <a:cs typeface="Arial"/>
              </a:rPr>
              <a:t>住房与建成环境、流行病学、城市健康</a:t>
            </a:r>
          </a:p>
        </p:txBody>
      </p:sp>
      <p:sp>
        <p:nvSpPr>
          <p:cNvPr id="69" name="Scholar card Emma Baker"/>
          <p:cNvSpPr/>
          <p:nvPr/>
        </p:nvSpPr>
        <p:spPr>
          <a:xfrm>
            <a:off x="5350416" y="5084064"/>
            <a:ext cx="1490864" cy="1554480"/>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70" name="Portrait Emma Baker" descr="Emma Baker"/>
          <p:cNvPicPr>
            <a:picLocks noChangeAspect="1"/>
          </p:cNvPicPr>
          <p:nvPr/>
        </p:nvPicPr>
        <p:blipFill>
          <a:blip r:embed="rId15"/>
          <a:srcRect l="10920" t="23557" r="11660" b="12798"/>
          <a:stretch>
            <a:fillRect/>
          </a:stretch>
        </p:blipFill>
        <p:spPr>
          <a:xfrm>
            <a:off x="5794096" y="5157216"/>
            <a:ext cx="603504" cy="603504"/>
          </a:xfrm>
          <a:prstGeom prst="ellipse">
            <a:avLst/>
          </a:prstGeom>
          <a:ln w="12700">
            <a:solidFill>
              <a:srgbClr val="4245AF"/>
            </a:solidFill>
          </a:ln>
        </p:spPr>
      </p:pic>
      <p:sp>
        <p:nvSpPr>
          <p:cNvPr id="71" name="Scholar name Emma Baker"/>
          <p:cNvSpPr txBox="1"/>
          <p:nvPr/>
        </p:nvSpPr>
        <p:spPr>
          <a:xfrm>
            <a:off x="5405280" y="5788152"/>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50" b="1" i="0" dirty="0">
                <a:solidFill>
                  <a:srgbClr val="1E1E2E"/>
                </a:solidFill>
                <a:latin typeface="Arial"/>
                <a:ea typeface="Microsoft YaHei"/>
                <a:cs typeface="Arial"/>
              </a:rPr>
              <a:t>Emma Baker</a:t>
            </a:r>
          </a:p>
        </p:txBody>
      </p:sp>
      <p:sp>
        <p:nvSpPr>
          <p:cNvPr id="72" name="Scholar text Emma Baker"/>
          <p:cNvSpPr txBox="1"/>
          <p:nvPr/>
        </p:nvSpPr>
        <p:spPr>
          <a:xfrm>
            <a:off x="5423568" y="6007608"/>
            <a:ext cx="1344560" cy="594360"/>
          </a:xfrm>
          <a:prstGeom prst="rect">
            <a:avLst/>
          </a:prstGeom>
          <a:noFill/>
          <a:ln>
            <a:noFill/>
          </a:ln>
        </p:spPr>
        <p:txBody>
          <a:bodyPr wrap="square" lIns="0" tIns="0" rIns="0" bIns="0" anchor="t" rtlCol="0">
            <a:normAutofit/>
          </a:bodyPr>
          <a:lstStyle/>
          <a:p>
            <a:pPr algn="ctr">
              <a:lnSpc>
                <a:spcPct val="90000"/>
              </a:lnSpc>
              <a:spcAft>
                <a:spcPts val="0"/>
              </a:spcAft>
              <a:buNone/>
            </a:pPr>
            <a:r>
              <a:rPr lang="en-US" altLang="zh-CN" sz="850" b="1" i="0" dirty="0">
                <a:solidFill>
                  <a:srgbClr val="2E3192"/>
                </a:solidFill>
                <a:latin typeface="Arial"/>
                <a:ea typeface="Microsoft YaHei"/>
                <a:cs typeface="Arial"/>
              </a:rPr>
              <a:t>阿德莱德大学</a:t>
            </a:r>
          </a:p>
          <a:p>
            <a:pPr algn="ctr">
              <a:lnSpc>
                <a:spcPct val="90000"/>
              </a:lnSpc>
              <a:spcAft>
                <a:spcPts val="0"/>
              </a:spcAft>
              <a:buNone/>
            </a:pPr>
            <a:r>
              <a:rPr lang="en-US" altLang="zh-CN" sz="850" b="0" i="0" dirty="0">
                <a:solidFill>
                  <a:srgbClr val="5B5D72"/>
                </a:solidFill>
                <a:latin typeface="Arial"/>
                <a:ea typeface="Microsoft YaHei"/>
                <a:cs typeface="Arial"/>
              </a:rPr>
              <a:t>城市健康与居住环境</a:t>
            </a:r>
          </a:p>
        </p:txBody>
      </p:sp>
      <p:sp>
        <p:nvSpPr>
          <p:cNvPr id="73" name="Scholar card Orlando Woods"/>
          <p:cNvSpPr/>
          <p:nvPr/>
        </p:nvSpPr>
        <p:spPr>
          <a:xfrm>
            <a:off x="6951008" y="5084064"/>
            <a:ext cx="1490864" cy="1554480"/>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74" name="Portrait Orlando Woods" descr="Orlando Woods"/>
          <p:cNvPicPr>
            <a:picLocks noChangeAspect="1"/>
          </p:cNvPicPr>
          <p:nvPr/>
        </p:nvPicPr>
        <p:blipFill>
          <a:blip r:embed="rId16"/>
          <a:srcRect t="134" b="19866"/>
          <a:stretch>
            <a:fillRect/>
          </a:stretch>
        </p:blipFill>
        <p:spPr>
          <a:xfrm>
            <a:off x="7394687" y="5157216"/>
            <a:ext cx="603504" cy="603504"/>
          </a:xfrm>
          <a:prstGeom prst="ellipse">
            <a:avLst/>
          </a:prstGeom>
          <a:ln w="12700">
            <a:solidFill>
              <a:srgbClr val="4245AF"/>
            </a:solidFill>
          </a:ln>
        </p:spPr>
      </p:pic>
      <p:sp>
        <p:nvSpPr>
          <p:cNvPr id="75" name="Scholar name Orlando Woods"/>
          <p:cNvSpPr txBox="1"/>
          <p:nvPr/>
        </p:nvSpPr>
        <p:spPr>
          <a:xfrm>
            <a:off x="7005872" y="5788152"/>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50" b="1" i="0" dirty="0">
                <a:solidFill>
                  <a:srgbClr val="1E1E2E"/>
                </a:solidFill>
                <a:latin typeface="Arial"/>
                <a:ea typeface="Microsoft YaHei"/>
                <a:cs typeface="Arial"/>
              </a:rPr>
              <a:t>Orlando Woods</a:t>
            </a:r>
          </a:p>
        </p:txBody>
      </p:sp>
      <p:sp>
        <p:nvSpPr>
          <p:cNvPr id="76" name="Scholar text Orlando Woods"/>
          <p:cNvSpPr txBox="1"/>
          <p:nvPr/>
        </p:nvSpPr>
        <p:spPr>
          <a:xfrm>
            <a:off x="7024160" y="6007608"/>
            <a:ext cx="1344560" cy="594360"/>
          </a:xfrm>
          <a:prstGeom prst="rect">
            <a:avLst/>
          </a:prstGeom>
          <a:noFill/>
          <a:ln>
            <a:noFill/>
          </a:ln>
        </p:spPr>
        <p:txBody>
          <a:bodyPr wrap="square" lIns="0" tIns="0" rIns="0" bIns="0" anchor="t" rtlCol="0">
            <a:normAutofit/>
          </a:bodyPr>
          <a:lstStyle/>
          <a:p>
            <a:pPr algn="ctr">
              <a:lnSpc>
                <a:spcPct val="90000"/>
              </a:lnSpc>
              <a:spcAft>
                <a:spcPts val="0"/>
              </a:spcAft>
              <a:buNone/>
            </a:pPr>
            <a:r>
              <a:rPr lang="en-US" altLang="zh-CN" sz="850" b="1" i="0" dirty="0">
                <a:solidFill>
                  <a:srgbClr val="2E3192"/>
                </a:solidFill>
                <a:latin typeface="Arial"/>
                <a:ea typeface="Microsoft YaHei"/>
                <a:cs typeface="Arial"/>
              </a:rPr>
              <a:t>新加坡管理大学</a:t>
            </a:r>
          </a:p>
          <a:p>
            <a:pPr algn="ctr">
              <a:lnSpc>
                <a:spcPct val="90000"/>
              </a:lnSpc>
              <a:spcAft>
                <a:spcPts val="0"/>
              </a:spcAft>
              <a:buNone/>
            </a:pPr>
            <a:r>
              <a:rPr lang="en-US" altLang="zh-CN" sz="850" b="0" i="0" dirty="0">
                <a:solidFill>
                  <a:srgbClr val="5B5D72"/>
                </a:solidFill>
                <a:latin typeface="Arial"/>
                <a:ea typeface="Microsoft YaHei"/>
                <a:cs typeface="Arial"/>
              </a:rPr>
              <a:t>智慧城市，数字平台治理</a:t>
            </a:r>
          </a:p>
        </p:txBody>
      </p:sp>
      <p:sp>
        <p:nvSpPr>
          <p:cNvPr id="77" name="Scholar card 刘春华"/>
          <p:cNvSpPr/>
          <p:nvPr/>
        </p:nvSpPr>
        <p:spPr>
          <a:xfrm>
            <a:off x="8551599" y="5084064"/>
            <a:ext cx="1490864" cy="1554480"/>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78" name="Portrait 刘春华" descr="刘春华"/>
          <p:cNvPicPr>
            <a:picLocks noChangeAspect="1"/>
          </p:cNvPicPr>
          <p:nvPr/>
        </p:nvPicPr>
        <p:blipFill>
          <a:blip r:embed="rId17"/>
          <a:srcRect t="12548" b="12548"/>
          <a:stretch>
            <a:fillRect/>
          </a:stretch>
        </p:blipFill>
        <p:spPr>
          <a:xfrm>
            <a:off x="8995279" y="5157216"/>
            <a:ext cx="603504" cy="603504"/>
          </a:xfrm>
          <a:prstGeom prst="ellipse">
            <a:avLst/>
          </a:prstGeom>
          <a:ln w="12700">
            <a:solidFill>
              <a:srgbClr val="4245AF"/>
            </a:solidFill>
          </a:ln>
        </p:spPr>
      </p:pic>
      <p:sp>
        <p:nvSpPr>
          <p:cNvPr id="79" name="Scholar name 刘春华"/>
          <p:cNvSpPr txBox="1"/>
          <p:nvPr/>
        </p:nvSpPr>
        <p:spPr>
          <a:xfrm>
            <a:off x="8606463" y="5788152"/>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50" b="1" i="0" dirty="0">
                <a:solidFill>
                  <a:srgbClr val="1E1E2E"/>
                </a:solidFill>
                <a:latin typeface="Arial"/>
                <a:ea typeface="Microsoft YaHei"/>
                <a:cs typeface="Arial"/>
              </a:rPr>
              <a:t>刘春华</a:t>
            </a:r>
          </a:p>
        </p:txBody>
      </p:sp>
      <p:sp>
        <p:nvSpPr>
          <p:cNvPr id="80" name="Scholar text 刘春华"/>
          <p:cNvSpPr txBox="1"/>
          <p:nvPr/>
        </p:nvSpPr>
        <p:spPr>
          <a:xfrm>
            <a:off x="8624751" y="6007608"/>
            <a:ext cx="1344560" cy="594360"/>
          </a:xfrm>
          <a:prstGeom prst="rect">
            <a:avLst/>
          </a:prstGeom>
          <a:noFill/>
          <a:ln>
            <a:noFill/>
          </a:ln>
        </p:spPr>
        <p:txBody>
          <a:bodyPr wrap="square" lIns="0" tIns="0" rIns="0" bIns="0" anchor="t" rtlCol="0">
            <a:normAutofit/>
          </a:bodyPr>
          <a:lstStyle/>
          <a:p>
            <a:pPr algn="ctr">
              <a:lnSpc>
                <a:spcPct val="90000"/>
              </a:lnSpc>
              <a:spcAft>
                <a:spcPts val="0"/>
              </a:spcAft>
              <a:buNone/>
            </a:pPr>
            <a:r>
              <a:rPr lang="en-US" altLang="zh-CN" sz="850" b="1" i="0" dirty="0">
                <a:solidFill>
                  <a:srgbClr val="2E3192"/>
                </a:solidFill>
                <a:latin typeface="Arial"/>
                <a:ea typeface="Microsoft YaHei"/>
                <a:cs typeface="Arial"/>
              </a:rPr>
              <a:t>香港城市大学</a:t>
            </a:r>
          </a:p>
          <a:p>
            <a:pPr algn="ctr">
              <a:lnSpc>
                <a:spcPct val="90000"/>
              </a:lnSpc>
              <a:spcAft>
                <a:spcPts val="0"/>
              </a:spcAft>
              <a:buNone/>
            </a:pPr>
            <a:r>
              <a:rPr lang="en-US" altLang="zh-CN" sz="850" b="0" i="0" dirty="0">
                <a:solidFill>
                  <a:srgbClr val="5B5D72"/>
                </a:solidFill>
                <a:latin typeface="Arial"/>
                <a:ea typeface="Microsoft YaHei"/>
                <a:cs typeface="Arial"/>
              </a:rPr>
              <a:t>智慧能源、电动交通</a:t>
            </a:r>
          </a:p>
        </p:txBody>
      </p:sp>
      <p:sp>
        <p:nvSpPr>
          <p:cNvPr id="81" name="Scholar card 黄波"/>
          <p:cNvSpPr/>
          <p:nvPr/>
        </p:nvSpPr>
        <p:spPr>
          <a:xfrm>
            <a:off x="10152191" y="5084064"/>
            <a:ext cx="1490864" cy="1554480"/>
          </a:xfrm>
          <a:prstGeom prst="roundRect">
            <a:avLst>
              <a:gd name="adj" fmla="val 8000"/>
            </a:avLst>
          </a:prstGeom>
          <a:solidFill>
            <a:srgbClr val="EEEEF8"/>
          </a:solidFill>
          <a:ln>
            <a:noFill/>
          </a:ln>
        </p:spPr>
        <p:txBody>
          <a:bodyPr wrap="square" lIns="0" tIns="0" rIns="0" bIns="0" anchor="t" rtlCol="0">
            <a:normAutofit/>
          </a:bodyPr>
          <a:lstStyle/>
          <a:p>
            <a:endParaRPr lang="en-US"/>
          </a:p>
        </p:txBody>
      </p:sp>
      <p:pic>
        <p:nvPicPr>
          <p:cNvPr id="82" name="Portrait 黄波" descr="黄波"/>
          <p:cNvPicPr>
            <a:picLocks noChangeAspect="1"/>
          </p:cNvPicPr>
          <p:nvPr/>
        </p:nvPicPr>
        <p:blipFill>
          <a:blip r:embed="rId18"/>
          <a:srcRect t="713" b="713"/>
          <a:stretch>
            <a:fillRect/>
          </a:stretch>
        </p:blipFill>
        <p:spPr>
          <a:xfrm>
            <a:off x="10595871" y="5157216"/>
            <a:ext cx="603504" cy="603504"/>
          </a:xfrm>
          <a:prstGeom prst="ellipse">
            <a:avLst/>
          </a:prstGeom>
          <a:ln w="12700">
            <a:solidFill>
              <a:srgbClr val="4245AF"/>
            </a:solidFill>
          </a:ln>
        </p:spPr>
      </p:pic>
      <p:sp>
        <p:nvSpPr>
          <p:cNvPr id="83" name="Scholar name 黄波"/>
          <p:cNvSpPr txBox="1"/>
          <p:nvPr/>
        </p:nvSpPr>
        <p:spPr>
          <a:xfrm>
            <a:off x="10207055" y="5788152"/>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50" b="1" i="0" dirty="0">
                <a:solidFill>
                  <a:srgbClr val="1E1E2E"/>
                </a:solidFill>
                <a:latin typeface="Arial"/>
                <a:ea typeface="Microsoft YaHei"/>
                <a:cs typeface="Arial"/>
              </a:rPr>
              <a:t>黄波</a:t>
            </a:r>
          </a:p>
        </p:txBody>
      </p:sp>
      <p:sp>
        <p:nvSpPr>
          <p:cNvPr id="84" name="Scholar text 黄波"/>
          <p:cNvSpPr txBox="1"/>
          <p:nvPr/>
        </p:nvSpPr>
        <p:spPr>
          <a:xfrm>
            <a:off x="10225343" y="6007608"/>
            <a:ext cx="1344560" cy="594360"/>
          </a:xfrm>
          <a:prstGeom prst="rect">
            <a:avLst/>
          </a:prstGeom>
          <a:noFill/>
          <a:ln>
            <a:noFill/>
          </a:ln>
        </p:spPr>
        <p:txBody>
          <a:bodyPr wrap="square" lIns="0" tIns="0" rIns="0" bIns="0" anchor="t" rtlCol="0">
            <a:normAutofit/>
          </a:bodyPr>
          <a:lstStyle/>
          <a:p>
            <a:pPr algn="ctr">
              <a:lnSpc>
                <a:spcPct val="90000"/>
              </a:lnSpc>
              <a:spcAft>
                <a:spcPts val="0"/>
              </a:spcAft>
              <a:buNone/>
            </a:pPr>
            <a:r>
              <a:rPr lang="en-US" altLang="zh-CN" sz="850" b="1" i="0" dirty="0">
                <a:solidFill>
                  <a:srgbClr val="2E3192"/>
                </a:solidFill>
                <a:latin typeface="Arial"/>
                <a:ea typeface="Microsoft YaHei"/>
                <a:cs typeface="Arial"/>
              </a:rPr>
              <a:t>HKU</a:t>
            </a:r>
          </a:p>
          <a:p>
            <a:pPr algn="ctr">
              <a:lnSpc>
                <a:spcPct val="90000"/>
              </a:lnSpc>
              <a:spcAft>
                <a:spcPts val="0"/>
              </a:spcAft>
              <a:buNone/>
            </a:pPr>
            <a:r>
              <a:rPr lang="en-US" altLang="zh-CN" sz="850" b="0" i="0" dirty="0">
                <a:solidFill>
                  <a:srgbClr val="5B5D72"/>
                </a:solidFill>
                <a:latin typeface="Arial"/>
                <a:ea typeface="Microsoft YaHei"/>
                <a:cs typeface="Arial"/>
              </a:rPr>
              <a:t>地理信息科学、遥感和空间数据分析</a:t>
            </a:r>
          </a:p>
        </p:txBody>
      </p:sp>
    </p:spTree>
    <p:extLst>
      <p:ext uri="{BB962C8B-B14F-4D97-AF65-F5344CB8AC3E}">
        <p14:creationId xmlns:p14="http://schemas.microsoft.com/office/powerpoint/2010/main" val="3030346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52EC930-9711-3F06-85EF-E677C531DDD3}"/>
              </a:ext>
            </a:extLst>
          </p:cNvPr>
          <p:cNvSpPr txBox="1"/>
          <p:nvPr/>
        </p:nvSpPr>
        <p:spPr>
          <a:xfrm>
            <a:off x="596181" y="672022"/>
            <a:ext cx="7064563"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International Academic Leadership &amp; Networks</a:t>
            </a:r>
            <a:endParaRPr lang="zh-CN" altLang="en-US" sz="2400" b="1" dirty="0">
              <a:latin typeface="Arial" panose="020B0604020202020204" pitchFamily="34" charset="0"/>
              <a:cs typeface="Arial" panose="020B0604020202020204" pitchFamily="34" charset="0"/>
            </a:endParaRPr>
          </a:p>
        </p:txBody>
      </p:sp>
      <p:pic>
        <p:nvPicPr>
          <p:cNvPr id="4" name="图片 3" descr="RSA session at forthcoming International Conference on Urban Affairs (ICUA) - RSA Main">
            <a:extLst>
              <a:ext uri="{FF2B5EF4-FFF2-40B4-BE49-F238E27FC236}">
                <a16:creationId xmlns:a16="http://schemas.microsoft.com/office/drawing/2014/main" id="{B96B6EF2-2608-2D1F-5246-C0D51A664172}"/>
              </a:ext>
            </a:extLst>
          </p:cNvPr>
          <p:cNvPicPr>
            <a:picLocks noChangeAspect="1"/>
          </p:cNvPicPr>
          <p:nvPr/>
        </p:nvPicPr>
        <p:blipFill>
          <a:blip r:embed="rId2"/>
          <a:srcRect l="23136" t="14241" r="23107" b="14083"/>
          <a:stretch>
            <a:fillRect/>
          </a:stretch>
        </p:blipFill>
        <p:spPr>
          <a:xfrm>
            <a:off x="690524" y="1655990"/>
            <a:ext cx="1596571" cy="1596570"/>
          </a:xfrm>
          <a:prstGeom prst="rect">
            <a:avLst/>
          </a:prstGeom>
        </p:spPr>
      </p:pic>
      <p:pic>
        <p:nvPicPr>
          <p:cNvPr id="5" name="图片 4" descr="IGU-UGI: Statement on Geography, Human Rights and Palestine - RUNIPACE">
            <a:extLst>
              <a:ext uri="{FF2B5EF4-FFF2-40B4-BE49-F238E27FC236}">
                <a16:creationId xmlns:a16="http://schemas.microsoft.com/office/drawing/2014/main" id="{4000F983-BF4C-CBE5-C24C-D3B1DBEF4B3F}"/>
              </a:ext>
            </a:extLst>
          </p:cNvPr>
          <p:cNvPicPr>
            <a:picLocks noChangeAspect="1"/>
          </p:cNvPicPr>
          <p:nvPr/>
        </p:nvPicPr>
        <p:blipFill>
          <a:blip r:embed="rId3"/>
          <a:srcRect t="34554" b="36850"/>
          <a:stretch>
            <a:fillRect/>
          </a:stretch>
        </p:blipFill>
        <p:spPr>
          <a:xfrm>
            <a:off x="6855201" y="2117655"/>
            <a:ext cx="5242456" cy="836297"/>
          </a:xfrm>
          <a:prstGeom prst="rect">
            <a:avLst/>
          </a:prstGeom>
        </p:spPr>
      </p:pic>
      <p:pic>
        <p:nvPicPr>
          <p:cNvPr id="6" name="图片 5" descr="Private Foundations | Eva Garland Consulting">
            <a:extLst>
              <a:ext uri="{FF2B5EF4-FFF2-40B4-BE49-F238E27FC236}">
                <a16:creationId xmlns:a16="http://schemas.microsoft.com/office/drawing/2014/main" id="{52A14E19-C79E-B518-460F-1DE52CCE8F9A}"/>
              </a:ext>
            </a:extLst>
          </p:cNvPr>
          <p:cNvPicPr>
            <a:picLocks noChangeAspect="1"/>
          </p:cNvPicPr>
          <p:nvPr/>
        </p:nvPicPr>
        <p:blipFill>
          <a:blip r:embed="rId4"/>
          <a:srcRect l="14162" t="31587" r="13739" b="31446"/>
          <a:stretch>
            <a:fillRect/>
          </a:stretch>
        </p:blipFill>
        <p:spPr>
          <a:xfrm>
            <a:off x="690524" y="4264474"/>
            <a:ext cx="1922047" cy="985472"/>
          </a:xfrm>
          <a:prstGeom prst="rect">
            <a:avLst/>
          </a:prstGeom>
        </p:spPr>
      </p:pic>
      <p:pic>
        <p:nvPicPr>
          <p:cNvPr id="7" name="图片 6" descr="Study Environmental Sciences at University of East Anglia">
            <a:extLst>
              <a:ext uri="{FF2B5EF4-FFF2-40B4-BE49-F238E27FC236}">
                <a16:creationId xmlns:a16="http://schemas.microsoft.com/office/drawing/2014/main" id="{53C621B1-9735-C611-5562-EAA125ED00F4}"/>
              </a:ext>
            </a:extLst>
          </p:cNvPr>
          <p:cNvPicPr>
            <a:picLocks noChangeAspect="1"/>
          </p:cNvPicPr>
          <p:nvPr/>
        </p:nvPicPr>
        <p:blipFill>
          <a:blip r:embed="rId5"/>
          <a:stretch>
            <a:fillRect/>
          </a:stretch>
        </p:blipFill>
        <p:spPr>
          <a:xfrm>
            <a:off x="3345465" y="3985842"/>
            <a:ext cx="1592034" cy="1592034"/>
          </a:xfrm>
          <a:prstGeom prst="rect">
            <a:avLst/>
          </a:prstGeom>
        </p:spPr>
      </p:pic>
      <p:pic>
        <p:nvPicPr>
          <p:cNvPr id="8" name="图片 7" descr="Regional Studies Association (@regstud) on X">
            <a:extLst>
              <a:ext uri="{FF2B5EF4-FFF2-40B4-BE49-F238E27FC236}">
                <a16:creationId xmlns:a16="http://schemas.microsoft.com/office/drawing/2014/main" id="{CBA8991D-73F6-5586-6478-BB053CBBACC1}"/>
              </a:ext>
            </a:extLst>
          </p:cNvPr>
          <p:cNvPicPr>
            <a:picLocks noChangeAspect="1"/>
          </p:cNvPicPr>
          <p:nvPr/>
        </p:nvPicPr>
        <p:blipFill>
          <a:blip r:embed="rId6"/>
          <a:stretch>
            <a:fillRect/>
          </a:stretch>
        </p:blipFill>
        <p:spPr>
          <a:xfrm>
            <a:off x="5804106" y="3982810"/>
            <a:ext cx="1652039" cy="1652039"/>
          </a:xfrm>
          <a:prstGeom prst="rect">
            <a:avLst/>
          </a:prstGeom>
        </p:spPr>
      </p:pic>
      <p:pic>
        <p:nvPicPr>
          <p:cNvPr id="9" name="图片 8" descr="Asia-Pacific Network for Housing Research: APNHR">
            <a:extLst>
              <a:ext uri="{FF2B5EF4-FFF2-40B4-BE49-F238E27FC236}">
                <a16:creationId xmlns:a16="http://schemas.microsoft.com/office/drawing/2014/main" id="{F724E304-4384-CC41-8EE8-FBEBDC4A4792}"/>
              </a:ext>
            </a:extLst>
          </p:cNvPr>
          <p:cNvPicPr>
            <a:picLocks noChangeAspect="1"/>
          </p:cNvPicPr>
          <p:nvPr/>
        </p:nvPicPr>
        <p:blipFill>
          <a:blip r:embed="rId7"/>
          <a:stretch>
            <a:fillRect/>
          </a:stretch>
        </p:blipFill>
        <p:spPr>
          <a:xfrm>
            <a:off x="3000203" y="1467826"/>
            <a:ext cx="3277226" cy="2180845"/>
          </a:xfrm>
          <a:prstGeom prst="rect">
            <a:avLst/>
          </a:prstGeom>
        </p:spPr>
      </p:pic>
      <p:pic>
        <p:nvPicPr>
          <p:cNvPr id="11" name="图片 10">
            <a:extLst>
              <a:ext uri="{FF2B5EF4-FFF2-40B4-BE49-F238E27FC236}">
                <a16:creationId xmlns:a16="http://schemas.microsoft.com/office/drawing/2014/main" id="{BB8317CC-1766-F17B-41B8-E70B27A39512}"/>
              </a:ext>
            </a:extLst>
          </p:cNvPr>
          <p:cNvPicPr>
            <a:picLocks noChangeAspect="1"/>
          </p:cNvPicPr>
          <p:nvPr/>
        </p:nvPicPr>
        <p:blipFill>
          <a:blip r:embed="rId8"/>
          <a:stretch>
            <a:fillRect/>
          </a:stretch>
        </p:blipFill>
        <p:spPr>
          <a:xfrm>
            <a:off x="7834601" y="4413649"/>
            <a:ext cx="4209197" cy="785632"/>
          </a:xfrm>
          <a:prstGeom prst="rect">
            <a:avLst/>
          </a:prstGeom>
        </p:spPr>
      </p:pic>
    </p:spTree>
    <p:extLst>
      <p:ext uri="{BB962C8B-B14F-4D97-AF65-F5344CB8AC3E}">
        <p14:creationId xmlns:p14="http://schemas.microsoft.com/office/powerpoint/2010/main" val="4028804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291460B-AA1C-4AA6-868D-8E50444E4FF8}"/>
              </a:ext>
            </a:extLst>
          </p:cNvPr>
          <p:cNvSpPr txBox="1"/>
          <p:nvPr/>
        </p:nvSpPr>
        <p:spPr>
          <a:xfrm>
            <a:off x="596181" y="672022"/>
            <a:ext cx="1426224"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Timeline</a:t>
            </a:r>
            <a:endParaRPr lang="zh-CN" altLang="en-US" sz="2400" b="1"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BD2353D5-07C8-BADF-7BE8-8EABCFCC3793}"/>
              </a:ext>
            </a:extLst>
          </p:cNvPr>
          <p:cNvSpPr txBox="1"/>
          <p:nvPr/>
        </p:nvSpPr>
        <p:spPr>
          <a:xfrm>
            <a:off x="636438" y="1598647"/>
            <a:ext cx="11066732" cy="4674998"/>
          </a:xfrm>
          <a:prstGeom prst="rect">
            <a:avLst/>
          </a:prstGeom>
          <a:noFill/>
        </p:spPr>
        <p:txBody>
          <a:bodyPr wrap="square">
            <a:spAutoFit/>
          </a:bodyPr>
          <a:lstStyle/>
          <a:p>
            <a:pPr>
              <a:lnSpc>
                <a:spcPct val="125000"/>
              </a:lnSpc>
              <a:buNone/>
            </a:pPr>
            <a:r>
              <a:rPr lang="zh-CN" altLang="zh-CN" b="1" dirty="0">
                <a:latin typeface="Arial" panose="020B0604020202020204" pitchFamily="34" charset="0"/>
                <a:cs typeface="Arial" panose="020B0604020202020204" pitchFamily="34" charset="0"/>
              </a:rPr>
              <a:t>November–December 2026 | Editorial Board Formation &amp; Strategic Planning</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Convene the inaugural Editorial Board meeting.</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Finalize the journal’s vision, scope, editorial structure, and launch strategy.</a:t>
            </a:r>
          </a:p>
          <a:p>
            <a:pPr>
              <a:lnSpc>
                <a:spcPct val="125000"/>
              </a:lnSpc>
              <a:spcBef>
                <a:spcPts val="1200"/>
              </a:spcBef>
              <a:buNone/>
            </a:pPr>
            <a:r>
              <a:rPr lang="zh-CN" altLang="zh-CN" b="1" dirty="0">
                <a:latin typeface="Arial" panose="020B0604020202020204" pitchFamily="34" charset="0"/>
                <a:cs typeface="Arial" panose="020B0604020202020204" pitchFamily="34" charset="0"/>
              </a:rPr>
              <a:t>February 2027 | APNHR–AHRC Conference, Melbourne</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Introduce the journal to international research networks.</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Engage potential editors, contributors, and institutional partners.</a:t>
            </a:r>
          </a:p>
          <a:p>
            <a:pPr>
              <a:lnSpc>
                <a:spcPct val="125000"/>
              </a:lnSpc>
              <a:spcBef>
                <a:spcPts val="1200"/>
              </a:spcBef>
            </a:pPr>
            <a:r>
              <a:rPr lang="zh-CN" altLang="zh-CN" b="1" dirty="0">
                <a:latin typeface="Arial" panose="020B0604020202020204" pitchFamily="34" charset="0"/>
                <a:cs typeface="Arial" panose="020B0604020202020204" pitchFamily="34" charset="0"/>
              </a:rPr>
              <a:t>April 2027 | UAA Conference, New York</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Expand international networking and raise awareness of the journal.</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Invite prospective submissions and explore special issue opportunities.</a:t>
            </a:r>
          </a:p>
          <a:p>
            <a:pPr>
              <a:lnSpc>
                <a:spcPct val="125000"/>
              </a:lnSpc>
              <a:spcBef>
                <a:spcPts val="1200"/>
              </a:spcBef>
            </a:pPr>
            <a:r>
              <a:rPr lang="zh-CN" altLang="zh-CN" b="1" dirty="0">
                <a:latin typeface="Arial" panose="020B0604020202020204" pitchFamily="34" charset="0"/>
                <a:cs typeface="Arial" panose="020B0604020202020204" pitchFamily="34" charset="0"/>
              </a:rPr>
              <a:t>August 2027 | IGU Urban Commission Meeting</a:t>
            </a:r>
          </a:p>
          <a:p>
            <a:pPr marL="342900" lvl="0" indent="-342900">
              <a:lnSpc>
                <a:spcPct val="125000"/>
              </a:lnSpc>
              <a:buFont typeface="Arial" panose="020B0604020202020204" pitchFamily="34" charset="0"/>
              <a:buChar char="•"/>
            </a:pPr>
            <a:r>
              <a:rPr lang="zh-CN" altLang="zh-CN" b="1" dirty="0">
                <a:solidFill>
                  <a:srgbClr val="C00000"/>
                </a:solidFill>
                <a:latin typeface="Arial" panose="020B0604020202020204" pitchFamily="34" charset="0"/>
                <a:cs typeface="Arial" panose="020B0604020202020204" pitchFamily="34" charset="0"/>
              </a:rPr>
              <a:t>Official Launch of The Innovation Urban.</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Announce the editorial team, journal scope, and call for papers.</a:t>
            </a:r>
          </a:p>
        </p:txBody>
      </p:sp>
    </p:spTree>
    <p:extLst>
      <p:ext uri="{BB962C8B-B14F-4D97-AF65-F5344CB8AC3E}">
        <p14:creationId xmlns:p14="http://schemas.microsoft.com/office/powerpoint/2010/main" val="31106215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48.05,&quot;left&quot;:23.4,&quot;top&quot;:108.15,&quot;width&quot;:925.025039370078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3235</Words>
  <Application>Microsoft Office PowerPoint</Application>
  <PresentationFormat>宽屏</PresentationFormat>
  <Paragraphs>110</Paragraphs>
  <Slides>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Noto Sans CJK SC</vt: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Xiang Yan</dc:creator>
  <cp:lastModifiedBy>Xiang Yan</cp:lastModifiedBy>
  <cp:revision>16</cp:revision>
  <dcterms:created xsi:type="dcterms:W3CDTF">2026-10-11T03:25:45Z</dcterms:created>
  <dcterms:modified xsi:type="dcterms:W3CDTF">2026-10-11T06:07:07Z</dcterms:modified>
</cp:coreProperties>
</file>