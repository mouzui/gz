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image5.jpeg"/><Relationship Id="rId4" Type="http://schemas.openxmlformats.org/officeDocument/2006/relationships/image" Target="../media/mb_1_image2.jpeg"/><Relationship Id="rId5" Type="http://schemas.openxmlformats.org/officeDocument/2006/relationships/image" Target="../media/mb_1_image3.jpeg"/><Relationship Id="rId6" Type="http://schemas.openxmlformats.org/officeDocument/2006/relationships/image" Target="../media/mb_1_image4.jpeg"/><Relationship Id="rId7" Type="http://schemas.openxmlformats.org/officeDocument/2006/relationships/image" Target="../media/mb_1_image6.jpeg"/><Relationship Id="rId8" Type="http://schemas.openxmlformats.org/officeDocument/2006/relationships/image" Target="../media/mb_1_image7.jpeg"/><Relationship Id="rId9" Type="http://schemas.openxmlformats.org/officeDocument/2006/relationships/image" Target="../media/mb_1_image8.jpeg"/><Relationship Id="rId10" Type="http://schemas.openxmlformats.org/officeDocument/2006/relationships/image" Target="../media/mb_1_image9.jpeg"/><Relationship Id="rId11" Type="http://schemas.openxmlformats.org/officeDocument/2006/relationships/image" Target="../media/mb_1_image10.jpeg"/><Relationship Id="rId12" Type="http://schemas.openxmlformats.org/officeDocument/2006/relationships/image" Target="../media/mb_2_image11.jpeg"/><Relationship Id="rId13" Type="http://schemas.openxmlformats.org/officeDocument/2006/relationships/image" Target="../media/mb_2_image12.jpeg"/><Relationship Id="rId14" Type="http://schemas.openxmlformats.org/officeDocument/2006/relationships/image" Target="../media/mb_2_image13.jpeg"/><Relationship Id="rId15" Type="http://schemas.openxmlformats.org/officeDocument/2006/relationships/image" Target="../media/mb_2_image14.jpeg"/><Relationship Id="rId16" Type="http://schemas.openxmlformats.org/officeDocument/2006/relationships/image" Target="../media/mb_2_image15.jpeg"/><Relationship Id="rId17" Type="http://schemas.openxmlformats.org/officeDocument/2006/relationships/image" Target="../media/mb_2_image16.jpeg"/><Relationship Id="rId18" Type="http://schemas.openxmlformats.org/officeDocument/2006/relationships/image" Target="../media/mb_2_image17.jpe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6"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7"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8"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9"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0"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pic>
        <p:nvPicPr>
          <p:cNvPr id="11" name="Hero skyline" descr="Night skyline of a city under a starry sky"/>
          <p:cNvPicPr>
            <a:picLocks noChangeAspect="1"/>
          </p:cNvPicPr>
          <p:nvPr/>
        </p:nvPicPr>
        <p:blipFill>
          <a:blip r:embed="rId2"/>
          <a:stretch>
            <a:fillRect/>
          </a:stretch>
        </p:blipFill>
        <p:spPr>
          <a:xfrm>
            <a:off x="0" y="1078992"/>
            <a:ext cx="12191695" cy="5779008"/>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02</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4" name="Background statement"/>
          <p:cNvSpPr txBox="1"/>
          <p:nvPr/>
        </p:nvSpPr>
        <p:spPr>
          <a:xfrm>
            <a:off x="548640" y="24231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5" name="Challenge card 1"/>
          <p:cNvSpPr/>
          <p:nvPr/>
        </p:nvSpPr>
        <p:spPr>
          <a:xfrm>
            <a:off x="6257239"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6" name="Challenge icon 1 circle"/>
          <p:cNvSpPr/>
          <p:nvPr/>
        </p:nvSpPr>
        <p:spPr>
          <a:xfrm>
            <a:off x="6485839"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7" name="Challenge icon 1" descr=""/>
          <p:cNvPicPr>
            <a:picLocks noChangeAspect="1"/>
          </p:cNvPicPr>
          <p:nvPr/>
        </p:nvPicPr>
        <p:blipFill>
          <a:blip r:embed="rId2"/>
          <a:stretch>
            <a:fillRect/>
          </a:stretch>
        </p:blipFill>
        <p:spPr>
          <a:xfrm>
            <a:off x="6634429" y="2846070"/>
            <a:ext cx="297180" cy="297180"/>
          </a:xfrm>
          <a:prstGeom prst="rect">
            <a:avLst/>
          </a:prstGeom>
        </p:spPr>
      </p:pic>
      <p:sp>
        <p:nvSpPr>
          <p:cNvPr id="18" name="Challenge title 1"/>
          <p:cNvSpPr txBox="1"/>
          <p:nvPr/>
        </p:nvSpPr>
        <p:spPr>
          <a:xfrm>
            <a:off x="6485839"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9" name="Challenge caption 1"/>
          <p:cNvSpPr txBox="1"/>
          <p:nvPr/>
        </p:nvSpPr>
        <p:spPr>
          <a:xfrm>
            <a:off x="6485839"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20" name="Challenge card 2"/>
          <p:cNvSpPr/>
          <p:nvPr/>
        </p:nvSpPr>
        <p:spPr>
          <a:xfrm>
            <a:off x="9064447" y="24231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1" name="Challenge icon 2 circle"/>
          <p:cNvSpPr/>
          <p:nvPr/>
        </p:nvSpPr>
        <p:spPr>
          <a:xfrm>
            <a:off x="9293047" y="26974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2" name="Challenge icon 2" descr=""/>
          <p:cNvPicPr>
            <a:picLocks noChangeAspect="1"/>
          </p:cNvPicPr>
          <p:nvPr/>
        </p:nvPicPr>
        <p:blipFill>
          <a:blip r:embed="rId3"/>
          <a:stretch>
            <a:fillRect/>
          </a:stretch>
        </p:blipFill>
        <p:spPr>
          <a:xfrm>
            <a:off x="9441637" y="2846070"/>
            <a:ext cx="297180" cy="297180"/>
          </a:xfrm>
          <a:prstGeom prst="rect">
            <a:avLst/>
          </a:prstGeom>
        </p:spPr>
      </p:pic>
      <p:sp>
        <p:nvSpPr>
          <p:cNvPr id="23" name="Challenge title 2"/>
          <p:cNvSpPr txBox="1"/>
          <p:nvPr/>
        </p:nvSpPr>
        <p:spPr>
          <a:xfrm>
            <a:off x="9293047" y="34290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4" name="Challenge caption 2"/>
          <p:cNvSpPr txBox="1"/>
          <p:nvPr/>
        </p:nvSpPr>
        <p:spPr>
          <a:xfrm>
            <a:off x="9293047" y="37033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5" name="Challenge card 3"/>
          <p:cNvSpPr/>
          <p:nvPr/>
        </p:nvSpPr>
        <p:spPr>
          <a:xfrm>
            <a:off x="6257239"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6" name="Challenge icon 3 circle"/>
          <p:cNvSpPr/>
          <p:nvPr/>
        </p:nvSpPr>
        <p:spPr>
          <a:xfrm>
            <a:off x="6485839"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7" name="Challenge icon 3" descr=""/>
          <p:cNvPicPr>
            <a:picLocks noChangeAspect="1"/>
          </p:cNvPicPr>
          <p:nvPr/>
        </p:nvPicPr>
        <p:blipFill>
          <a:blip r:embed="rId4"/>
          <a:stretch>
            <a:fillRect/>
          </a:stretch>
        </p:blipFill>
        <p:spPr>
          <a:xfrm>
            <a:off x="6634429" y="4857750"/>
            <a:ext cx="297180" cy="297180"/>
          </a:xfrm>
          <a:prstGeom prst="rect">
            <a:avLst/>
          </a:prstGeom>
        </p:spPr>
      </p:pic>
      <p:sp>
        <p:nvSpPr>
          <p:cNvPr id="28" name="Challenge title 3"/>
          <p:cNvSpPr txBox="1"/>
          <p:nvPr/>
        </p:nvSpPr>
        <p:spPr>
          <a:xfrm>
            <a:off x="6485839"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9" name="Challenge caption 3"/>
          <p:cNvSpPr txBox="1"/>
          <p:nvPr/>
        </p:nvSpPr>
        <p:spPr>
          <a:xfrm>
            <a:off x="6485839"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30" name="Challenge card 4"/>
          <p:cNvSpPr/>
          <p:nvPr/>
        </p:nvSpPr>
        <p:spPr>
          <a:xfrm>
            <a:off x="9064447" y="44348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1" name="Challenge icon 4 circle"/>
          <p:cNvSpPr/>
          <p:nvPr/>
        </p:nvSpPr>
        <p:spPr>
          <a:xfrm>
            <a:off x="9293047" y="47091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2" name="Challenge icon 4" descr=""/>
          <p:cNvPicPr>
            <a:picLocks noChangeAspect="1"/>
          </p:cNvPicPr>
          <p:nvPr/>
        </p:nvPicPr>
        <p:blipFill>
          <a:blip r:embed="rId5"/>
          <a:stretch>
            <a:fillRect/>
          </a:stretch>
        </p:blipFill>
        <p:spPr>
          <a:xfrm>
            <a:off x="9441637" y="4857750"/>
            <a:ext cx="297180" cy="297180"/>
          </a:xfrm>
          <a:prstGeom prst="rect">
            <a:avLst/>
          </a:prstGeom>
        </p:spPr>
      </p:pic>
      <p:sp>
        <p:nvSpPr>
          <p:cNvPr id="33" name="Challenge title 4"/>
          <p:cNvSpPr txBox="1"/>
          <p:nvPr/>
        </p:nvSpPr>
        <p:spPr>
          <a:xfrm>
            <a:off x="9293047" y="54406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4" name="Challenge caption 4"/>
          <p:cNvSpPr txBox="1"/>
          <p:nvPr/>
        </p:nvSpPr>
        <p:spPr>
          <a:xfrm>
            <a:off x="9293047" y="57150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03</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4" name="Vision statement"/>
          <p:cNvSpPr txBox="1"/>
          <p:nvPr/>
        </p:nvSpPr>
        <p:spPr>
          <a:xfrm>
            <a:off x="548640" y="23774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5" name="Team card 1"/>
          <p:cNvSpPr/>
          <p:nvPr/>
        </p:nvSpPr>
        <p:spPr>
          <a:xfrm>
            <a:off x="54864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6" name="Team icon 1 circle"/>
          <p:cNvSpPr/>
          <p:nvPr/>
        </p:nvSpPr>
        <p:spPr>
          <a:xfrm>
            <a:off x="77724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7" name="Team icon 1" descr=""/>
          <p:cNvPicPr>
            <a:picLocks noChangeAspect="1"/>
          </p:cNvPicPr>
          <p:nvPr/>
        </p:nvPicPr>
        <p:blipFill>
          <a:blip r:embed="rId2"/>
          <a:stretch>
            <a:fillRect/>
          </a:stretch>
        </p:blipFill>
        <p:spPr>
          <a:xfrm>
            <a:off x="925830" y="4473702"/>
            <a:ext cx="297180" cy="297180"/>
          </a:xfrm>
          <a:prstGeom prst="rect">
            <a:avLst/>
          </a:prstGeom>
        </p:spPr>
      </p:pic>
      <p:sp>
        <p:nvSpPr>
          <p:cNvPr id="18" name="Team title 1"/>
          <p:cNvSpPr txBox="1"/>
          <p:nvPr/>
        </p:nvSpPr>
        <p:spPr>
          <a:xfrm>
            <a:off x="77724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9" name="Team caption 1"/>
          <p:cNvSpPr txBox="1"/>
          <p:nvPr/>
        </p:nvSpPr>
        <p:spPr>
          <a:xfrm>
            <a:off x="77724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20" name="Team card 2"/>
          <p:cNvSpPr/>
          <p:nvPr/>
        </p:nvSpPr>
        <p:spPr>
          <a:xfrm>
            <a:off x="310896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1" name="Team icon 2 circle"/>
          <p:cNvSpPr/>
          <p:nvPr/>
        </p:nvSpPr>
        <p:spPr>
          <a:xfrm>
            <a:off x="333756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2" name="Team icon 2" descr=""/>
          <p:cNvPicPr>
            <a:picLocks noChangeAspect="1"/>
          </p:cNvPicPr>
          <p:nvPr/>
        </p:nvPicPr>
        <p:blipFill>
          <a:blip r:embed="rId3"/>
          <a:stretch>
            <a:fillRect/>
          </a:stretch>
        </p:blipFill>
        <p:spPr>
          <a:xfrm>
            <a:off x="3486150" y="4473702"/>
            <a:ext cx="297180" cy="297180"/>
          </a:xfrm>
          <a:prstGeom prst="rect">
            <a:avLst/>
          </a:prstGeom>
        </p:spPr>
      </p:pic>
      <p:sp>
        <p:nvSpPr>
          <p:cNvPr id="23" name="Team title 2"/>
          <p:cNvSpPr txBox="1"/>
          <p:nvPr/>
        </p:nvSpPr>
        <p:spPr>
          <a:xfrm>
            <a:off x="333756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4" name="Team caption 2"/>
          <p:cNvSpPr txBox="1"/>
          <p:nvPr/>
        </p:nvSpPr>
        <p:spPr>
          <a:xfrm>
            <a:off x="333756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5" name="Team card 3"/>
          <p:cNvSpPr/>
          <p:nvPr/>
        </p:nvSpPr>
        <p:spPr>
          <a:xfrm>
            <a:off x="5669280" y="40690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6" name="Team icon 3 circle"/>
          <p:cNvSpPr/>
          <p:nvPr/>
        </p:nvSpPr>
        <p:spPr>
          <a:xfrm>
            <a:off x="5897880" y="43251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7" name="Team icon 3" descr=""/>
          <p:cNvPicPr>
            <a:picLocks noChangeAspect="1"/>
          </p:cNvPicPr>
          <p:nvPr/>
        </p:nvPicPr>
        <p:blipFill>
          <a:blip r:embed="rId4"/>
          <a:stretch>
            <a:fillRect/>
          </a:stretch>
        </p:blipFill>
        <p:spPr>
          <a:xfrm>
            <a:off x="6046470" y="4473702"/>
            <a:ext cx="297180" cy="297180"/>
          </a:xfrm>
          <a:prstGeom prst="rect">
            <a:avLst/>
          </a:prstGeom>
        </p:spPr>
      </p:pic>
      <p:sp>
        <p:nvSpPr>
          <p:cNvPr id="28" name="Team title 3"/>
          <p:cNvSpPr txBox="1"/>
          <p:nvPr/>
        </p:nvSpPr>
        <p:spPr>
          <a:xfrm>
            <a:off x="5897880" y="50749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9" name="Team caption 3"/>
          <p:cNvSpPr txBox="1"/>
          <p:nvPr/>
        </p:nvSpPr>
        <p:spPr>
          <a:xfrm>
            <a:off x="5897880" y="54223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30" name="Approach panel"/>
          <p:cNvSpPr/>
          <p:nvPr/>
        </p:nvSpPr>
        <p:spPr>
          <a:xfrm>
            <a:off x="8229600" y="40690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1" name="Approach kicker"/>
          <p:cNvSpPr txBox="1"/>
          <p:nvPr/>
        </p:nvSpPr>
        <p:spPr>
          <a:xfrm>
            <a:off x="8549640" y="42976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2" name="Step number 1"/>
          <p:cNvSpPr txBox="1"/>
          <p:nvPr/>
        </p:nvSpPr>
        <p:spPr>
          <a:xfrm>
            <a:off x="8549640" y="46908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3" name="Step text 1"/>
          <p:cNvSpPr txBox="1"/>
          <p:nvPr/>
        </p:nvSpPr>
        <p:spPr>
          <a:xfrm>
            <a:off x="9098280" y="46908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4" name="Step number 2"/>
          <p:cNvSpPr txBox="1"/>
          <p:nvPr/>
        </p:nvSpPr>
        <p:spPr>
          <a:xfrm>
            <a:off x="8549640" y="51846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5" name="Step text 2"/>
          <p:cNvSpPr txBox="1"/>
          <p:nvPr/>
        </p:nvSpPr>
        <p:spPr>
          <a:xfrm>
            <a:off x="9098280" y="51846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6" name="Step number 3"/>
          <p:cNvSpPr txBox="1"/>
          <p:nvPr/>
        </p:nvSpPr>
        <p:spPr>
          <a:xfrm>
            <a:off x="8549640" y="56784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7" name="Step text 3"/>
          <p:cNvSpPr txBox="1"/>
          <p:nvPr/>
        </p:nvSpPr>
        <p:spPr>
          <a:xfrm>
            <a:off x="9098280" y="56784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04</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4" name="Mission statement"/>
          <p:cNvSpPr txBox="1"/>
          <p:nvPr/>
        </p:nvSpPr>
        <p:spPr>
          <a:xfrm>
            <a:off x="548640" y="22860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5" name="Goal card 1"/>
          <p:cNvSpPr/>
          <p:nvPr/>
        </p:nvSpPr>
        <p:spPr>
          <a:xfrm>
            <a:off x="548640"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6" name="Goal number 1"/>
          <p:cNvSpPr/>
          <p:nvPr/>
        </p:nvSpPr>
        <p:spPr>
          <a:xfrm>
            <a:off x="749808"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7" name="Goal text 1"/>
          <p:cNvSpPr txBox="1"/>
          <p:nvPr/>
        </p:nvSpPr>
        <p:spPr>
          <a:xfrm>
            <a:off x="749808"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8" name="Goal card 2"/>
          <p:cNvSpPr/>
          <p:nvPr/>
        </p:nvSpPr>
        <p:spPr>
          <a:xfrm>
            <a:off x="3379394"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9" name="Goal number 2"/>
          <p:cNvSpPr/>
          <p:nvPr/>
        </p:nvSpPr>
        <p:spPr>
          <a:xfrm>
            <a:off x="3580562"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20" name="Goal text 2"/>
          <p:cNvSpPr txBox="1"/>
          <p:nvPr/>
        </p:nvSpPr>
        <p:spPr>
          <a:xfrm>
            <a:off x="3580562"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1" name="Goal card 3"/>
          <p:cNvSpPr/>
          <p:nvPr/>
        </p:nvSpPr>
        <p:spPr>
          <a:xfrm>
            <a:off x="6210148"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Goal number 3"/>
          <p:cNvSpPr/>
          <p:nvPr/>
        </p:nvSpPr>
        <p:spPr>
          <a:xfrm>
            <a:off x="6411316"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3" name="Goal text 3"/>
          <p:cNvSpPr txBox="1"/>
          <p:nvPr/>
        </p:nvSpPr>
        <p:spPr>
          <a:xfrm>
            <a:off x="6411316"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4" name="Goal card 4"/>
          <p:cNvSpPr/>
          <p:nvPr/>
        </p:nvSpPr>
        <p:spPr>
          <a:xfrm>
            <a:off x="9040901" y="35844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5" name="Goal number 4"/>
          <p:cNvSpPr/>
          <p:nvPr/>
        </p:nvSpPr>
        <p:spPr>
          <a:xfrm>
            <a:off x="9242069" y="37490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6" name="Goal text 4"/>
          <p:cNvSpPr txBox="1"/>
          <p:nvPr/>
        </p:nvSpPr>
        <p:spPr>
          <a:xfrm>
            <a:off x="9242069" y="42611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7" name="Goal card 5"/>
          <p:cNvSpPr/>
          <p:nvPr/>
        </p:nvSpPr>
        <p:spPr>
          <a:xfrm>
            <a:off x="548640"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8" name="Goal number 5"/>
          <p:cNvSpPr/>
          <p:nvPr/>
        </p:nvSpPr>
        <p:spPr>
          <a:xfrm>
            <a:off x="749808"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9" name="Goal text 5"/>
          <p:cNvSpPr txBox="1"/>
          <p:nvPr/>
        </p:nvSpPr>
        <p:spPr>
          <a:xfrm>
            <a:off x="749808"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30" name="Goal card 6"/>
          <p:cNvSpPr/>
          <p:nvPr/>
        </p:nvSpPr>
        <p:spPr>
          <a:xfrm>
            <a:off x="3379394"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1" name="Goal number 6"/>
          <p:cNvSpPr/>
          <p:nvPr/>
        </p:nvSpPr>
        <p:spPr>
          <a:xfrm>
            <a:off x="3580562"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2" name="Goal text 6"/>
          <p:cNvSpPr txBox="1"/>
          <p:nvPr/>
        </p:nvSpPr>
        <p:spPr>
          <a:xfrm>
            <a:off x="3580562"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3" name="Goal card 7"/>
          <p:cNvSpPr/>
          <p:nvPr/>
        </p:nvSpPr>
        <p:spPr>
          <a:xfrm>
            <a:off x="6210148" y="51389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Goal number 7"/>
          <p:cNvSpPr/>
          <p:nvPr/>
        </p:nvSpPr>
        <p:spPr>
          <a:xfrm>
            <a:off x="6411316" y="53035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5" name="Goal text 7"/>
          <p:cNvSpPr txBox="1"/>
          <p:nvPr/>
        </p:nvSpPr>
        <p:spPr>
          <a:xfrm>
            <a:off x="6411316"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6" name="Goal card 8"/>
          <p:cNvSpPr/>
          <p:nvPr/>
        </p:nvSpPr>
        <p:spPr>
          <a:xfrm>
            <a:off x="9040901" y="51389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7" name="Goal number 8"/>
          <p:cNvSpPr/>
          <p:nvPr/>
        </p:nvSpPr>
        <p:spPr>
          <a:xfrm>
            <a:off x="9242069" y="53035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8" name="Goal text 8"/>
          <p:cNvSpPr txBox="1"/>
          <p:nvPr/>
        </p:nvSpPr>
        <p:spPr>
          <a:xfrm>
            <a:off x="9242069" y="58155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102"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103"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05</a:t>
            </a:r>
          </a:p>
        </p:txBody>
      </p:sp>
      <p:sp>
        <p:nvSpPr>
          <p:cNvPr id="104"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105"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6"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107"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108"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9" name="Nav Topics"/>
          <p:cNvSpPr/>
          <p:nvPr/>
        </p:nvSpPr>
        <p:spPr>
          <a:xfrm>
            <a:off x="9128455" y="429768"/>
            <a:ext cx="9144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Topics</a:t>
            </a:r>
          </a:p>
        </p:txBody>
      </p:sp>
      <p:sp>
        <p:nvSpPr>
          <p:cNvPr id="110" name="Nav Editorial Board"/>
          <p:cNvSpPr/>
          <p:nvPr/>
        </p:nvSpPr>
        <p:spPr>
          <a:xfrm>
            <a:off x="10042855" y="429768"/>
            <a:ext cx="16002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Editorial Board</a:t>
            </a:r>
          </a:p>
        </p:txBody>
      </p:sp>
      <p:sp>
        <p:nvSpPr>
          <p:cNvPr id="111"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2"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3317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4437C89-EFC0-0A27-9684-FCFDFBF30DE1}"/>
              </a:ext>
            </a:extLst>
          </p:cNvPr>
          <p:cNvSpPr txBox="1"/>
          <p:nvPr/>
        </p:nvSpPr>
        <p:spPr>
          <a:xfrm>
            <a:off x="596181" y="672022"/>
            <a:ext cx="497687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Editor-in-Chief &amp; Working group </a:t>
            </a:r>
            <a:endParaRPr lang="zh-CN" altLang="en-US" sz="2400" b="1"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733850B5-B224-5592-3648-6C1974902BCD}"/>
              </a:ext>
            </a:extLst>
          </p:cNvPr>
          <p:cNvSpPr txBox="1"/>
          <p:nvPr/>
        </p:nvSpPr>
        <p:spPr>
          <a:xfrm>
            <a:off x="2233331" y="3083082"/>
            <a:ext cx="2746265"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Shenjing</a:t>
            </a:r>
            <a:r>
              <a:rPr lang="en-US" altLang="zh-CN" sz="2400" b="1" dirty="0">
                <a:latin typeface="Arial" panose="020B0604020202020204" pitchFamily="34" charset="0"/>
                <a:cs typeface="Arial" panose="020B0604020202020204" pitchFamily="34" charset="0"/>
              </a:rPr>
              <a:t> He</a:t>
            </a:r>
            <a:endParaRPr lang="zh-CN" altLang="en-US" sz="2400" b="1" dirty="0">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B056DD10-C2F4-9869-E731-44FBB15AE9AC}"/>
              </a:ext>
            </a:extLst>
          </p:cNvPr>
          <p:cNvSpPr txBox="1"/>
          <p:nvPr/>
        </p:nvSpPr>
        <p:spPr>
          <a:xfrm>
            <a:off x="1013714" y="4628672"/>
            <a:ext cx="2433551"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Xiang Yan</a:t>
            </a:r>
            <a:endParaRPr lang="zh-CN" altLang="en-US" sz="2400" b="1" dirty="0">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90B690D4-085F-03C3-7C8C-B52709B7D190}"/>
              </a:ext>
            </a:extLst>
          </p:cNvPr>
          <p:cNvSpPr txBox="1"/>
          <p:nvPr/>
        </p:nvSpPr>
        <p:spPr>
          <a:xfrm>
            <a:off x="4494321" y="4628672"/>
            <a:ext cx="2853730"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Prof. </a:t>
            </a:r>
            <a:r>
              <a:rPr lang="en-US" altLang="zh-CN" sz="2400" b="1" dirty="0" err="1">
                <a:latin typeface="Arial" panose="020B0604020202020204" pitchFamily="34" charset="0"/>
                <a:cs typeface="Arial" panose="020B0604020202020204" pitchFamily="34" charset="0"/>
              </a:rPr>
              <a:t>Tianzuo</a:t>
            </a:r>
            <a:r>
              <a:rPr lang="en-US" altLang="zh-CN" sz="2400" b="1" dirty="0">
                <a:latin typeface="Arial" panose="020B0604020202020204" pitchFamily="34" charset="0"/>
                <a:cs typeface="Arial" panose="020B0604020202020204" pitchFamily="34" charset="0"/>
              </a:rPr>
              <a:t> Wen</a:t>
            </a:r>
          </a:p>
        </p:txBody>
      </p:sp>
      <p:sp>
        <p:nvSpPr>
          <p:cNvPr id="13" name="文本框 12">
            <a:extLst>
              <a:ext uri="{FF2B5EF4-FFF2-40B4-BE49-F238E27FC236}">
                <a16:creationId xmlns:a16="http://schemas.microsoft.com/office/drawing/2014/main" id="{BFB8132D-417D-01F9-B162-9E3F97D55B7B}"/>
              </a:ext>
            </a:extLst>
          </p:cNvPr>
          <p:cNvSpPr txBox="1"/>
          <p:nvPr/>
        </p:nvSpPr>
        <p:spPr>
          <a:xfrm>
            <a:off x="8335951" y="4628672"/>
            <a:ext cx="2057486"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Dr. </a:t>
            </a:r>
            <a:r>
              <a:rPr lang="en-US" altLang="zh-CN" sz="2400" b="1" dirty="0" err="1">
                <a:latin typeface="Arial" panose="020B0604020202020204" pitchFamily="34" charset="0"/>
                <a:cs typeface="Arial" panose="020B0604020202020204" pitchFamily="34" charset="0"/>
              </a:rPr>
              <a:t>Yutian</a:t>
            </a:r>
            <a:r>
              <a:rPr lang="en-US" altLang="zh-CN" sz="2400" b="1" dirty="0">
                <a:latin typeface="Arial" panose="020B0604020202020204" pitchFamily="34" charset="0"/>
                <a:cs typeface="Arial" panose="020B0604020202020204" pitchFamily="34" charset="0"/>
              </a:rPr>
              <a:t> Lu</a:t>
            </a:r>
            <a:endParaRPr lang="zh-CN" altLang="en-US" sz="2400" b="1" dirty="0">
              <a:latin typeface="Arial" panose="020B0604020202020204" pitchFamily="34" charset="0"/>
              <a:cs typeface="Arial" panose="020B0604020202020204" pitchFamily="34" charset="0"/>
            </a:endParaRPr>
          </a:p>
        </p:txBody>
      </p:sp>
      <p:sp>
        <p:nvSpPr>
          <p:cNvPr id="15" name="椭圆 14">
            <a:extLst>
              <a:ext uri="{FF2B5EF4-FFF2-40B4-BE49-F238E27FC236}">
                <a16:creationId xmlns:a16="http://schemas.microsoft.com/office/drawing/2014/main" id="{9EE514A6-51FB-1F26-5428-196DE3188FB5}"/>
              </a:ext>
            </a:extLst>
          </p:cNvPr>
          <p:cNvSpPr/>
          <p:nvPr>
            <p:custDataLst>
              <p:tags r:id="rId1"/>
            </p:custDataLst>
          </p:nvPr>
        </p:nvSpPr>
        <p:spPr>
          <a:xfrm>
            <a:off x="2788265" y="1446687"/>
            <a:ext cx="1636395" cy="1636395"/>
          </a:xfrm>
          <a:prstGeom prst="ellipse">
            <a:avLst/>
          </a:prstGeom>
          <a:blipFill rotWithShape="1">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 strap"/>
          <p:cNvSpPr/>
          <p:nvPr/>
        </p:nvSpPr>
        <p:spPr>
          <a:xfrm>
            <a:off x="0" y="0"/>
            <a:ext cx="12191695" cy="365760"/>
          </a:xfrm>
          <a:prstGeom prst="rect">
            <a:avLst/>
          </a:prstGeom>
          <a:solidFill>
            <a:srgbClr val="111111"/>
          </a:solidFill>
          <a:ln>
            <a:noFill/>
          </a:ln>
        </p:spPr>
        <p:txBody>
          <a:bodyPr wrap="square" lIns="0" tIns="0" rIns="0" bIns="0" anchor="t" rtlCol="0">
            <a:normAutofit/>
          </a:bodyPr>
          <a:lstStyle/>
          <a:p>
            <a:endParaRPr lang="en-US"/>
          </a:p>
        </p:txBody>
      </p:sp>
      <p:sp>
        <p:nvSpPr>
          <p:cNvPr id="3" name="Strap text"/>
          <p:cNvSpPr txBox="1"/>
          <p:nvPr/>
        </p:nvSpPr>
        <p:spPr>
          <a:xfrm>
            <a:off x="548640" y="0"/>
            <a:ext cx="8229600" cy="365760"/>
          </a:xfrm>
          <a:prstGeom prst="rect">
            <a:avLst/>
          </a:prstGeom>
          <a:noFill/>
          <a:ln>
            <a:noFill/>
          </a:ln>
        </p:spPr>
        <p:txBody>
          <a:bodyPr wrap="square" lIns="0" tIns="0" rIns="0" bIns="0" anchor="ctr" rtlCol="0">
            <a:normAutofit/>
          </a:bodyPr>
          <a:lstStyle/>
          <a:p>
            <a:pPr algn="l">
              <a:spcAft>
                <a:spcPts val="0"/>
              </a:spcAft>
              <a:buNone/>
            </a:pPr>
            <a:r>
              <a:rPr lang="en-US" altLang="zh-CN" sz="1100" b="0" i="0" dirty="0">
                <a:solidFill>
                  <a:srgbClr val="E5532D"/>
                </a:solidFill>
                <a:latin typeface="Arial"/>
                <a:ea typeface="Microsoft YaHei"/>
                <a:cs typeface="Arial"/>
              </a:rPr>
              <a:t>The Innovation Urban  |  A proposed sister journal of The Innovation</a:t>
            </a:r>
          </a:p>
        </p:txBody>
      </p:sp>
      <p:sp>
        <p:nvSpPr>
          <p:cNvPr id="4" name="Page number"/>
          <p:cNvSpPr txBox="1"/>
          <p:nvPr/>
        </p:nvSpPr>
        <p:spPr>
          <a:xfrm>
            <a:off x="10728655" y="0"/>
            <a:ext cx="914400" cy="365760"/>
          </a:xfrm>
          <a:prstGeom prst="rect">
            <a:avLst/>
          </a:prstGeom>
          <a:noFill/>
          <a:ln>
            <a:noFill/>
          </a:ln>
        </p:spPr>
        <p:txBody>
          <a:bodyPr wrap="square" lIns="0" tIns="0" rIns="0" bIns="0" anchor="ctr" rtlCol="0">
            <a:normAutofit/>
          </a:bodyPr>
          <a:lstStyle/>
          <a:p>
            <a:pPr algn="r">
              <a:spcAft>
                <a:spcPts val="0"/>
              </a:spcAft>
              <a:buNone/>
            </a:pPr>
            <a:r>
              <a:rPr lang="en-US" altLang="zh-CN" sz="1100" b="1" i="0" dirty="0">
                <a:solidFill>
                  <a:srgbClr val="FFFFFF"/>
                </a:solidFill>
                <a:latin typeface="Arial"/>
                <a:ea typeface="Microsoft YaHei"/>
                <a:cs typeface="Arial"/>
              </a:rPr>
              <a:t>07</a:t>
            </a:r>
          </a:p>
        </p:txBody>
      </p:sp>
      <p:sp>
        <p:nvSpPr>
          <p:cNvPr id="5" name="Navigation bar"/>
          <p:cNvSpPr/>
          <p:nvPr/>
        </p:nvSpPr>
        <p:spPr>
          <a:xfrm>
            <a:off x="0" y="365760"/>
            <a:ext cx="12191695" cy="713232"/>
          </a:xfrm>
          <a:prstGeom prst="rect">
            <a:avLst/>
          </a:prstGeom>
          <a:solidFill>
            <a:srgbClr val="4245AF"/>
          </a:solidFill>
          <a:ln>
            <a:noFill/>
          </a:ln>
        </p:spPr>
        <p:txBody>
          <a:bodyPr wrap="square" lIns="0" tIns="0" rIns="0" bIns="0" anchor="t" rtlCol="0">
            <a:normAutofit/>
          </a:bodyPr>
          <a:lstStyle/>
          <a:p>
            <a:endParaRPr lang="en-US"/>
          </a:p>
        </p:txBody>
      </p:sp>
      <p:sp>
        <p:nvSpPr>
          <p:cNvPr id="6" name="Journal name"/>
          <p:cNvSpPr txBox="1"/>
          <p:nvPr/>
        </p:nvSpPr>
        <p:spPr>
          <a:xfrm>
            <a:off x="548640" y="365760"/>
            <a:ext cx="4572000" cy="713232"/>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7" name="Nav Background"/>
          <p:cNvSpPr/>
          <p:nvPr/>
        </p:nvSpPr>
        <p:spPr>
          <a:xfrm>
            <a:off x="5928055" y="429768"/>
            <a:ext cx="13258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Background</a:t>
            </a:r>
          </a:p>
        </p:txBody>
      </p:sp>
      <p:sp>
        <p:nvSpPr>
          <p:cNvPr id="8" name="Nav Vision"/>
          <p:cNvSpPr/>
          <p:nvPr/>
        </p:nvSpPr>
        <p:spPr>
          <a:xfrm>
            <a:off x="7253935" y="429768"/>
            <a:ext cx="86868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Vision</a:t>
            </a:r>
          </a:p>
        </p:txBody>
      </p:sp>
      <p:sp>
        <p:nvSpPr>
          <p:cNvPr id="9" name="Nav Mission"/>
          <p:cNvSpPr/>
          <p:nvPr/>
        </p:nvSpPr>
        <p:spPr>
          <a:xfrm>
            <a:off x="8122615" y="429768"/>
            <a:ext cx="100584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Mission</a:t>
            </a:r>
          </a:p>
        </p:txBody>
      </p:sp>
      <p:sp>
        <p:nvSpPr>
          <p:cNvPr id="10" name="Nav Topics"/>
          <p:cNvSpPr/>
          <p:nvPr/>
        </p:nvSpPr>
        <p:spPr>
          <a:xfrm>
            <a:off x="9128455" y="429768"/>
            <a:ext cx="914400" cy="585216"/>
          </a:xfrm>
          <a:prstGeom prst="rect">
            <a:avLst/>
          </a:prstGeom>
          <a:noFill/>
          <a:ln>
            <a:noFill/>
          </a:ln>
        </p:spPr>
        <p:txBody>
          <a:bodyPr wrap="square" lIns="0" tIns="0" rIns="0" bIns="0" anchor="ctr" rtlCol="0">
            <a:normAutofit/>
          </a:bodyPr>
          <a:lstStyle/>
          <a:p>
            <a:pPr algn="ctr">
              <a:spcAft>
                <a:spcPts val="0"/>
              </a:spcAft>
              <a:buNone/>
            </a:pPr>
            <a:r>
              <a:rPr lang="en-US" altLang="zh-CN" sz="1400" b="0" i="0" dirty="0">
                <a:solidFill>
                  <a:srgbClr val="FFFFFF"/>
                </a:solidFill>
                <a:latin typeface="Arial"/>
                <a:ea typeface="Microsoft YaHei"/>
                <a:cs typeface="Arial"/>
              </a:rPr>
              <a:t>Topics</a:t>
            </a:r>
          </a:p>
        </p:txBody>
      </p:sp>
      <p:sp>
        <p:nvSpPr>
          <p:cNvPr id="11" name="Nav Editorial Board"/>
          <p:cNvSpPr/>
          <p:nvPr/>
        </p:nvSpPr>
        <p:spPr>
          <a:xfrm>
            <a:off x="10042855" y="429768"/>
            <a:ext cx="1600200" cy="585216"/>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400" b="1" i="0" dirty="0">
                <a:solidFill>
                  <a:srgbClr val="FFFFFF"/>
                </a:solidFill>
                <a:latin typeface="Arial"/>
                <a:ea typeface="Microsoft YaHei"/>
                <a:cs typeface="Arial"/>
              </a:rPr>
              <a:t>Editorial Board</a:t>
            </a:r>
          </a:p>
        </p:txBody>
      </p:sp>
      <p:sp>
        <p:nvSpPr>
          <p:cNvPr id="12" name="Kicker"/>
          <p:cNvSpPr txBox="1"/>
          <p:nvPr/>
        </p:nvSpPr>
        <p:spPr>
          <a:xfrm>
            <a:off x="548640" y="13258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3" name="Title"/>
          <p:cNvSpPr txBox="1"/>
          <p:nvPr/>
        </p:nvSpPr>
        <p:spPr>
          <a:xfrm>
            <a:off x="548640" y="16002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4" name="To be invited"/>
          <p:cNvSpPr txBox="1"/>
          <p:nvPr/>
        </p:nvSpPr>
        <p:spPr>
          <a:xfrm>
            <a:off x="6156655" y="17830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5" name="Group Academicians"/>
          <p:cNvSpPr txBox="1"/>
          <p:nvPr/>
        </p:nvSpPr>
        <p:spPr>
          <a:xfrm>
            <a:off x="548640" y="2249424"/>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6" name="Academician card 叶嘉安"/>
          <p:cNvSpPr/>
          <p:nvPr/>
        </p:nvSpPr>
        <p:spPr>
          <a:xfrm>
            <a:off x="548640" y="25237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7" name="Portrait 叶嘉安" descr="叶嘉安"/>
          <p:cNvPicPr>
            <a:picLocks noChangeAspect="1"/>
          </p:cNvPicPr>
          <p:nvPr/>
        </p:nvPicPr>
        <p:blipFill>
          <a:blip r:embed="rId2"/>
          <a:stretch>
            <a:fillRect/>
          </a:stretch>
        </p:blipFill>
        <p:spPr>
          <a:xfrm>
            <a:off x="667512" y="2633472"/>
            <a:ext cx="676656" cy="676656"/>
          </a:xfrm>
          <a:prstGeom prst="ellipse">
            <a:avLst/>
          </a:prstGeom>
          <a:ln w="12700">
            <a:solidFill>
              <a:srgbClr val="4245AF"/>
            </a:solidFill>
          </a:ln>
        </p:spPr>
      </p:pic>
      <p:sp>
        <p:nvSpPr>
          <p:cNvPr id="18" name="Academician badge 叶嘉安"/>
          <p:cNvSpPr/>
          <p:nvPr/>
        </p:nvSpPr>
        <p:spPr>
          <a:xfrm>
            <a:off x="813816" y="32186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19" name="Academician text 叶嘉安"/>
          <p:cNvSpPr txBox="1"/>
          <p:nvPr/>
        </p:nvSpPr>
        <p:spPr>
          <a:xfrm>
            <a:off x="1453896" y="25968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叶嘉安</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智慧城市 · 城市规划</a:t>
            </a:r>
          </a:p>
          <a:p>
            <a:pPr algn="l">
              <a:lnSpc>
                <a:spcPct val="128000"/>
              </a:lnSpc>
              <a:spcAft>
                <a:spcPts val="0"/>
              </a:spcAft>
              <a:buNone/>
            </a:pPr>
            <a:r>
              <a:rPr lang="en-US" altLang="zh-CN" sz="800" b="0" i="0" dirty="0">
                <a:solidFill>
                  <a:srgbClr val="5B5D72"/>
                </a:solidFill>
                <a:latin typeface="Arial"/>
                <a:ea typeface="Microsoft YaHei"/>
                <a:cs typeface="Arial"/>
              </a:rPr>
              <a:t>地理信息系统</a:t>
            </a:r>
          </a:p>
        </p:txBody>
      </p:sp>
      <p:sp>
        <p:nvSpPr>
          <p:cNvPr id="20" name="Academician card William Clark"/>
          <p:cNvSpPr/>
          <p:nvPr/>
        </p:nvSpPr>
        <p:spPr>
          <a:xfrm>
            <a:off x="2794955" y="25237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1" name="Portrait William Clark" descr="William Clark"/>
          <p:cNvPicPr>
            <a:picLocks noChangeAspect="1"/>
          </p:cNvPicPr>
          <p:nvPr/>
        </p:nvPicPr>
        <p:blipFill>
          <a:blip r:embed="rId3"/>
          <a:srcRect l="3408" t="5481" r="1609" b="23282"/>
          <a:stretch>
            <a:fillRect/>
          </a:stretch>
        </p:blipFill>
        <p:spPr>
          <a:xfrm>
            <a:off x="2913827" y="2633472"/>
            <a:ext cx="676656" cy="676656"/>
          </a:xfrm>
          <a:prstGeom prst="ellipse">
            <a:avLst/>
          </a:prstGeom>
          <a:ln w="12700">
            <a:solidFill>
              <a:srgbClr val="4245AF"/>
            </a:solidFill>
          </a:ln>
        </p:spPr>
      </p:pic>
      <p:sp>
        <p:nvSpPr>
          <p:cNvPr id="22" name="Academician badge William Clark"/>
          <p:cNvSpPr/>
          <p:nvPr/>
        </p:nvSpPr>
        <p:spPr>
          <a:xfrm>
            <a:off x="3060131" y="32186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3" name="Academician text William Clark"/>
          <p:cNvSpPr txBox="1"/>
          <p:nvPr/>
        </p:nvSpPr>
        <p:spPr>
          <a:xfrm>
            <a:off x="3700211" y="25968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William Clark</a:t>
            </a:r>
          </a:p>
          <a:p>
            <a:pPr algn="l">
              <a:lnSpc>
                <a:spcPct val="128000"/>
              </a:lnSpc>
              <a:spcAft>
                <a:spcPts val="200"/>
              </a:spcAft>
              <a:buNone/>
            </a:pPr>
            <a:r>
              <a:rPr lang="en-US" altLang="zh-CN" sz="800" b="0" i="0" dirty="0">
                <a:solidFill>
                  <a:srgbClr val="4245AF"/>
                </a:solidFill>
                <a:latin typeface="Arial"/>
                <a:ea typeface="Microsoft YaHei"/>
                <a:cs typeface="Arial"/>
              </a:rPr>
              <a:t>UCLA</a:t>
            </a:r>
          </a:p>
          <a:p>
            <a:pPr algn="l">
              <a:lnSpc>
                <a:spcPct val="128000"/>
              </a:lnSpc>
              <a:spcAft>
                <a:spcPts val="0"/>
              </a:spcAft>
              <a:buNone/>
            </a:pPr>
            <a:r>
              <a:rPr lang="en-US" altLang="zh-CN" sz="800" b="0" i="0" dirty="0">
                <a:solidFill>
                  <a:srgbClr val="5B5D72"/>
                </a:solidFill>
                <a:latin typeface="Arial"/>
                <a:ea typeface="Microsoft YaHei"/>
                <a:cs typeface="Arial"/>
              </a:rPr>
              <a:t>城市地理 · 城市空间</a:t>
            </a:r>
          </a:p>
          <a:p>
            <a:pPr algn="l">
              <a:lnSpc>
                <a:spcPct val="128000"/>
              </a:lnSpc>
              <a:spcAft>
                <a:spcPts val="0"/>
              </a:spcAft>
              <a:buNone/>
            </a:pPr>
            <a:r>
              <a:rPr lang="en-US" altLang="zh-CN" sz="800" b="0" i="0" dirty="0">
                <a:solidFill>
                  <a:srgbClr val="5B5D72"/>
                </a:solidFill>
                <a:latin typeface="Arial"/>
                <a:ea typeface="Microsoft YaHei"/>
                <a:cs typeface="Arial"/>
              </a:rPr>
              <a:t>人口迁移</a:t>
            </a:r>
          </a:p>
        </p:txBody>
      </p:sp>
      <p:sp>
        <p:nvSpPr>
          <p:cNvPr id="24" name="Academician card 吴缚龙"/>
          <p:cNvSpPr/>
          <p:nvPr/>
        </p:nvSpPr>
        <p:spPr>
          <a:xfrm>
            <a:off x="5041270" y="25237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5" name="Portrait 吴缚龙" descr="吴缚龙"/>
          <p:cNvPicPr>
            <a:picLocks noChangeAspect="1"/>
          </p:cNvPicPr>
          <p:nvPr/>
        </p:nvPicPr>
        <p:blipFill>
          <a:blip r:embed="rId4"/>
          <a:srcRect l="17409" t="8275" r="19685" b="801"/>
          <a:stretch>
            <a:fillRect/>
          </a:stretch>
        </p:blipFill>
        <p:spPr>
          <a:xfrm>
            <a:off x="5160142" y="2633472"/>
            <a:ext cx="676656" cy="676656"/>
          </a:xfrm>
          <a:prstGeom prst="ellipse">
            <a:avLst/>
          </a:prstGeom>
          <a:ln w="12700">
            <a:solidFill>
              <a:srgbClr val="4245AF"/>
            </a:solidFill>
          </a:ln>
        </p:spPr>
      </p:pic>
      <p:sp>
        <p:nvSpPr>
          <p:cNvPr id="26" name="Academician badge 吴缚龙"/>
          <p:cNvSpPr/>
          <p:nvPr/>
        </p:nvSpPr>
        <p:spPr>
          <a:xfrm>
            <a:off x="5306446" y="32186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7" name="Academician text 吴缚龙"/>
          <p:cNvSpPr txBox="1"/>
          <p:nvPr/>
        </p:nvSpPr>
        <p:spPr>
          <a:xfrm>
            <a:off x="5946526" y="25968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吴缚龙</a:t>
            </a:r>
          </a:p>
          <a:p>
            <a:pPr algn="l">
              <a:lnSpc>
                <a:spcPct val="128000"/>
              </a:lnSpc>
              <a:spcAft>
                <a:spcPts val="200"/>
              </a:spcAft>
              <a:buNone/>
            </a:pPr>
            <a:r>
              <a:rPr lang="en-US" altLang="zh-CN" sz="800" b="0" i="0" dirty="0">
                <a:solidFill>
                  <a:srgbClr val="4245AF"/>
                </a:solidFill>
                <a:latin typeface="Arial"/>
                <a:ea typeface="Microsoft YaHei"/>
                <a:cs typeface="Arial"/>
              </a:rPr>
              <a:t>UCL</a:t>
            </a:r>
          </a:p>
          <a:p>
            <a:pPr algn="l">
              <a:lnSpc>
                <a:spcPct val="128000"/>
              </a:lnSpc>
              <a:spcAft>
                <a:spcPts val="0"/>
              </a:spcAft>
              <a:buNone/>
            </a:pPr>
            <a:r>
              <a:rPr lang="en-US" altLang="zh-CN" sz="800" b="0" i="0" dirty="0">
                <a:solidFill>
                  <a:srgbClr val="5B5D72"/>
                </a:solidFill>
                <a:latin typeface="Arial"/>
                <a:ea typeface="Microsoft YaHei"/>
                <a:cs typeface="Arial"/>
              </a:rPr>
              <a:t>城市规划 · 城市治理</a:t>
            </a:r>
          </a:p>
        </p:txBody>
      </p:sp>
      <p:sp>
        <p:nvSpPr>
          <p:cNvPr id="28" name="Academician card 傅伯杰"/>
          <p:cNvSpPr/>
          <p:nvPr/>
        </p:nvSpPr>
        <p:spPr>
          <a:xfrm>
            <a:off x="7287585" y="25237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9" name="Portrait 傅伯杰" descr="傅伯杰"/>
          <p:cNvPicPr>
            <a:picLocks noChangeAspect="1"/>
          </p:cNvPicPr>
          <p:nvPr/>
        </p:nvPicPr>
        <p:blipFill>
          <a:blip r:embed="rId5"/>
          <a:srcRect t="2672" b="2672"/>
          <a:stretch>
            <a:fillRect/>
          </a:stretch>
        </p:blipFill>
        <p:spPr>
          <a:xfrm>
            <a:off x="7406457" y="2633472"/>
            <a:ext cx="676656" cy="676656"/>
          </a:xfrm>
          <a:prstGeom prst="ellipse">
            <a:avLst/>
          </a:prstGeom>
          <a:ln w="12700">
            <a:solidFill>
              <a:srgbClr val="4245AF"/>
            </a:solidFill>
          </a:ln>
        </p:spPr>
      </p:pic>
      <p:sp>
        <p:nvSpPr>
          <p:cNvPr id="30" name="Academician badge 傅伯杰"/>
          <p:cNvSpPr/>
          <p:nvPr/>
        </p:nvSpPr>
        <p:spPr>
          <a:xfrm>
            <a:off x="7552761" y="32186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1" name="Academician text 傅伯杰"/>
          <p:cNvSpPr txBox="1"/>
          <p:nvPr/>
        </p:nvSpPr>
        <p:spPr>
          <a:xfrm>
            <a:off x="8192841" y="25968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傅伯杰</a:t>
            </a:r>
          </a:p>
          <a:p>
            <a:pPr algn="l">
              <a:lnSpc>
                <a:spcPct val="128000"/>
              </a:lnSpc>
              <a:spcAft>
                <a:spcPts val="0"/>
              </a:spcAft>
              <a:buNone/>
            </a:pPr>
            <a:r>
              <a:rPr lang="en-US" altLang="zh-CN" sz="800" b="0" i="0" dirty="0">
                <a:solidFill>
                  <a:srgbClr val="4245AF"/>
                </a:solidFill>
                <a:latin typeface="Arial"/>
                <a:ea typeface="Microsoft YaHei"/>
                <a:cs typeface="Arial"/>
              </a:rPr>
              <a:t>中国科学院</a:t>
            </a:r>
          </a:p>
          <a:p>
            <a:pPr algn="l">
              <a:lnSpc>
                <a:spcPct val="128000"/>
              </a:lnSpc>
              <a:spcAft>
                <a:spcPts val="200"/>
              </a:spcAft>
              <a:buNone/>
            </a:pPr>
            <a:r>
              <a:rPr lang="en-US" altLang="zh-CN" sz="800" b="0" i="0" dirty="0">
                <a:solidFill>
                  <a:srgbClr val="4245AF"/>
                </a:solidFill>
                <a:latin typeface="Arial"/>
                <a:ea typeface="Microsoft YaHei"/>
                <a:cs typeface="Arial"/>
              </a:rPr>
              <a:t>生态环境研究中心</a:t>
            </a:r>
          </a:p>
          <a:p>
            <a:pPr algn="l">
              <a:lnSpc>
                <a:spcPct val="128000"/>
              </a:lnSpc>
              <a:spcAft>
                <a:spcPts val="0"/>
              </a:spcAft>
              <a:buNone/>
            </a:pPr>
            <a:r>
              <a:rPr lang="en-US" altLang="zh-CN" sz="800" b="0" i="0" dirty="0">
                <a:solidFill>
                  <a:srgbClr val="5B5D72"/>
                </a:solidFill>
                <a:latin typeface="Arial"/>
                <a:ea typeface="Microsoft YaHei"/>
                <a:cs typeface="Arial"/>
              </a:rPr>
              <a:t>景观生态</a:t>
            </a:r>
          </a:p>
          <a:p>
            <a:pPr algn="l">
              <a:lnSpc>
                <a:spcPct val="128000"/>
              </a:lnSpc>
              <a:spcAft>
                <a:spcPts val="0"/>
              </a:spcAft>
              <a:buNone/>
            </a:pPr>
            <a:r>
              <a:rPr lang="en-US" altLang="zh-CN" sz="800" b="0" i="0" dirty="0">
                <a:solidFill>
                  <a:srgbClr val="5B5D72"/>
                </a:solidFill>
                <a:latin typeface="Arial"/>
                <a:ea typeface="Microsoft YaHei"/>
                <a:cs typeface="Arial"/>
              </a:rPr>
              <a:t>生态系统服务</a:t>
            </a:r>
          </a:p>
        </p:txBody>
      </p:sp>
      <p:sp>
        <p:nvSpPr>
          <p:cNvPr id="32" name="Academician card 樊杰"/>
          <p:cNvSpPr/>
          <p:nvPr/>
        </p:nvSpPr>
        <p:spPr>
          <a:xfrm>
            <a:off x="9533900" y="25237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3" name="Portrait 樊杰" descr="樊杰"/>
          <p:cNvPicPr>
            <a:picLocks noChangeAspect="1"/>
          </p:cNvPicPr>
          <p:nvPr/>
        </p:nvPicPr>
        <p:blipFill>
          <a:blip r:embed="rId6"/>
          <a:srcRect l="-1653" t="3825" r="1653" b="18415"/>
          <a:stretch>
            <a:fillRect/>
          </a:stretch>
        </p:blipFill>
        <p:spPr>
          <a:xfrm>
            <a:off x="9652772" y="2633472"/>
            <a:ext cx="676656" cy="676656"/>
          </a:xfrm>
          <a:prstGeom prst="ellipse">
            <a:avLst/>
          </a:prstGeom>
          <a:ln w="12700">
            <a:solidFill>
              <a:srgbClr val="4245AF"/>
            </a:solidFill>
          </a:ln>
        </p:spPr>
      </p:pic>
      <p:sp>
        <p:nvSpPr>
          <p:cNvPr id="34" name="Academician badge 樊杰"/>
          <p:cNvSpPr/>
          <p:nvPr/>
        </p:nvSpPr>
        <p:spPr>
          <a:xfrm>
            <a:off x="9799076" y="32186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5" name="Academician text 樊杰"/>
          <p:cNvSpPr txBox="1"/>
          <p:nvPr/>
        </p:nvSpPr>
        <p:spPr>
          <a:xfrm>
            <a:off x="10439156" y="25968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樊杰</a:t>
            </a:r>
          </a:p>
          <a:p>
            <a:pPr algn="l">
              <a:lnSpc>
                <a:spcPct val="128000"/>
              </a:lnSpc>
              <a:spcAft>
                <a:spcPts val="200"/>
              </a:spcAft>
              <a:buNone/>
            </a:pPr>
            <a:r>
              <a:rPr lang="en-US" altLang="zh-CN" sz="800" b="0" i="0" dirty="0">
                <a:solidFill>
                  <a:srgbClr val="4245AF"/>
                </a:solidFill>
                <a:latin typeface="Arial"/>
                <a:ea typeface="Microsoft YaHei"/>
                <a:cs typeface="Arial"/>
              </a:rPr>
              <a:t>中科院地理所</a:t>
            </a:r>
          </a:p>
          <a:p>
            <a:pPr algn="l">
              <a:lnSpc>
                <a:spcPct val="128000"/>
              </a:lnSpc>
              <a:spcAft>
                <a:spcPts val="0"/>
              </a:spcAft>
              <a:buNone/>
            </a:pPr>
            <a:r>
              <a:rPr lang="en-US" altLang="zh-CN" sz="800" b="0" i="0" dirty="0">
                <a:solidFill>
                  <a:srgbClr val="5B5D72"/>
                </a:solidFill>
                <a:latin typeface="Arial"/>
                <a:ea typeface="Microsoft YaHei"/>
                <a:cs typeface="Arial"/>
              </a:rPr>
              <a:t>国土空间规划</a:t>
            </a:r>
          </a:p>
          <a:p>
            <a:pPr algn="l">
              <a:lnSpc>
                <a:spcPct val="128000"/>
              </a:lnSpc>
              <a:spcAft>
                <a:spcPts val="0"/>
              </a:spcAft>
              <a:buNone/>
            </a:pPr>
            <a:r>
              <a:rPr lang="en-US" altLang="zh-CN" sz="800" b="0" i="0" dirty="0">
                <a:solidFill>
                  <a:srgbClr val="5B5D72"/>
                </a:solidFill>
                <a:latin typeface="Arial"/>
                <a:ea typeface="Microsoft YaHei"/>
                <a:cs typeface="Arial"/>
              </a:rPr>
              <a:t>区域发展</a:t>
            </a:r>
          </a:p>
        </p:txBody>
      </p:sp>
      <p:sp>
        <p:nvSpPr>
          <p:cNvPr id="36" name="Academician card 宫鹏"/>
          <p:cNvSpPr/>
          <p:nvPr/>
        </p:nvSpPr>
        <p:spPr>
          <a:xfrm>
            <a:off x="548640" y="36758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7" name="Portrait 宫鹏" descr="宫鹏"/>
          <p:cNvPicPr>
            <a:picLocks noChangeAspect="1"/>
          </p:cNvPicPr>
          <p:nvPr/>
        </p:nvPicPr>
        <p:blipFill>
          <a:blip r:embed="rId7"/>
          <a:srcRect l="9294" t="4766" r="7651" b="39863"/>
          <a:stretch>
            <a:fillRect/>
          </a:stretch>
        </p:blipFill>
        <p:spPr>
          <a:xfrm>
            <a:off x="667512" y="3785616"/>
            <a:ext cx="676656" cy="676656"/>
          </a:xfrm>
          <a:prstGeom prst="ellipse">
            <a:avLst/>
          </a:prstGeom>
          <a:ln w="12700">
            <a:solidFill>
              <a:srgbClr val="4245AF"/>
            </a:solidFill>
          </a:ln>
        </p:spPr>
      </p:pic>
      <p:sp>
        <p:nvSpPr>
          <p:cNvPr id="38" name="Academician badge 宫鹏"/>
          <p:cNvSpPr/>
          <p:nvPr/>
        </p:nvSpPr>
        <p:spPr>
          <a:xfrm>
            <a:off x="813816" y="43708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9" name="Academician text 宫鹏"/>
          <p:cNvSpPr txBox="1"/>
          <p:nvPr/>
        </p:nvSpPr>
        <p:spPr>
          <a:xfrm>
            <a:off x="1453896" y="37490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宫鹏</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遥感 · 全球环境变化</a:t>
            </a:r>
          </a:p>
          <a:p>
            <a:pPr algn="l">
              <a:lnSpc>
                <a:spcPct val="128000"/>
              </a:lnSpc>
              <a:spcAft>
                <a:spcPts val="0"/>
              </a:spcAft>
              <a:buNone/>
            </a:pPr>
            <a:r>
              <a:rPr lang="en-US" altLang="zh-CN" sz="800" b="0" i="0" dirty="0">
                <a:solidFill>
                  <a:srgbClr val="5B5D72"/>
                </a:solidFill>
                <a:latin typeface="Arial"/>
                <a:ea typeface="Microsoft YaHei"/>
                <a:cs typeface="Arial"/>
              </a:rPr>
              <a:t>城市化与健康</a:t>
            </a:r>
          </a:p>
        </p:txBody>
      </p:sp>
      <p:sp>
        <p:nvSpPr>
          <p:cNvPr id="40" name="Academician card 陈德亮"/>
          <p:cNvSpPr/>
          <p:nvPr/>
        </p:nvSpPr>
        <p:spPr>
          <a:xfrm>
            <a:off x="2794955" y="36758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1" name="Portrait 陈德亮" descr="陈德亮"/>
          <p:cNvPicPr>
            <a:picLocks noChangeAspect="1"/>
          </p:cNvPicPr>
          <p:nvPr/>
        </p:nvPicPr>
        <p:blipFill>
          <a:blip r:embed="rId8"/>
          <a:srcRect l="30000" r="30000"/>
          <a:stretch>
            <a:fillRect/>
          </a:stretch>
        </p:blipFill>
        <p:spPr>
          <a:xfrm>
            <a:off x="2913827" y="3785616"/>
            <a:ext cx="676656" cy="676656"/>
          </a:xfrm>
          <a:prstGeom prst="ellipse">
            <a:avLst/>
          </a:prstGeom>
          <a:ln w="12700">
            <a:solidFill>
              <a:srgbClr val="4245AF"/>
            </a:solidFill>
          </a:ln>
        </p:spPr>
      </p:pic>
      <p:sp>
        <p:nvSpPr>
          <p:cNvPr id="42" name="Academician badge 陈德亮"/>
          <p:cNvSpPr/>
          <p:nvPr/>
        </p:nvSpPr>
        <p:spPr>
          <a:xfrm>
            <a:off x="3060131" y="43708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3" name="Academician text 陈德亮"/>
          <p:cNvSpPr txBox="1"/>
          <p:nvPr/>
        </p:nvSpPr>
        <p:spPr>
          <a:xfrm>
            <a:off x="3700211" y="37490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陈德亮</a:t>
            </a:r>
          </a:p>
          <a:p>
            <a:pPr algn="l">
              <a:lnSpc>
                <a:spcPct val="128000"/>
              </a:lnSpc>
              <a:spcAft>
                <a:spcPts val="200"/>
              </a:spcAft>
              <a:buNone/>
            </a:pPr>
            <a:r>
              <a:rPr lang="en-US" altLang="zh-CN" sz="800" b="0" i="0" dirty="0">
                <a:solidFill>
                  <a:srgbClr val="4245AF"/>
                </a:solidFill>
                <a:latin typeface="Arial"/>
                <a:ea typeface="Microsoft YaHei"/>
                <a:cs typeface="Arial"/>
              </a:rPr>
              <a:t>瑞典哥德堡大学</a:t>
            </a:r>
          </a:p>
          <a:p>
            <a:pPr algn="l">
              <a:lnSpc>
                <a:spcPct val="128000"/>
              </a:lnSpc>
              <a:spcAft>
                <a:spcPts val="0"/>
              </a:spcAft>
              <a:buNone/>
            </a:pPr>
            <a:r>
              <a:rPr lang="en-US" altLang="zh-CN" sz="800" b="0" i="0" dirty="0">
                <a:solidFill>
                  <a:srgbClr val="5B5D72"/>
                </a:solidFill>
                <a:latin typeface="Arial"/>
                <a:ea typeface="Microsoft YaHei"/>
                <a:cs typeface="Arial"/>
              </a:rPr>
              <a:t>地球系统科学</a:t>
            </a:r>
          </a:p>
          <a:p>
            <a:pPr algn="l">
              <a:lnSpc>
                <a:spcPct val="128000"/>
              </a:lnSpc>
              <a:spcAft>
                <a:spcPts val="0"/>
              </a:spcAft>
              <a:buNone/>
            </a:pPr>
            <a:r>
              <a:rPr lang="en-US" altLang="zh-CN" sz="800" b="0" i="0" dirty="0">
                <a:solidFill>
                  <a:srgbClr val="5B5D72"/>
                </a:solidFill>
                <a:latin typeface="Arial"/>
                <a:ea typeface="Microsoft YaHei"/>
                <a:cs typeface="Arial"/>
              </a:rPr>
              <a:t>全球环境变化</a:t>
            </a:r>
          </a:p>
          <a:p>
            <a:pPr algn="l">
              <a:lnSpc>
                <a:spcPct val="128000"/>
              </a:lnSpc>
              <a:spcAft>
                <a:spcPts val="0"/>
              </a:spcAft>
              <a:buNone/>
            </a:pPr>
            <a:r>
              <a:rPr lang="en-US" altLang="zh-CN" sz="800" b="0" i="0" dirty="0">
                <a:solidFill>
                  <a:srgbClr val="5B5D72"/>
                </a:solidFill>
                <a:latin typeface="Arial"/>
                <a:ea typeface="Microsoft YaHei"/>
                <a:cs typeface="Arial"/>
              </a:rPr>
              <a:t>气候动力学与数值模拟</a:t>
            </a:r>
          </a:p>
        </p:txBody>
      </p:sp>
      <p:sp>
        <p:nvSpPr>
          <p:cNvPr id="44" name="Academician card 申作军"/>
          <p:cNvSpPr/>
          <p:nvPr/>
        </p:nvSpPr>
        <p:spPr>
          <a:xfrm>
            <a:off x="5041270" y="36758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5" name="Portrait 申作军" descr="申作军"/>
          <p:cNvPicPr>
            <a:picLocks noChangeAspect="1"/>
          </p:cNvPicPr>
          <p:nvPr/>
        </p:nvPicPr>
        <p:blipFill>
          <a:blip r:embed="rId9"/>
          <a:srcRect/>
          <a:stretch>
            <a:fillRect/>
          </a:stretch>
        </p:blipFill>
        <p:spPr>
          <a:xfrm>
            <a:off x="5160142" y="3785616"/>
            <a:ext cx="676656" cy="676656"/>
          </a:xfrm>
          <a:prstGeom prst="ellipse">
            <a:avLst/>
          </a:prstGeom>
          <a:ln w="12700">
            <a:solidFill>
              <a:srgbClr val="4245AF"/>
            </a:solidFill>
          </a:ln>
        </p:spPr>
      </p:pic>
      <p:sp>
        <p:nvSpPr>
          <p:cNvPr id="46" name="Academician badge 申作军"/>
          <p:cNvSpPr/>
          <p:nvPr/>
        </p:nvSpPr>
        <p:spPr>
          <a:xfrm>
            <a:off x="5306446" y="43708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7" name="Academician text 申作军"/>
          <p:cNvSpPr txBox="1"/>
          <p:nvPr/>
        </p:nvSpPr>
        <p:spPr>
          <a:xfrm>
            <a:off x="5946526" y="37490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申作军</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供应链设计与管理</a:t>
            </a:r>
          </a:p>
          <a:p>
            <a:pPr algn="l">
              <a:lnSpc>
                <a:spcPct val="128000"/>
              </a:lnSpc>
              <a:spcAft>
                <a:spcPts val="0"/>
              </a:spcAft>
              <a:buNone/>
            </a:pPr>
            <a:r>
              <a:rPr lang="en-US" altLang="zh-CN" sz="800" b="0" i="0" dirty="0">
                <a:solidFill>
                  <a:srgbClr val="5B5D72"/>
                </a:solidFill>
                <a:latin typeface="Arial"/>
                <a:ea typeface="Microsoft YaHei"/>
                <a:cs typeface="Arial"/>
              </a:rPr>
              <a:t>数据驱动物流优化</a:t>
            </a:r>
          </a:p>
        </p:txBody>
      </p:sp>
      <p:sp>
        <p:nvSpPr>
          <p:cNvPr id="48" name="Academician card 刘丛强"/>
          <p:cNvSpPr/>
          <p:nvPr/>
        </p:nvSpPr>
        <p:spPr>
          <a:xfrm>
            <a:off x="7287585" y="36758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9" name="Portrait 刘丛强" descr="刘丛强"/>
          <p:cNvPicPr>
            <a:picLocks noChangeAspect="1"/>
          </p:cNvPicPr>
          <p:nvPr/>
        </p:nvPicPr>
        <p:blipFill>
          <a:blip r:embed="rId10"/>
          <a:srcRect l="952" t="8956" r="-952" b="15044"/>
          <a:stretch>
            <a:fillRect/>
          </a:stretch>
        </p:blipFill>
        <p:spPr>
          <a:xfrm>
            <a:off x="7406457" y="3785616"/>
            <a:ext cx="676656" cy="676656"/>
          </a:xfrm>
          <a:prstGeom prst="ellipse">
            <a:avLst/>
          </a:prstGeom>
          <a:ln w="12700">
            <a:solidFill>
              <a:srgbClr val="4245AF"/>
            </a:solidFill>
          </a:ln>
        </p:spPr>
      </p:pic>
      <p:sp>
        <p:nvSpPr>
          <p:cNvPr id="50" name="Academician badge 刘丛强"/>
          <p:cNvSpPr/>
          <p:nvPr/>
        </p:nvSpPr>
        <p:spPr>
          <a:xfrm>
            <a:off x="7552761" y="43708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1" name="Academician text 刘丛强"/>
          <p:cNvSpPr txBox="1"/>
          <p:nvPr/>
        </p:nvSpPr>
        <p:spPr>
          <a:xfrm>
            <a:off x="8192841" y="37490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刘丛强</a:t>
            </a:r>
          </a:p>
          <a:p>
            <a:pPr algn="l">
              <a:lnSpc>
                <a:spcPct val="128000"/>
              </a:lnSpc>
              <a:spcAft>
                <a:spcPts val="200"/>
              </a:spcAft>
              <a:buNone/>
            </a:pPr>
            <a:r>
              <a:rPr lang="en-US" altLang="zh-CN" sz="800" b="0" i="0" dirty="0">
                <a:solidFill>
                  <a:srgbClr val="4245AF"/>
                </a:solidFill>
                <a:latin typeface="Arial"/>
                <a:ea typeface="Microsoft YaHei"/>
                <a:cs typeface="Arial"/>
              </a:rPr>
              <a:t>天津大学</a:t>
            </a:r>
          </a:p>
          <a:p>
            <a:pPr algn="l">
              <a:lnSpc>
                <a:spcPct val="128000"/>
              </a:lnSpc>
              <a:spcAft>
                <a:spcPts val="0"/>
              </a:spcAft>
              <a:buNone/>
            </a:pPr>
            <a:r>
              <a:rPr lang="en-US" altLang="zh-CN" sz="800" b="0" i="0" dirty="0">
                <a:solidFill>
                  <a:srgbClr val="5B5D72"/>
                </a:solidFill>
                <a:latin typeface="Arial"/>
                <a:ea typeface="Microsoft YaHei"/>
                <a:cs typeface="Arial"/>
              </a:rPr>
              <a:t>地球关键带过程</a:t>
            </a:r>
          </a:p>
          <a:p>
            <a:pPr algn="l">
              <a:lnSpc>
                <a:spcPct val="128000"/>
              </a:lnSpc>
              <a:spcAft>
                <a:spcPts val="0"/>
              </a:spcAft>
              <a:buNone/>
            </a:pPr>
            <a:r>
              <a:rPr lang="en-US" altLang="zh-CN" sz="800" b="0" i="0" dirty="0">
                <a:solidFill>
                  <a:srgbClr val="5B5D72"/>
                </a:solidFill>
                <a:latin typeface="Arial"/>
                <a:ea typeface="Microsoft YaHei"/>
                <a:cs typeface="Arial"/>
              </a:rPr>
              <a:t>与生态功能</a:t>
            </a:r>
          </a:p>
        </p:txBody>
      </p:sp>
      <p:sp>
        <p:nvSpPr>
          <p:cNvPr id="52" name="Academician card 蔡文炬"/>
          <p:cNvSpPr/>
          <p:nvPr/>
        </p:nvSpPr>
        <p:spPr>
          <a:xfrm>
            <a:off x="9533900" y="36758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3" name="Portrait 蔡文炬" descr="蔡文炬"/>
          <p:cNvPicPr>
            <a:picLocks noChangeAspect="1"/>
          </p:cNvPicPr>
          <p:nvPr/>
        </p:nvPicPr>
        <p:blipFill>
          <a:blip r:embed="rId11"/>
          <a:srcRect l="37924" t="1774" r="16714" b="30183"/>
          <a:stretch>
            <a:fillRect/>
          </a:stretch>
        </p:blipFill>
        <p:spPr>
          <a:xfrm>
            <a:off x="9652772" y="3785616"/>
            <a:ext cx="676656" cy="676656"/>
          </a:xfrm>
          <a:prstGeom prst="ellipse">
            <a:avLst/>
          </a:prstGeom>
          <a:ln w="12700">
            <a:solidFill>
              <a:srgbClr val="4245AF"/>
            </a:solidFill>
          </a:ln>
        </p:spPr>
      </p:pic>
      <p:sp>
        <p:nvSpPr>
          <p:cNvPr id="54" name="Academician badge 蔡文炬"/>
          <p:cNvSpPr/>
          <p:nvPr/>
        </p:nvSpPr>
        <p:spPr>
          <a:xfrm>
            <a:off x="9799076" y="43708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5" name="Academician text 蔡文炬"/>
          <p:cNvSpPr txBox="1"/>
          <p:nvPr/>
        </p:nvSpPr>
        <p:spPr>
          <a:xfrm>
            <a:off x="10439156" y="37490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蔡文炬</a:t>
            </a:r>
          </a:p>
          <a:p>
            <a:pPr algn="l">
              <a:lnSpc>
                <a:spcPct val="128000"/>
              </a:lnSpc>
              <a:spcAft>
                <a:spcPts val="0"/>
              </a:spcAft>
              <a:buNone/>
            </a:pPr>
            <a:r>
              <a:rPr lang="en-US" altLang="zh-CN" sz="800" b="0" i="0" dirty="0">
                <a:solidFill>
                  <a:srgbClr val="4245AF"/>
                </a:solidFill>
                <a:latin typeface="Arial"/>
                <a:ea typeface="Microsoft YaHei"/>
                <a:cs typeface="Arial"/>
              </a:rPr>
              <a:t>澳大利亚联邦科学</a:t>
            </a:r>
          </a:p>
          <a:p>
            <a:pPr algn="l">
              <a:lnSpc>
                <a:spcPct val="128000"/>
              </a:lnSpc>
              <a:spcAft>
                <a:spcPts val="200"/>
              </a:spcAft>
              <a:buNone/>
            </a:pPr>
            <a:r>
              <a:rPr lang="en-US" altLang="zh-CN" sz="800" b="0" i="0" dirty="0">
                <a:solidFill>
                  <a:srgbClr val="4245AF"/>
                </a:solidFill>
                <a:latin typeface="Arial"/>
                <a:ea typeface="Microsoft YaHei"/>
                <a:cs typeface="Arial"/>
              </a:rPr>
              <a:t>与工业研究组织 CSIRO</a:t>
            </a:r>
          </a:p>
          <a:p>
            <a:pPr algn="l">
              <a:lnSpc>
                <a:spcPct val="128000"/>
              </a:lnSpc>
              <a:spcAft>
                <a:spcPts val="0"/>
              </a:spcAft>
              <a:buNone/>
            </a:pPr>
            <a:r>
              <a:rPr lang="en-US" altLang="zh-CN" sz="800" b="0" i="0" dirty="0">
                <a:solidFill>
                  <a:srgbClr val="5B5D72"/>
                </a:solidFill>
                <a:latin typeface="Arial"/>
                <a:ea typeface="Microsoft YaHei"/>
                <a:cs typeface="Arial"/>
              </a:rPr>
              <a:t>气候科学 · 全球变化</a:t>
            </a:r>
          </a:p>
        </p:txBody>
      </p:sp>
      <p:sp>
        <p:nvSpPr>
          <p:cNvPr id="56" name="Group Distinguished Scholars"/>
          <p:cNvSpPr txBox="1"/>
          <p:nvPr/>
        </p:nvSpPr>
        <p:spPr>
          <a:xfrm>
            <a:off x="548640" y="484632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7" name="Scholar card Patrick Roberts"/>
          <p:cNvSpPr/>
          <p:nvPr/>
        </p:nvSpPr>
        <p:spPr>
          <a:xfrm>
            <a:off x="548640"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8" name="Portrait Patrick Roberts" descr="Patrick Roberts"/>
          <p:cNvPicPr>
            <a:picLocks noChangeAspect="1"/>
          </p:cNvPicPr>
          <p:nvPr/>
        </p:nvPicPr>
        <p:blipFill>
          <a:blip r:embed="rId12"/>
          <a:srcRect l="2186" t="2897" r="2274" b="30175"/>
          <a:stretch>
            <a:fillRect/>
          </a:stretch>
        </p:blipFill>
        <p:spPr>
          <a:xfrm>
            <a:off x="1019752" y="5212080"/>
            <a:ext cx="548640" cy="548640"/>
          </a:xfrm>
          <a:prstGeom prst="ellipse">
            <a:avLst/>
          </a:prstGeom>
          <a:ln w="12700">
            <a:solidFill>
              <a:srgbClr val="4245AF"/>
            </a:solidFill>
          </a:ln>
        </p:spPr>
      </p:pic>
      <p:sp>
        <p:nvSpPr>
          <p:cNvPr id="59" name="Scholar name Patrick Roberts"/>
          <p:cNvSpPr txBox="1"/>
          <p:nvPr/>
        </p:nvSpPr>
        <p:spPr>
          <a:xfrm>
            <a:off x="603504"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Patrick Roberts</a:t>
            </a:r>
          </a:p>
        </p:txBody>
      </p:sp>
      <p:sp>
        <p:nvSpPr>
          <p:cNvPr id="60" name="Scholar text Patrick Roberts"/>
          <p:cNvSpPr txBox="1"/>
          <p:nvPr/>
        </p:nvSpPr>
        <p:spPr>
          <a:xfrm>
            <a:off x="603504" y="6025896"/>
            <a:ext cx="1381136" cy="594360"/>
          </a:xfrm>
          <a:prstGeom prst="rect">
            <a:avLst/>
          </a:prstGeom>
          <a:noFill/>
          <a:ln>
            <a:noFill/>
          </a:ln>
        </p:spPr>
        <p:txBody>
          <a:bodyPr wrap="square" lIns="0" tIns="0" rIns="0" bIns="0" anchor="t" rtlCol="0">
            <a:normAutofit/>
          </a:bodyPr>
          <a:lstStyle/>
          <a:p>
            <a:pPr algn="ctr">
              <a:lnSpc>
                <a:spcPct val="128000"/>
              </a:lnSpc>
              <a:spcAft>
                <a:spcPts val="0"/>
              </a:spcAft>
              <a:buNone/>
            </a:pPr>
            <a:r>
              <a:rPr lang="en-US" altLang="zh-CN" sz="750" b="0" i="0" dirty="0">
                <a:solidFill>
                  <a:srgbClr val="4245AF"/>
                </a:solidFill>
                <a:latin typeface="Arial"/>
                <a:ea typeface="Microsoft YaHei"/>
                <a:cs typeface="Arial"/>
              </a:rPr>
              <a:t>马克斯·普朗克</a:t>
            </a:r>
          </a:p>
          <a:p>
            <a:pPr algn="ctr">
              <a:lnSpc>
                <a:spcPct val="128000"/>
              </a:lnSpc>
              <a:spcAft>
                <a:spcPts val="200"/>
              </a:spcAft>
              <a:buNone/>
            </a:pPr>
            <a:r>
              <a:rPr lang="en-US" altLang="zh-CN" sz="750" b="0" i="0" dirty="0">
                <a:solidFill>
                  <a:srgbClr val="4245AF"/>
                </a:solidFill>
                <a:latin typeface="Arial"/>
                <a:ea typeface="Microsoft YaHei"/>
                <a:cs typeface="Arial"/>
              </a:rPr>
              <a:t>地球人类学研究所</a:t>
            </a:r>
          </a:p>
          <a:p>
            <a:pPr algn="ctr">
              <a:lnSpc>
                <a:spcPct val="128000"/>
              </a:lnSpc>
              <a:spcAft>
                <a:spcPts val="0"/>
              </a:spcAft>
              <a:buNone/>
            </a:pPr>
            <a:r>
              <a:rPr lang="en-US" altLang="zh-CN" sz="750" b="0" i="0" dirty="0">
                <a:solidFill>
                  <a:srgbClr val="5B5D72"/>
                </a:solidFill>
                <a:latin typeface="Arial"/>
                <a:ea typeface="Microsoft YaHei"/>
                <a:cs typeface="Arial"/>
              </a:rPr>
              <a:t>考古科学 · 古生态</a:t>
            </a:r>
          </a:p>
          <a:p>
            <a:pPr algn="ctr">
              <a:lnSpc>
                <a:spcPct val="128000"/>
              </a:lnSpc>
              <a:spcAft>
                <a:spcPts val="0"/>
              </a:spcAft>
              <a:buNone/>
            </a:pPr>
            <a:r>
              <a:rPr lang="en-US" altLang="zh-CN" sz="750" b="0" i="0" dirty="0">
                <a:solidFill>
                  <a:srgbClr val="5B5D72"/>
                </a:solidFill>
                <a:latin typeface="Arial"/>
                <a:ea typeface="Microsoft YaHei"/>
                <a:cs typeface="Arial"/>
              </a:rPr>
              <a:t>土地利用与城市化协同演化</a:t>
            </a:r>
          </a:p>
        </p:txBody>
      </p:sp>
      <p:sp>
        <p:nvSpPr>
          <p:cNvPr id="61" name="Scholar card Luis Bettencourt"/>
          <p:cNvSpPr/>
          <p:nvPr/>
        </p:nvSpPr>
        <p:spPr>
          <a:xfrm>
            <a:off x="2149232"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2" name="Portrait Luis Bettencourt" descr="Luis Bettencourt"/>
          <p:cNvPicPr>
            <a:picLocks noChangeAspect="1"/>
          </p:cNvPicPr>
          <p:nvPr/>
        </p:nvPicPr>
        <p:blipFill>
          <a:blip r:embed="rId13"/>
          <a:srcRect/>
          <a:stretch>
            <a:fillRect/>
          </a:stretch>
        </p:blipFill>
        <p:spPr>
          <a:xfrm>
            <a:off x="2620344" y="5212080"/>
            <a:ext cx="548640" cy="548640"/>
          </a:xfrm>
          <a:prstGeom prst="ellipse">
            <a:avLst/>
          </a:prstGeom>
          <a:ln w="12700">
            <a:solidFill>
              <a:srgbClr val="4245AF"/>
            </a:solidFill>
          </a:ln>
        </p:spPr>
      </p:pic>
      <p:sp>
        <p:nvSpPr>
          <p:cNvPr id="63" name="Scholar name Luis Bettencourt"/>
          <p:cNvSpPr txBox="1"/>
          <p:nvPr/>
        </p:nvSpPr>
        <p:spPr>
          <a:xfrm>
            <a:off x="2204096"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Luis Bettencourt</a:t>
            </a:r>
          </a:p>
        </p:txBody>
      </p:sp>
      <p:sp>
        <p:nvSpPr>
          <p:cNvPr id="64" name="Scholar text Luis Bettencourt"/>
          <p:cNvSpPr txBox="1"/>
          <p:nvPr/>
        </p:nvSpPr>
        <p:spPr>
          <a:xfrm>
            <a:off x="2204096"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芝加哥大学</a:t>
            </a:r>
          </a:p>
          <a:p>
            <a:pPr algn="ctr">
              <a:lnSpc>
                <a:spcPct val="128000"/>
              </a:lnSpc>
              <a:spcAft>
                <a:spcPts val="0"/>
              </a:spcAft>
              <a:buNone/>
            </a:pPr>
            <a:r>
              <a:rPr lang="en-US" altLang="zh-CN" sz="750" b="0" i="0" dirty="0">
                <a:solidFill>
                  <a:srgbClr val="5B5D72"/>
                </a:solidFill>
                <a:latin typeface="Arial"/>
                <a:ea typeface="Microsoft YaHei"/>
                <a:cs typeface="Arial"/>
              </a:rPr>
              <a:t>城市复杂系统 · 网络</a:t>
            </a:r>
          </a:p>
          <a:p>
            <a:pPr algn="ctr">
              <a:lnSpc>
                <a:spcPct val="128000"/>
              </a:lnSpc>
              <a:spcAft>
                <a:spcPts val="0"/>
              </a:spcAft>
              <a:buNone/>
            </a:pPr>
            <a:r>
              <a:rPr lang="en-US" altLang="zh-CN" sz="750" b="0" i="0" dirty="0">
                <a:solidFill>
                  <a:srgbClr val="5B5D72"/>
                </a:solidFill>
                <a:latin typeface="Arial"/>
                <a:ea typeface="Microsoft YaHei"/>
                <a:cs typeface="Arial"/>
              </a:rPr>
              <a:t>城市尺度理论</a:t>
            </a:r>
          </a:p>
        </p:txBody>
      </p:sp>
      <p:sp>
        <p:nvSpPr>
          <p:cNvPr id="65" name="Scholar card Rebecca Bentley"/>
          <p:cNvSpPr/>
          <p:nvPr/>
        </p:nvSpPr>
        <p:spPr>
          <a:xfrm>
            <a:off x="3749824"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6" name="Portrait Rebecca Bentley" descr="Rebecca Bentley"/>
          <p:cNvPicPr>
            <a:picLocks noChangeAspect="1"/>
          </p:cNvPicPr>
          <p:nvPr/>
        </p:nvPicPr>
        <p:blipFill>
          <a:blip r:embed="rId14"/>
          <a:srcRect t="83" b="83"/>
          <a:stretch>
            <a:fillRect/>
          </a:stretch>
        </p:blipFill>
        <p:spPr>
          <a:xfrm>
            <a:off x="4220936" y="5212080"/>
            <a:ext cx="548640" cy="548640"/>
          </a:xfrm>
          <a:prstGeom prst="ellipse">
            <a:avLst/>
          </a:prstGeom>
          <a:ln w="12700">
            <a:solidFill>
              <a:srgbClr val="4245AF"/>
            </a:solidFill>
          </a:ln>
        </p:spPr>
      </p:pic>
      <p:sp>
        <p:nvSpPr>
          <p:cNvPr id="67" name="Scholar name Rebecca Bentley"/>
          <p:cNvSpPr txBox="1"/>
          <p:nvPr/>
        </p:nvSpPr>
        <p:spPr>
          <a:xfrm>
            <a:off x="3804688"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Rebecca Bentley</a:t>
            </a:r>
          </a:p>
        </p:txBody>
      </p:sp>
      <p:sp>
        <p:nvSpPr>
          <p:cNvPr id="68" name="Scholar text Rebecca Bentley"/>
          <p:cNvSpPr txBox="1"/>
          <p:nvPr/>
        </p:nvSpPr>
        <p:spPr>
          <a:xfrm>
            <a:off x="3804688"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墨尔本大学</a:t>
            </a:r>
          </a:p>
          <a:p>
            <a:pPr algn="ctr">
              <a:lnSpc>
                <a:spcPct val="128000"/>
              </a:lnSpc>
              <a:spcAft>
                <a:spcPts val="0"/>
              </a:spcAft>
              <a:buNone/>
            </a:pPr>
            <a:r>
              <a:rPr lang="en-US" altLang="zh-CN" sz="750" b="0" i="0" dirty="0">
                <a:solidFill>
                  <a:srgbClr val="5B5D72"/>
                </a:solidFill>
                <a:latin typeface="Arial"/>
                <a:ea typeface="Microsoft YaHei"/>
                <a:cs typeface="Arial"/>
              </a:rPr>
              <a:t>住房与建成环境 · 流行病学</a:t>
            </a:r>
          </a:p>
          <a:p>
            <a:pPr algn="ctr">
              <a:lnSpc>
                <a:spcPct val="128000"/>
              </a:lnSpc>
              <a:spcAft>
                <a:spcPts val="0"/>
              </a:spcAft>
              <a:buNone/>
            </a:pPr>
            <a:r>
              <a:rPr lang="en-US" altLang="zh-CN" sz="750" b="0" i="0" dirty="0">
                <a:solidFill>
                  <a:srgbClr val="5B5D72"/>
                </a:solidFill>
                <a:latin typeface="Arial"/>
                <a:ea typeface="Microsoft YaHei"/>
                <a:cs typeface="Arial"/>
              </a:rPr>
              <a:t>城市健康</a:t>
            </a:r>
          </a:p>
        </p:txBody>
      </p:sp>
      <p:sp>
        <p:nvSpPr>
          <p:cNvPr id="69" name="Scholar card Emma Baker"/>
          <p:cNvSpPr/>
          <p:nvPr/>
        </p:nvSpPr>
        <p:spPr>
          <a:xfrm>
            <a:off x="5350416"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0" name="Portrait Emma Baker" descr="Emma Baker"/>
          <p:cNvPicPr>
            <a:picLocks noChangeAspect="1"/>
          </p:cNvPicPr>
          <p:nvPr/>
        </p:nvPicPr>
        <p:blipFill>
          <a:blip r:embed="rId15"/>
          <a:srcRect l="10920" t="23557" r="11660" b="12798"/>
          <a:stretch>
            <a:fillRect/>
          </a:stretch>
        </p:blipFill>
        <p:spPr>
          <a:xfrm>
            <a:off x="5821528" y="5212080"/>
            <a:ext cx="548640" cy="548640"/>
          </a:xfrm>
          <a:prstGeom prst="ellipse">
            <a:avLst/>
          </a:prstGeom>
          <a:ln w="12700">
            <a:solidFill>
              <a:srgbClr val="4245AF"/>
            </a:solidFill>
          </a:ln>
        </p:spPr>
      </p:pic>
      <p:sp>
        <p:nvSpPr>
          <p:cNvPr id="71" name="Scholar name Emma Baker"/>
          <p:cNvSpPr txBox="1"/>
          <p:nvPr/>
        </p:nvSpPr>
        <p:spPr>
          <a:xfrm>
            <a:off x="5405280"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Emma Baker</a:t>
            </a:r>
          </a:p>
        </p:txBody>
      </p:sp>
      <p:sp>
        <p:nvSpPr>
          <p:cNvPr id="72" name="Scholar text Emma Baker"/>
          <p:cNvSpPr txBox="1"/>
          <p:nvPr/>
        </p:nvSpPr>
        <p:spPr>
          <a:xfrm>
            <a:off x="5405280"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阿德莱德大学</a:t>
            </a:r>
          </a:p>
          <a:p>
            <a:pPr algn="ctr">
              <a:lnSpc>
                <a:spcPct val="128000"/>
              </a:lnSpc>
              <a:spcAft>
                <a:spcPts val="0"/>
              </a:spcAft>
              <a:buNone/>
            </a:pPr>
            <a:r>
              <a:rPr lang="en-US" altLang="zh-CN" sz="750" b="0" i="0" dirty="0">
                <a:solidFill>
                  <a:srgbClr val="5B5D72"/>
                </a:solidFill>
                <a:latin typeface="Arial"/>
                <a:ea typeface="Microsoft YaHei"/>
                <a:cs typeface="Arial"/>
              </a:rPr>
              <a:t>城市健康与居住环境</a:t>
            </a:r>
          </a:p>
        </p:txBody>
      </p:sp>
      <p:sp>
        <p:nvSpPr>
          <p:cNvPr id="73" name="Scholar card Orlando Woods"/>
          <p:cNvSpPr/>
          <p:nvPr/>
        </p:nvSpPr>
        <p:spPr>
          <a:xfrm>
            <a:off x="6951008"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4" name="Portrait Orlando Woods" descr="Orlando Woods"/>
          <p:cNvPicPr>
            <a:picLocks noChangeAspect="1"/>
          </p:cNvPicPr>
          <p:nvPr/>
        </p:nvPicPr>
        <p:blipFill>
          <a:blip r:embed="rId16"/>
          <a:srcRect t="134" b="19866"/>
          <a:stretch>
            <a:fillRect/>
          </a:stretch>
        </p:blipFill>
        <p:spPr>
          <a:xfrm>
            <a:off x="7422119" y="5212080"/>
            <a:ext cx="548640" cy="548640"/>
          </a:xfrm>
          <a:prstGeom prst="ellipse">
            <a:avLst/>
          </a:prstGeom>
          <a:ln w="12700">
            <a:solidFill>
              <a:srgbClr val="4245AF"/>
            </a:solidFill>
          </a:ln>
        </p:spPr>
      </p:pic>
      <p:sp>
        <p:nvSpPr>
          <p:cNvPr id="75" name="Scholar name Orlando Woods"/>
          <p:cNvSpPr txBox="1"/>
          <p:nvPr/>
        </p:nvSpPr>
        <p:spPr>
          <a:xfrm>
            <a:off x="7005872"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Orlando Woods</a:t>
            </a:r>
          </a:p>
        </p:txBody>
      </p:sp>
      <p:sp>
        <p:nvSpPr>
          <p:cNvPr id="76" name="Scholar text Orlando Woods"/>
          <p:cNvSpPr txBox="1"/>
          <p:nvPr/>
        </p:nvSpPr>
        <p:spPr>
          <a:xfrm>
            <a:off x="7005872"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新加坡管理大学</a:t>
            </a:r>
          </a:p>
          <a:p>
            <a:pPr algn="ctr">
              <a:lnSpc>
                <a:spcPct val="128000"/>
              </a:lnSpc>
              <a:spcAft>
                <a:spcPts val="0"/>
              </a:spcAft>
              <a:buNone/>
            </a:pPr>
            <a:r>
              <a:rPr lang="en-US" altLang="zh-CN" sz="750" b="0" i="0" dirty="0">
                <a:solidFill>
                  <a:srgbClr val="5B5D72"/>
                </a:solidFill>
                <a:latin typeface="Arial"/>
                <a:ea typeface="Microsoft YaHei"/>
                <a:cs typeface="Arial"/>
              </a:rPr>
              <a:t>智慧城市 · 数字平台治理</a:t>
            </a:r>
          </a:p>
        </p:txBody>
      </p:sp>
      <p:sp>
        <p:nvSpPr>
          <p:cNvPr id="77" name="Scholar card 刘春华"/>
          <p:cNvSpPr/>
          <p:nvPr/>
        </p:nvSpPr>
        <p:spPr>
          <a:xfrm>
            <a:off x="8551599"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8" name="Portrait 刘春华" descr="刘春华"/>
          <p:cNvPicPr>
            <a:picLocks noChangeAspect="1"/>
          </p:cNvPicPr>
          <p:nvPr/>
        </p:nvPicPr>
        <p:blipFill>
          <a:blip r:embed="rId17"/>
          <a:srcRect t="12548" b="12548"/>
          <a:stretch>
            <a:fillRect/>
          </a:stretch>
        </p:blipFill>
        <p:spPr>
          <a:xfrm>
            <a:off x="9022711" y="5212080"/>
            <a:ext cx="548640" cy="548640"/>
          </a:xfrm>
          <a:prstGeom prst="ellipse">
            <a:avLst/>
          </a:prstGeom>
          <a:ln w="12700">
            <a:solidFill>
              <a:srgbClr val="4245AF"/>
            </a:solidFill>
          </a:ln>
        </p:spPr>
      </p:pic>
      <p:sp>
        <p:nvSpPr>
          <p:cNvPr id="79" name="Scholar name 刘春华"/>
          <p:cNvSpPr txBox="1"/>
          <p:nvPr/>
        </p:nvSpPr>
        <p:spPr>
          <a:xfrm>
            <a:off x="8606463"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刘春华</a:t>
            </a:r>
          </a:p>
        </p:txBody>
      </p:sp>
      <p:sp>
        <p:nvSpPr>
          <p:cNvPr id="80" name="Scholar text 刘春华"/>
          <p:cNvSpPr txBox="1"/>
          <p:nvPr/>
        </p:nvSpPr>
        <p:spPr>
          <a:xfrm>
            <a:off x="8606463"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香港城市大学</a:t>
            </a:r>
          </a:p>
          <a:p>
            <a:pPr algn="ctr">
              <a:lnSpc>
                <a:spcPct val="128000"/>
              </a:lnSpc>
              <a:spcAft>
                <a:spcPts val="0"/>
              </a:spcAft>
              <a:buNone/>
            </a:pPr>
            <a:r>
              <a:rPr lang="en-US" altLang="zh-CN" sz="750" b="0" i="0" dirty="0">
                <a:solidFill>
                  <a:srgbClr val="5B5D72"/>
                </a:solidFill>
                <a:latin typeface="Arial"/>
                <a:ea typeface="Microsoft YaHei"/>
                <a:cs typeface="Arial"/>
              </a:rPr>
              <a:t>智慧能源 · 电动交通</a:t>
            </a:r>
          </a:p>
        </p:txBody>
      </p:sp>
      <p:sp>
        <p:nvSpPr>
          <p:cNvPr id="81" name="Scholar card 黄波"/>
          <p:cNvSpPr/>
          <p:nvPr/>
        </p:nvSpPr>
        <p:spPr>
          <a:xfrm>
            <a:off x="10152191" y="51206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82" name="Portrait 黄波" descr="黄波"/>
          <p:cNvPicPr>
            <a:picLocks noChangeAspect="1"/>
          </p:cNvPicPr>
          <p:nvPr/>
        </p:nvPicPr>
        <p:blipFill>
          <a:blip r:embed="rId18"/>
          <a:srcRect t="713" b="713"/>
          <a:stretch>
            <a:fillRect/>
          </a:stretch>
        </p:blipFill>
        <p:spPr>
          <a:xfrm>
            <a:off x="10623303" y="5212080"/>
            <a:ext cx="548640" cy="548640"/>
          </a:xfrm>
          <a:prstGeom prst="ellipse">
            <a:avLst/>
          </a:prstGeom>
          <a:ln w="12700">
            <a:solidFill>
              <a:srgbClr val="4245AF"/>
            </a:solidFill>
          </a:ln>
        </p:spPr>
      </p:pic>
      <p:sp>
        <p:nvSpPr>
          <p:cNvPr id="83" name="Scholar name 黄波"/>
          <p:cNvSpPr txBox="1"/>
          <p:nvPr/>
        </p:nvSpPr>
        <p:spPr>
          <a:xfrm>
            <a:off x="10207055" y="57972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黄波</a:t>
            </a:r>
          </a:p>
        </p:txBody>
      </p:sp>
      <p:sp>
        <p:nvSpPr>
          <p:cNvPr id="84" name="Scholar text 黄波"/>
          <p:cNvSpPr txBox="1"/>
          <p:nvPr/>
        </p:nvSpPr>
        <p:spPr>
          <a:xfrm>
            <a:off x="10207055" y="60258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HKU</a:t>
            </a:r>
          </a:p>
          <a:p>
            <a:pPr algn="ctr">
              <a:lnSpc>
                <a:spcPct val="128000"/>
              </a:lnSpc>
              <a:spcAft>
                <a:spcPts val="0"/>
              </a:spcAft>
              <a:buNone/>
            </a:pPr>
            <a:r>
              <a:rPr lang="en-US" altLang="zh-CN" sz="750" b="0" i="0" dirty="0">
                <a:solidFill>
                  <a:srgbClr val="5B5D72"/>
                </a:solidFill>
                <a:latin typeface="Arial"/>
                <a:ea typeface="Microsoft YaHei"/>
                <a:cs typeface="Arial"/>
              </a:rPr>
              <a:t>地理信息科学</a:t>
            </a:r>
          </a:p>
          <a:p>
            <a:pPr algn="ctr">
              <a:lnSpc>
                <a:spcPct val="128000"/>
              </a:lnSpc>
              <a:spcAft>
                <a:spcPts val="0"/>
              </a:spcAft>
              <a:buNone/>
            </a:pPr>
            <a:r>
              <a:rPr lang="en-US" altLang="zh-CN" sz="750" b="0" i="0" dirty="0">
                <a:solidFill>
                  <a:srgbClr val="5B5D72"/>
                </a:solidFill>
                <a:latin typeface="Arial"/>
                <a:ea typeface="Microsoft YaHei"/>
                <a:cs typeface="Arial"/>
              </a:rPr>
              <a:t>遥感和空间数据分析</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2EC930-9711-3F06-85EF-E677C531DDD3}"/>
              </a:ext>
            </a:extLst>
          </p:cNvPr>
          <p:cNvSpPr txBox="1"/>
          <p:nvPr/>
        </p:nvSpPr>
        <p:spPr>
          <a:xfrm>
            <a:off x="596181" y="672022"/>
            <a:ext cx="7064563"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International Academic Leadership &amp; Networks</a:t>
            </a:r>
            <a:endParaRPr lang="zh-CN" altLang="en-US" sz="2400" b="1" dirty="0">
              <a:latin typeface="Arial" panose="020B0604020202020204" pitchFamily="34" charset="0"/>
              <a:cs typeface="Arial" panose="020B0604020202020204" pitchFamily="34" charset="0"/>
            </a:endParaRPr>
          </a:p>
        </p:txBody>
      </p:sp>
      <p:pic>
        <p:nvPicPr>
          <p:cNvPr id="4" name="图片 3" descr="RSA session at forthcoming International Conference on Urban Affairs (ICUA) - RSA Main">
            <a:extLst>
              <a:ext uri="{FF2B5EF4-FFF2-40B4-BE49-F238E27FC236}">
                <a16:creationId xmlns:a16="http://schemas.microsoft.com/office/drawing/2014/main" id="{B96B6EF2-2608-2D1F-5246-C0D51A664172}"/>
              </a:ext>
            </a:extLst>
          </p:cNvPr>
          <p:cNvPicPr>
            <a:picLocks noChangeAspect="1"/>
          </p:cNvPicPr>
          <p:nvPr/>
        </p:nvPicPr>
        <p:blipFill>
          <a:blip r:embed="rId2"/>
          <a:srcRect l="23136" t="14241" r="23107" b="14083"/>
          <a:stretch>
            <a:fillRect/>
          </a:stretch>
        </p:blipFill>
        <p:spPr>
          <a:xfrm>
            <a:off x="690524" y="1655990"/>
            <a:ext cx="1596571" cy="1596570"/>
          </a:xfrm>
          <a:prstGeom prst="rect">
            <a:avLst/>
          </a:prstGeom>
        </p:spPr>
      </p:pic>
      <p:pic>
        <p:nvPicPr>
          <p:cNvPr id="5" name="图片 4" descr="IGU-UGI: Statement on Geography, Human Rights and Palestine - RUNIPACE">
            <a:extLst>
              <a:ext uri="{FF2B5EF4-FFF2-40B4-BE49-F238E27FC236}">
                <a16:creationId xmlns:a16="http://schemas.microsoft.com/office/drawing/2014/main" id="{4000F983-BF4C-CBE5-C24C-D3B1DBEF4B3F}"/>
              </a:ext>
            </a:extLst>
          </p:cNvPr>
          <p:cNvPicPr>
            <a:picLocks noChangeAspect="1"/>
          </p:cNvPicPr>
          <p:nvPr/>
        </p:nvPicPr>
        <p:blipFill>
          <a:blip r:embed="rId3"/>
          <a:srcRect t="34554" b="36850"/>
          <a:stretch>
            <a:fillRect/>
          </a:stretch>
        </p:blipFill>
        <p:spPr>
          <a:xfrm>
            <a:off x="6855201" y="2117655"/>
            <a:ext cx="5242456" cy="836297"/>
          </a:xfrm>
          <a:prstGeom prst="rect">
            <a:avLst/>
          </a:prstGeom>
        </p:spPr>
      </p:pic>
      <p:pic>
        <p:nvPicPr>
          <p:cNvPr id="6" name="图片 5" descr="Private Foundations | Eva Garland Consulting">
            <a:extLst>
              <a:ext uri="{FF2B5EF4-FFF2-40B4-BE49-F238E27FC236}">
                <a16:creationId xmlns:a16="http://schemas.microsoft.com/office/drawing/2014/main" id="{52A14E19-C79E-B518-460F-1DE52CCE8F9A}"/>
              </a:ext>
            </a:extLst>
          </p:cNvPr>
          <p:cNvPicPr>
            <a:picLocks noChangeAspect="1"/>
          </p:cNvPicPr>
          <p:nvPr/>
        </p:nvPicPr>
        <p:blipFill>
          <a:blip r:embed="rId4"/>
          <a:srcRect l="14162" t="31587" r="13739" b="31446"/>
          <a:stretch>
            <a:fillRect/>
          </a:stretch>
        </p:blipFill>
        <p:spPr>
          <a:xfrm>
            <a:off x="690524" y="4264474"/>
            <a:ext cx="1922047" cy="985472"/>
          </a:xfrm>
          <a:prstGeom prst="rect">
            <a:avLst/>
          </a:prstGeom>
        </p:spPr>
      </p:pic>
      <p:pic>
        <p:nvPicPr>
          <p:cNvPr id="7" name="图片 6" descr="Study Environmental Sciences at University of East Anglia">
            <a:extLst>
              <a:ext uri="{FF2B5EF4-FFF2-40B4-BE49-F238E27FC236}">
                <a16:creationId xmlns:a16="http://schemas.microsoft.com/office/drawing/2014/main" id="{53C621B1-9735-C611-5562-EAA125ED00F4}"/>
              </a:ext>
            </a:extLst>
          </p:cNvPr>
          <p:cNvPicPr>
            <a:picLocks noChangeAspect="1"/>
          </p:cNvPicPr>
          <p:nvPr/>
        </p:nvPicPr>
        <p:blipFill>
          <a:blip r:embed="rId5"/>
          <a:stretch>
            <a:fillRect/>
          </a:stretch>
        </p:blipFill>
        <p:spPr>
          <a:xfrm>
            <a:off x="3345465" y="3985842"/>
            <a:ext cx="1592034" cy="1592034"/>
          </a:xfrm>
          <a:prstGeom prst="rect">
            <a:avLst/>
          </a:prstGeom>
        </p:spPr>
      </p:pic>
      <p:pic>
        <p:nvPicPr>
          <p:cNvPr id="8" name="图片 7" descr="Regional Studies Association (@regstud) on X">
            <a:extLst>
              <a:ext uri="{FF2B5EF4-FFF2-40B4-BE49-F238E27FC236}">
                <a16:creationId xmlns:a16="http://schemas.microsoft.com/office/drawing/2014/main" id="{CBA8991D-73F6-5586-6478-BB053CBBACC1}"/>
              </a:ext>
            </a:extLst>
          </p:cNvPr>
          <p:cNvPicPr>
            <a:picLocks noChangeAspect="1"/>
          </p:cNvPicPr>
          <p:nvPr/>
        </p:nvPicPr>
        <p:blipFill>
          <a:blip r:embed="rId6"/>
          <a:stretch>
            <a:fillRect/>
          </a:stretch>
        </p:blipFill>
        <p:spPr>
          <a:xfrm>
            <a:off x="5804106" y="3982810"/>
            <a:ext cx="1652039" cy="1652039"/>
          </a:xfrm>
          <a:prstGeom prst="rect">
            <a:avLst/>
          </a:prstGeom>
        </p:spPr>
      </p:pic>
      <p:pic>
        <p:nvPicPr>
          <p:cNvPr id="9" name="图片 8" descr="Asia-Pacific Network for Housing Research: APNHR">
            <a:extLst>
              <a:ext uri="{FF2B5EF4-FFF2-40B4-BE49-F238E27FC236}">
                <a16:creationId xmlns:a16="http://schemas.microsoft.com/office/drawing/2014/main" id="{F724E304-4384-CC41-8EE8-FBEBDC4A4792}"/>
              </a:ext>
            </a:extLst>
          </p:cNvPr>
          <p:cNvPicPr>
            <a:picLocks noChangeAspect="1"/>
          </p:cNvPicPr>
          <p:nvPr/>
        </p:nvPicPr>
        <p:blipFill>
          <a:blip r:embed="rId7"/>
          <a:stretch>
            <a:fillRect/>
          </a:stretch>
        </p:blipFill>
        <p:spPr>
          <a:xfrm>
            <a:off x="3000203" y="1467826"/>
            <a:ext cx="3277226" cy="2180845"/>
          </a:xfrm>
          <a:prstGeom prst="rect">
            <a:avLst/>
          </a:prstGeom>
        </p:spPr>
      </p:pic>
      <p:pic>
        <p:nvPicPr>
          <p:cNvPr id="11" name="图片 10">
            <a:extLst>
              <a:ext uri="{FF2B5EF4-FFF2-40B4-BE49-F238E27FC236}">
                <a16:creationId xmlns:a16="http://schemas.microsoft.com/office/drawing/2014/main" id="{BB8317CC-1766-F17B-41B8-E70B27A39512}"/>
              </a:ext>
            </a:extLst>
          </p:cNvPr>
          <p:cNvPicPr>
            <a:picLocks noChangeAspect="1"/>
          </p:cNvPicPr>
          <p:nvPr/>
        </p:nvPicPr>
        <p:blipFill>
          <a:blip r:embed="rId8"/>
          <a:stretch>
            <a:fillRect/>
          </a:stretch>
        </p:blipFill>
        <p:spPr>
          <a:xfrm>
            <a:off x="7834601" y="4413649"/>
            <a:ext cx="4209197" cy="785632"/>
          </a:xfrm>
          <a:prstGeom prst="rect">
            <a:avLst/>
          </a:prstGeom>
        </p:spPr>
      </p:pic>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91460B-AA1C-4AA6-868D-8E50444E4FF8}"/>
              </a:ext>
            </a:extLst>
          </p:cNvPr>
          <p:cNvSpPr txBox="1"/>
          <p:nvPr/>
        </p:nvSpPr>
        <p:spPr>
          <a:xfrm>
            <a:off x="596181" y="672022"/>
            <a:ext cx="1426224" cy="461665"/>
          </a:xfrm>
          <a:prstGeom prst="rect">
            <a:avLst/>
          </a:prstGeom>
          <a:noFill/>
        </p:spPr>
        <p:txBody>
          <a:bodyPr wrap="none" rtlCol="0">
            <a:spAutoFit/>
          </a:bodyPr>
          <a:lstStyle/>
          <a:p>
            <a:r>
              <a:rPr lang="en-US" altLang="zh-CN" sz="2400" b="1" dirty="0">
                <a:latin typeface="Arial" panose="020B0604020202020204" pitchFamily="34" charset="0"/>
                <a:cs typeface="Arial" panose="020B0604020202020204" pitchFamily="34" charset="0"/>
              </a:rPr>
              <a:t>Timeline</a:t>
            </a:r>
            <a:endParaRPr lang="zh-CN" altLang="en-US" sz="2400" b="1" dirty="0">
              <a:latin typeface="Arial" panose="020B0604020202020204" pitchFamily="34" charset="0"/>
              <a:cs typeface="Arial" panose="020B0604020202020204" pitchFamily="34" charset="0"/>
            </a:endParaRPr>
          </a:p>
        </p:txBody>
      </p:sp>
      <p:sp>
        <p:nvSpPr>
          <p:cNvPr id="5" name="文本框 4">
            <a:extLst>
              <a:ext uri="{FF2B5EF4-FFF2-40B4-BE49-F238E27FC236}">
                <a16:creationId xmlns:a16="http://schemas.microsoft.com/office/drawing/2014/main" id="{BD2353D5-07C8-BADF-7BE8-8EABCFCC3793}"/>
              </a:ext>
            </a:extLst>
          </p:cNvPr>
          <p:cNvSpPr txBox="1"/>
          <p:nvPr/>
        </p:nvSpPr>
        <p:spPr>
          <a:xfrm>
            <a:off x="636438" y="1598647"/>
            <a:ext cx="11066732" cy="4674998"/>
          </a:xfrm>
          <a:prstGeom prst="rect">
            <a:avLst/>
          </a:prstGeom>
          <a:noFill/>
        </p:spPr>
        <p:txBody>
          <a:bodyPr wrap="square">
            <a:spAutoFit/>
          </a:bodyPr>
          <a:lstStyle/>
          <a:p>
            <a:pPr>
              <a:lnSpc>
                <a:spcPct val="125000"/>
              </a:lnSpc>
              <a:buNone/>
            </a:pPr>
            <a:r>
              <a:rPr lang="zh-CN" altLang="zh-CN" b="1" dirty="0">
                <a:latin typeface="Arial" panose="020B0604020202020204" pitchFamily="34" charset="0"/>
                <a:cs typeface="Arial" panose="020B0604020202020204" pitchFamily="34" charset="0"/>
              </a:rPr>
              <a:t>November–December 2026 | Editorial Board Formation &amp; Strategic Planning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Convene the inaugural Editorial Board meeting.</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Finalize the journal’s vision, scope, editorial structure, and launch strategy.</a:t>
            </a:r>
          </a:p>
          <a:p>
            <a:pPr>
              <a:lnSpc>
                <a:spcPct val="125000"/>
              </a:lnSpc>
              <a:spcBef>
                <a:spcPts val="1200"/>
              </a:spcBef>
              <a:buNone/>
            </a:pPr>
            <a:r>
              <a:rPr lang="zh-CN" altLang="zh-CN" b="1" dirty="0">
                <a:latin typeface="Arial" panose="020B0604020202020204" pitchFamily="34" charset="0"/>
                <a:cs typeface="Arial" panose="020B0604020202020204" pitchFamily="34" charset="0"/>
              </a:rPr>
              <a:t>February 2027 | APNHR–AHRC Conference, Melbourne</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Introduce the journal to international research networks.</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Engage potential editors, contributors, and institutional partners.</a:t>
            </a:r>
          </a:p>
          <a:p>
            <a:pPr>
              <a:lnSpc>
                <a:spcPct val="125000"/>
              </a:lnSpc>
              <a:spcBef>
                <a:spcPts val="1200"/>
              </a:spcBef>
            </a:pPr>
            <a:r>
              <a:rPr lang="zh-CN" altLang="zh-CN" b="1" dirty="0">
                <a:latin typeface="Arial" panose="020B0604020202020204" pitchFamily="34" charset="0"/>
                <a:cs typeface="Arial" panose="020B0604020202020204" pitchFamily="34" charset="0"/>
              </a:rPr>
              <a:t>April 2027 | UAA Conference, New York</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Expand international networking and raise awareness of the journal.</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Invite prospective submissions and explore special issue opportunities.</a:t>
            </a:r>
          </a:p>
          <a:p>
            <a:pPr>
              <a:lnSpc>
                <a:spcPct val="125000"/>
              </a:lnSpc>
              <a:spcBef>
                <a:spcPts val="1200"/>
              </a:spcBef>
            </a:pPr>
            <a:r>
              <a:rPr lang="zh-CN" altLang="zh-CN" b="1" dirty="0">
                <a:latin typeface="Arial" panose="020B0604020202020204" pitchFamily="34" charset="0"/>
                <a:cs typeface="Arial" panose="020B0604020202020204" pitchFamily="34" charset="0"/>
              </a:rPr>
              <a:t>August 2027 | IGU Urban Commission Meeting</a:t>
            </a:r>
          </a:p>
          <a:p>
            <a:pPr marL="342900" lvl="0" indent="-342900">
              <a:lnSpc>
                <a:spcPct val="125000"/>
              </a:lnSpc>
              <a:buFont typeface="Arial" panose="020B0604020202020204" pitchFamily="34" charset="0"/>
              <a:buChar char="•"/>
            </a:pPr>
            <a:r>
              <a:rPr lang="zh-CN" altLang="zh-CN" b="1" dirty="0">
                <a:solidFill>
                  <a:srgbClr val="C00000"/>
                </a:solidFill>
                <a:latin typeface="Arial" panose="020B0604020202020204" pitchFamily="34" charset="0"/>
                <a:cs typeface="Arial" panose="020B0604020202020204" pitchFamily="34" charset="0"/>
              </a:rPr>
              <a:t>Official Launch of The Innovation Urban.</a:t>
            </a:r>
          </a:p>
          <a:p>
            <a:pPr marL="342900" lvl="0" indent="-342900">
              <a:lnSpc>
                <a:spcPct val="125000"/>
              </a:lnSpc>
              <a:buFont typeface="Arial" panose="020B0604020202020204" pitchFamily="34" charset="0"/>
              <a:buChar char="•"/>
            </a:pPr>
            <a:r>
              <a:rPr lang="zh-CN" altLang="zh-CN" dirty="0">
                <a:latin typeface="Arial" panose="020B0604020202020204" pitchFamily="34" charset="0"/>
                <a:cs typeface="Arial" panose="020B0604020202020204" pitchFamily="34" charset="0"/>
              </a:rPr>
              <a:t>Announce the editorial team, journal scope, and call for papers.</a:t>
            </a:r>
          </a:p>
        </p:txBody>
      </p:sp>
    </p:spTree>
    <p:extLst>
      <p:ext uri="{BB962C8B-B14F-4D97-AF65-F5344CB8AC3E}">
        <p14:creationId xmlns:p14="http://schemas.microsoft.com/office/powerpoint/2010/main" val="3110621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48.05,&quot;left&quot;:23.4,&quot;top&quot;:108.15,&quot;width&quot;:925.025039370078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