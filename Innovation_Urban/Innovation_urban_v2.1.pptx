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eic_image1.png"/><Relationship Id="rId3" Type="http://schemas.openxmlformats.org/officeDocument/2006/relationships/image" Target="../media/eic_b4ab8d3901.jpeg"/><Relationship Id="rId4" Type="http://schemas.openxmlformats.org/officeDocument/2006/relationships/image" Target="../media/me_b4479571d5.jpeg"/><Relationship Id="rId5" Type="http://schemas.openxmlformats.org/officeDocument/2006/relationships/image" Target="../media/me_image2.jpeg"/><Relationship Id="rId6" Type="http://schemas.openxmlformats.org/officeDocument/2006/relationships/image" Target="../media/me_10c0b0ea3a.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mb_1_image1.png"/><Relationship Id="rId3" Type="http://schemas.openxmlformats.org/officeDocument/2006/relationships/image" Target="../media/mb_1_394b9e1c87.jpeg"/><Relationship Id="rId4" Type="http://schemas.openxmlformats.org/officeDocument/2006/relationships/image" Target="../media/mb_1_506657d6e9.jpeg"/><Relationship Id="rId5" Type="http://schemas.openxmlformats.org/officeDocument/2006/relationships/image" Target="../media/mb_1_eeda5aff35.jpeg"/><Relationship Id="rId6" Type="http://schemas.openxmlformats.org/officeDocument/2006/relationships/image" Target="../media/mb_1_554c17e3a7.jpeg"/><Relationship Id="rId7" Type="http://schemas.openxmlformats.org/officeDocument/2006/relationships/image" Target="../media/mb_1_576b5dcc5c.jpeg"/><Relationship Id="rId8" Type="http://schemas.openxmlformats.org/officeDocument/2006/relationships/image" Target="../media/mb_1_4088245ecf.jpeg"/><Relationship Id="rId9" Type="http://schemas.openxmlformats.org/officeDocument/2006/relationships/image" Target="../media/mb_1_image8.jpeg"/><Relationship Id="rId10" Type="http://schemas.openxmlformats.org/officeDocument/2006/relationships/image" Target="../media/mb_1_d44aea9f6b.jpeg"/><Relationship Id="rId11" Type="http://schemas.openxmlformats.org/officeDocument/2006/relationships/image" Target="../media/mb_1_fb55ccae96.jpeg"/><Relationship Id="rId12" Type="http://schemas.openxmlformats.org/officeDocument/2006/relationships/image" Target="../media/mb_2_0bbef288de.jpeg"/><Relationship Id="rId13" Type="http://schemas.openxmlformats.org/officeDocument/2006/relationships/image" Target="../media/mb_2_image12.jpeg"/><Relationship Id="rId14" Type="http://schemas.openxmlformats.org/officeDocument/2006/relationships/image" Target="../media/mb_2_0fff2ee817.jpeg"/><Relationship Id="rId15" Type="http://schemas.openxmlformats.org/officeDocument/2006/relationships/image" Target="../media/mb_2_8572bb9ce7.jpeg"/><Relationship Id="rId16" Type="http://schemas.openxmlformats.org/officeDocument/2006/relationships/image" Target="../media/mb_2_daa90111ee.jpeg"/><Relationship Id="rId17" Type="http://schemas.openxmlformats.org/officeDocument/2006/relationships/image" Target="../media/mb_2_2d1823e67b.jpeg"/><Relationship Id="rId18" Type="http://schemas.openxmlformats.org/officeDocument/2006/relationships/image" Target="../media/mb_2_79fd6e2d0c.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net_4f96ad8ee0.jpeg"/><Relationship Id="rId3" Type="http://schemas.openxmlformats.org/officeDocument/2006/relationships/image" Target="../media/net_image4.jpeg"/><Relationship Id="rId4" Type="http://schemas.openxmlformats.org/officeDocument/2006/relationships/image" Target="../media/net_image5.jpeg"/><Relationship Id="rId5" Type="http://schemas.openxmlformats.org/officeDocument/2006/relationships/image" Target="../media/net_image8.png"/><Relationship Id="rId6" Type="http://schemas.openxmlformats.org/officeDocument/2006/relationships/image" Target="../media/net_0f30b36190.jpeg"/><Relationship Id="rId7" Type="http://schemas.openxmlformats.org/officeDocument/2006/relationships/image" Target="../media/net_image6.png"/><Relationship Id="rId8" Type="http://schemas.openxmlformats.org/officeDocument/2006/relationships/image" Target="../media/net_80d2a19573.jpeg"/><Relationship Id="rId9" Type="http://schemas.openxmlformats.org/officeDocument/2006/relationships/image" Target="../media/net_image7.png"/><Relationship Id="rId10" Type="http://schemas.openxmlformats.org/officeDocument/2006/relationships/image" Target="../media/net_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pic>
        <p:nvPicPr>
          <p:cNvPr id="11" name="Hero skyline" descr="Night skyline of a city under a starry sky"/>
          <p:cNvPicPr>
            <a:picLocks noChangeAspect="1"/>
          </p:cNvPicPr>
          <p:nvPr/>
        </p:nvPicPr>
        <p:blipFill>
          <a:blip r:embed="rId2"/>
          <a:stretch>
            <a:fillRect/>
          </a:stretch>
        </p:blipFill>
        <p:spPr>
          <a:xfrm>
            <a:off x="0" y="822960"/>
            <a:ext cx="12191695" cy="6035040"/>
          </a:xfrm>
          <a:prstGeom prst="rect">
            <a:avLst/>
          </a:prstGeom>
        </p:spPr>
      </p:pic>
      <p:sp>
        <p:nvSpPr>
          <p:cNvPr id="12"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3"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4"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5"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6"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7"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8"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9"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20"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1"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2"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3"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4"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5"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6"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7"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8"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3" name="Background statement"/>
          <p:cNvSpPr txBox="1"/>
          <p:nvPr/>
        </p:nvSpPr>
        <p:spPr>
          <a:xfrm>
            <a:off x="548640" y="21945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4" name="Challenge card 1"/>
          <p:cNvSpPr/>
          <p:nvPr/>
        </p:nvSpPr>
        <p:spPr>
          <a:xfrm>
            <a:off x="6257239" y="21945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Challenge icon 1 circle"/>
          <p:cNvSpPr/>
          <p:nvPr/>
        </p:nvSpPr>
        <p:spPr>
          <a:xfrm>
            <a:off x="6485839" y="24688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Challenge icon 1" descr=""/>
          <p:cNvPicPr>
            <a:picLocks noChangeAspect="1"/>
          </p:cNvPicPr>
          <p:nvPr/>
        </p:nvPicPr>
        <p:blipFill>
          <a:blip r:embed="rId2"/>
          <a:stretch>
            <a:fillRect/>
          </a:stretch>
        </p:blipFill>
        <p:spPr>
          <a:xfrm>
            <a:off x="6634429" y="2617470"/>
            <a:ext cx="297180" cy="297180"/>
          </a:xfrm>
          <a:prstGeom prst="rect">
            <a:avLst/>
          </a:prstGeom>
        </p:spPr>
      </p:pic>
      <p:sp>
        <p:nvSpPr>
          <p:cNvPr id="17" name="Challenge title 1"/>
          <p:cNvSpPr txBox="1"/>
          <p:nvPr/>
        </p:nvSpPr>
        <p:spPr>
          <a:xfrm>
            <a:off x="6485839" y="32004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8" name="Challenge caption 1"/>
          <p:cNvSpPr txBox="1"/>
          <p:nvPr/>
        </p:nvSpPr>
        <p:spPr>
          <a:xfrm>
            <a:off x="6485839" y="34747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19" name="Challenge card 2"/>
          <p:cNvSpPr/>
          <p:nvPr/>
        </p:nvSpPr>
        <p:spPr>
          <a:xfrm>
            <a:off x="9064447" y="21945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Challenge icon 2 circle"/>
          <p:cNvSpPr/>
          <p:nvPr/>
        </p:nvSpPr>
        <p:spPr>
          <a:xfrm>
            <a:off x="9293047" y="24688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Challenge icon 2" descr=""/>
          <p:cNvPicPr>
            <a:picLocks noChangeAspect="1"/>
          </p:cNvPicPr>
          <p:nvPr/>
        </p:nvPicPr>
        <p:blipFill>
          <a:blip r:embed="rId3"/>
          <a:stretch>
            <a:fillRect/>
          </a:stretch>
        </p:blipFill>
        <p:spPr>
          <a:xfrm>
            <a:off x="9441637" y="2617470"/>
            <a:ext cx="297180" cy="297180"/>
          </a:xfrm>
          <a:prstGeom prst="rect">
            <a:avLst/>
          </a:prstGeom>
        </p:spPr>
      </p:pic>
      <p:sp>
        <p:nvSpPr>
          <p:cNvPr id="22" name="Challenge title 2"/>
          <p:cNvSpPr txBox="1"/>
          <p:nvPr/>
        </p:nvSpPr>
        <p:spPr>
          <a:xfrm>
            <a:off x="9293047" y="32004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3" name="Challenge caption 2"/>
          <p:cNvSpPr txBox="1"/>
          <p:nvPr/>
        </p:nvSpPr>
        <p:spPr>
          <a:xfrm>
            <a:off x="9293047" y="34747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4" name="Challenge card 3"/>
          <p:cNvSpPr/>
          <p:nvPr/>
        </p:nvSpPr>
        <p:spPr>
          <a:xfrm>
            <a:off x="6257239" y="42062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Challenge icon 3 circle"/>
          <p:cNvSpPr/>
          <p:nvPr/>
        </p:nvSpPr>
        <p:spPr>
          <a:xfrm>
            <a:off x="6485839" y="44805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Challenge icon 3" descr=""/>
          <p:cNvPicPr>
            <a:picLocks noChangeAspect="1"/>
          </p:cNvPicPr>
          <p:nvPr/>
        </p:nvPicPr>
        <p:blipFill>
          <a:blip r:embed="rId4"/>
          <a:stretch>
            <a:fillRect/>
          </a:stretch>
        </p:blipFill>
        <p:spPr>
          <a:xfrm>
            <a:off x="6634429" y="4629150"/>
            <a:ext cx="297180" cy="297180"/>
          </a:xfrm>
          <a:prstGeom prst="rect">
            <a:avLst/>
          </a:prstGeom>
        </p:spPr>
      </p:pic>
      <p:sp>
        <p:nvSpPr>
          <p:cNvPr id="27" name="Challenge title 3"/>
          <p:cNvSpPr txBox="1"/>
          <p:nvPr/>
        </p:nvSpPr>
        <p:spPr>
          <a:xfrm>
            <a:off x="6485839" y="52120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8" name="Challenge caption 3"/>
          <p:cNvSpPr txBox="1"/>
          <p:nvPr/>
        </p:nvSpPr>
        <p:spPr>
          <a:xfrm>
            <a:off x="6485839" y="54864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29" name="Challenge card 4"/>
          <p:cNvSpPr/>
          <p:nvPr/>
        </p:nvSpPr>
        <p:spPr>
          <a:xfrm>
            <a:off x="9064447" y="42062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0" name="Challenge icon 4 circle"/>
          <p:cNvSpPr/>
          <p:nvPr/>
        </p:nvSpPr>
        <p:spPr>
          <a:xfrm>
            <a:off x="9293047" y="44805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31" name="Challenge icon 4" descr=""/>
          <p:cNvPicPr>
            <a:picLocks noChangeAspect="1"/>
          </p:cNvPicPr>
          <p:nvPr/>
        </p:nvPicPr>
        <p:blipFill>
          <a:blip r:embed="rId5"/>
          <a:stretch>
            <a:fillRect/>
          </a:stretch>
        </p:blipFill>
        <p:spPr>
          <a:xfrm>
            <a:off x="9441637" y="4629150"/>
            <a:ext cx="297180" cy="297180"/>
          </a:xfrm>
          <a:prstGeom prst="rect">
            <a:avLst/>
          </a:prstGeom>
        </p:spPr>
      </p:pic>
      <p:sp>
        <p:nvSpPr>
          <p:cNvPr id="32" name="Challenge title 4"/>
          <p:cNvSpPr txBox="1"/>
          <p:nvPr/>
        </p:nvSpPr>
        <p:spPr>
          <a:xfrm>
            <a:off x="9293047" y="52120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3" name="Challenge caption 4"/>
          <p:cNvSpPr txBox="1"/>
          <p:nvPr/>
        </p:nvSpPr>
        <p:spPr>
          <a:xfrm>
            <a:off x="9293047" y="54864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Geopolitical and economic shocks worldwide</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02</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3" name="Vision statement"/>
          <p:cNvSpPr txBox="1"/>
          <p:nvPr/>
        </p:nvSpPr>
        <p:spPr>
          <a:xfrm>
            <a:off x="548640" y="21488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4" name="Team card 1"/>
          <p:cNvSpPr/>
          <p:nvPr/>
        </p:nvSpPr>
        <p:spPr>
          <a:xfrm>
            <a:off x="54864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Team icon 1 circle"/>
          <p:cNvSpPr/>
          <p:nvPr/>
        </p:nvSpPr>
        <p:spPr>
          <a:xfrm>
            <a:off x="77724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Team icon 1" descr=""/>
          <p:cNvPicPr>
            <a:picLocks noChangeAspect="1"/>
          </p:cNvPicPr>
          <p:nvPr/>
        </p:nvPicPr>
        <p:blipFill>
          <a:blip r:embed="rId2"/>
          <a:stretch>
            <a:fillRect/>
          </a:stretch>
        </p:blipFill>
        <p:spPr>
          <a:xfrm>
            <a:off x="925830" y="4245102"/>
            <a:ext cx="297180" cy="297180"/>
          </a:xfrm>
          <a:prstGeom prst="rect">
            <a:avLst/>
          </a:prstGeom>
        </p:spPr>
      </p:pic>
      <p:sp>
        <p:nvSpPr>
          <p:cNvPr id="17" name="Team title 1"/>
          <p:cNvSpPr txBox="1"/>
          <p:nvPr/>
        </p:nvSpPr>
        <p:spPr>
          <a:xfrm>
            <a:off x="77724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8" name="Team caption 1"/>
          <p:cNvSpPr txBox="1"/>
          <p:nvPr/>
        </p:nvSpPr>
        <p:spPr>
          <a:xfrm>
            <a:off x="77724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19" name="Team card 2"/>
          <p:cNvSpPr/>
          <p:nvPr/>
        </p:nvSpPr>
        <p:spPr>
          <a:xfrm>
            <a:off x="310896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Team icon 2 circle"/>
          <p:cNvSpPr/>
          <p:nvPr/>
        </p:nvSpPr>
        <p:spPr>
          <a:xfrm>
            <a:off x="333756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Team icon 2" descr=""/>
          <p:cNvPicPr>
            <a:picLocks noChangeAspect="1"/>
          </p:cNvPicPr>
          <p:nvPr/>
        </p:nvPicPr>
        <p:blipFill>
          <a:blip r:embed="rId3"/>
          <a:stretch>
            <a:fillRect/>
          </a:stretch>
        </p:blipFill>
        <p:spPr>
          <a:xfrm>
            <a:off x="3486150" y="4245102"/>
            <a:ext cx="297180" cy="297180"/>
          </a:xfrm>
          <a:prstGeom prst="rect">
            <a:avLst/>
          </a:prstGeom>
        </p:spPr>
      </p:pic>
      <p:sp>
        <p:nvSpPr>
          <p:cNvPr id="22" name="Team title 2"/>
          <p:cNvSpPr txBox="1"/>
          <p:nvPr/>
        </p:nvSpPr>
        <p:spPr>
          <a:xfrm>
            <a:off x="333756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3" name="Team caption 2"/>
          <p:cNvSpPr txBox="1"/>
          <p:nvPr/>
        </p:nvSpPr>
        <p:spPr>
          <a:xfrm>
            <a:off x="333756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4" name="Team card 3"/>
          <p:cNvSpPr/>
          <p:nvPr/>
        </p:nvSpPr>
        <p:spPr>
          <a:xfrm>
            <a:off x="566928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Team icon 3 circle"/>
          <p:cNvSpPr/>
          <p:nvPr/>
        </p:nvSpPr>
        <p:spPr>
          <a:xfrm>
            <a:off x="589788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Team icon 3" descr=""/>
          <p:cNvPicPr>
            <a:picLocks noChangeAspect="1"/>
          </p:cNvPicPr>
          <p:nvPr/>
        </p:nvPicPr>
        <p:blipFill>
          <a:blip r:embed="rId4"/>
          <a:stretch>
            <a:fillRect/>
          </a:stretch>
        </p:blipFill>
        <p:spPr>
          <a:xfrm>
            <a:off x="6046470" y="4245102"/>
            <a:ext cx="297180" cy="297180"/>
          </a:xfrm>
          <a:prstGeom prst="rect">
            <a:avLst/>
          </a:prstGeom>
        </p:spPr>
      </p:pic>
      <p:sp>
        <p:nvSpPr>
          <p:cNvPr id="27" name="Team title 3"/>
          <p:cNvSpPr txBox="1"/>
          <p:nvPr/>
        </p:nvSpPr>
        <p:spPr>
          <a:xfrm>
            <a:off x="589788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8" name="Team caption 3"/>
          <p:cNvSpPr txBox="1"/>
          <p:nvPr/>
        </p:nvSpPr>
        <p:spPr>
          <a:xfrm>
            <a:off x="589788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29" name="Approach panel"/>
          <p:cNvSpPr/>
          <p:nvPr/>
        </p:nvSpPr>
        <p:spPr>
          <a:xfrm>
            <a:off x="8229600" y="38404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0" name="Approach kicker"/>
          <p:cNvSpPr txBox="1"/>
          <p:nvPr/>
        </p:nvSpPr>
        <p:spPr>
          <a:xfrm>
            <a:off x="8549640" y="40690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1" name="Step number 1"/>
          <p:cNvSpPr txBox="1"/>
          <p:nvPr/>
        </p:nvSpPr>
        <p:spPr>
          <a:xfrm>
            <a:off x="8549640" y="44622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2" name="Step text 1"/>
          <p:cNvSpPr txBox="1"/>
          <p:nvPr/>
        </p:nvSpPr>
        <p:spPr>
          <a:xfrm>
            <a:off x="9098280" y="44622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3" name="Step number 2"/>
          <p:cNvSpPr txBox="1"/>
          <p:nvPr/>
        </p:nvSpPr>
        <p:spPr>
          <a:xfrm>
            <a:off x="8549640" y="49560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4" name="Step text 2"/>
          <p:cNvSpPr txBox="1"/>
          <p:nvPr/>
        </p:nvSpPr>
        <p:spPr>
          <a:xfrm>
            <a:off x="9098280" y="49560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5" name="Step number 3"/>
          <p:cNvSpPr txBox="1"/>
          <p:nvPr/>
        </p:nvSpPr>
        <p:spPr>
          <a:xfrm>
            <a:off x="8549640" y="54498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6" name="Step text 3"/>
          <p:cNvSpPr txBox="1"/>
          <p:nvPr/>
        </p:nvSpPr>
        <p:spPr>
          <a:xfrm>
            <a:off x="9098280" y="54498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03</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3" name="Mission statement"/>
          <p:cNvSpPr txBox="1"/>
          <p:nvPr/>
        </p:nvSpPr>
        <p:spPr>
          <a:xfrm>
            <a:off x="548640" y="20574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4" name="Goal card 1"/>
          <p:cNvSpPr/>
          <p:nvPr/>
        </p:nvSpPr>
        <p:spPr>
          <a:xfrm>
            <a:off x="548640"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5" name="Goal number 1"/>
          <p:cNvSpPr/>
          <p:nvPr/>
        </p:nvSpPr>
        <p:spPr>
          <a:xfrm>
            <a:off x="749808"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6" name="Goal text 1"/>
          <p:cNvSpPr txBox="1"/>
          <p:nvPr/>
        </p:nvSpPr>
        <p:spPr>
          <a:xfrm>
            <a:off x="749808"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7" name="Goal card 2"/>
          <p:cNvSpPr/>
          <p:nvPr/>
        </p:nvSpPr>
        <p:spPr>
          <a:xfrm>
            <a:off x="3379394"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Goal number 2"/>
          <p:cNvSpPr/>
          <p:nvPr/>
        </p:nvSpPr>
        <p:spPr>
          <a:xfrm>
            <a:off x="3580562"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19" name="Goal text 2"/>
          <p:cNvSpPr txBox="1"/>
          <p:nvPr/>
        </p:nvSpPr>
        <p:spPr>
          <a:xfrm>
            <a:off x="3580562"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0" name="Goal card 3"/>
          <p:cNvSpPr/>
          <p:nvPr/>
        </p:nvSpPr>
        <p:spPr>
          <a:xfrm>
            <a:off x="6210148"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1" name="Goal number 3"/>
          <p:cNvSpPr/>
          <p:nvPr/>
        </p:nvSpPr>
        <p:spPr>
          <a:xfrm>
            <a:off x="6411316"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2" name="Goal text 3"/>
          <p:cNvSpPr txBox="1"/>
          <p:nvPr/>
        </p:nvSpPr>
        <p:spPr>
          <a:xfrm>
            <a:off x="6411316"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3" name="Goal card 4"/>
          <p:cNvSpPr/>
          <p:nvPr/>
        </p:nvSpPr>
        <p:spPr>
          <a:xfrm>
            <a:off x="9040901"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4" name="Goal number 4"/>
          <p:cNvSpPr/>
          <p:nvPr/>
        </p:nvSpPr>
        <p:spPr>
          <a:xfrm>
            <a:off x="9242069"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5" name="Goal text 4"/>
          <p:cNvSpPr txBox="1"/>
          <p:nvPr/>
        </p:nvSpPr>
        <p:spPr>
          <a:xfrm>
            <a:off x="9242069"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6" name="Goal card 5"/>
          <p:cNvSpPr/>
          <p:nvPr/>
        </p:nvSpPr>
        <p:spPr>
          <a:xfrm>
            <a:off x="548640"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7" name="Goal number 5"/>
          <p:cNvSpPr/>
          <p:nvPr/>
        </p:nvSpPr>
        <p:spPr>
          <a:xfrm>
            <a:off x="749808"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8" name="Goal text 5"/>
          <p:cNvSpPr txBox="1"/>
          <p:nvPr/>
        </p:nvSpPr>
        <p:spPr>
          <a:xfrm>
            <a:off x="749808"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29" name="Goal card 6"/>
          <p:cNvSpPr/>
          <p:nvPr/>
        </p:nvSpPr>
        <p:spPr>
          <a:xfrm>
            <a:off x="3379394"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Goal number 6"/>
          <p:cNvSpPr/>
          <p:nvPr/>
        </p:nvSpPr>
        <p:spPr>
          <a:xfrm>
            <a:off x="3580562"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1" name="Goal text 6"/>
          <p:cNvSpPr txBox="1"/>
          <p:nvPr/>
        </p:nvSpPr>
        <p:spPr>
          <a:xfrm>
            <a:off x="3580562"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2" name="Goal card 7"/>
          <p:cNvSpPr/>
          <p:nvPr/>
        </p:nvSpPr>
        <p:spPr>
          <a:xfrm>
            <a:off x="6210148"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3" name="Goal number 7"/>
          <p:cNvSpPr/>
          <p:nvPr/>
        </p:nvSpPr>
        <p:spPr>
          <a:xfrm>
            <a:off x="6411316"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4" name="Goal text 7"/>
          <p:cNvSpPr txBox="1"/>
          <p:nvPr/>
        </p:nvSpPr>
        <p:spPr>
          <a:xfrm>
            <a:off x="6411316"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5" name="Goal card 8"/>
          <p:cNvSpPr/>
          <p:nvPr/>
        </p:nvSpPr>
        <p:spPr>
          <a:xfrm>
            <a:off x="9040901" y="49103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6" name="Goal number 8"/>
          <p:cNvSpPr/>
          <p:nvPr/>
        </p:nvSpPr>
        <p:spPr>
          <a:xfrm>
            <a:off x="9242069" y="50749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7" name="Goal text 8"/>
          <p:cNvSpPr txBox="1"/>
          <p:nvPr/>
        </p:nvSpPr>
        <p:spPr>
          <a:xfrm>
            <a:off x="9242069"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04</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102"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3"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104"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105"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106" name="Nav Topics"/>
          <p:cNvSpPr/>
          <p:nvPr/>
        </p:nvSpPr>
        <p:spPr>
          <a:xfrm>
            <a:off x="752825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Topics</a:t>
            </a:r>
          </a:p>
        </p:txBody>
      </p:sp>
      <p:sp>
        <p:nvSpPr>
          <p:cNvPr id="107"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108"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9"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0"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1"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sp>
        <p:nvSpPr>
          <p:cNvPr id="112"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05</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1031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LEADERSHIP</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Editor-in-Chief &amp; Managing Editors</a:t>
            </a:r>
          </a:p>
        </p:txBody>
      </p:sp>
      <p:sp>
        <p:nvSpPr>
          <p:cNvPr id="13" name="Group Editors-in-Chief"/>
          <p:cNvSpPr txBox="1"/>
          <p:nvPr/>
        </p:nvSpPr>
        <p:spPr>
          <a:xfrm>
            <a:off x="548640" y="205740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EDITORS-IN-CHIEF</a:t>
            </a:r>
            <a:r>
              <a:rPr lang="en-US" altLang="zh-CN" sz="1100" b="1" i="0" dirty="0">
                <a:solidFill>
                  <a:srgbClr val="E5532D"/>
                </a:solidFill>
                <a:latin typeface="Arial"/>
                <a:ea typeface="Microsoft YaHei"/>
                <a:cs typeface="Arial"/>
              </a:rPr>
              <a:t xml:space="preserve">  主编</a:t>
            </a:r>
          </a:p>
        </p:txBody>
      </p:sp>
      <p:sp>
        <p:nvSpPr>
          <p:cNvPr id="14" name="EIC card Prof. Shenjing He"/>
          <p:cNvSpPr/>
          <p:nvPr/>
        </p:nvSpPr>
        <p:spPr>
          <a:xfrm>
            <a:off x="548640"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5" name="Prof. Shenjing He" descr="Prof. Shenjing He"/>
          <p:cNvPicPr>
            <a:picLocks noChangeAspect="1"/>
          </p:cNvPicPr>
          <p:nvPr/>
        </p:nvPicPr>
        <p:blipFill>
          <a:blip r:embed="rId2"/>
          <a:stretch>
            <a:fillRect/>
          </a:stretch>
        </p:blipFill>
        <p:spPr>
          <a:xfrm>
            <a:off x="804672" y="2532888"/>
            <a:ext cx="1417320" cy="1417320"/>
          </a:xfrm>
          <a:prstGeom prst="ellipse">
            <a:avLst/>
          </a:prstGeom>
          <a:ln w="12700">
            <a:solidFill>
              <a:srgbClr val="4245AF"/>
            </a:solidFill>
          </a:ln>
        </p:spPr>
      </p:pic>
      <p:sp>
        <p:nvSpPr>
          <p:cNvPr id="16" name="EIC text Prof. Shenjing He"/>
          <p:cNvSpPr txBox="1"/>
          <p:nvPr/>
        </p:nvSpPr>
        <p:spPr>
          <a:xfrm>
            <a:off x="2514600"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Shenjing He</a:t>
            </a:r>
          </a:p>
          <a:p>
            <a:pPr algn="l">
              <a:lnSpc>
                <a:spcPct val="128000"/>
              </a:lnSpc>
              <a:spcAft>
                <a:spcPts val="0"/>
              </a:spcAft>
              <a:buNone/>
            </a:pPr>
            <a:r>
              <a:rPr lang="en-US" altLang="zh-CN" sz="1300" b="0" i="0" dirty="0">
                <a:solidFill>
                  <a:srgbClr val="4245AF"/>
                </a:solidFill>
                <a:latin typeface="Arial"/>
                <a:ea typeface="Microsoft YaHei"/>
                <a:cs typeface="Arial"/>
              </a:rPr>
              <a:t>The University of Hong Kong</a:t>
            </a:r>
          </a:p>
        </p:txBody>
      </p:sp>
      <p:sp>
        <p:nvSpPr>
          <p:cNvPr id="17" name="EIC card Prof. Filip Biljecki"/>
          <p:cNvSpPr/>
          <p:nvPr/>
        </p:nvSpPr>
        <p:spPr>
          <a:xfrm>
            <a:off x="6233008"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8" name="Prof. Filip Biljecki" descr="Prof. Filip Biljecki"/>
          <p:cNvPicPr>
            <a:picLocks noChangeAspect="1"/>
          </p:cNvPicPr>
          <p:nvPr/>
        </p:nvPicPr>
        <p:blipFill>
          <a:blip r:embed="rId3"/>
          <a:stretch>
            <a:fillRect/>
          </a:stretch>
        </p:blipFill>
        <p:spPr>
          <a:xfrm>
            <a:off x="6489040" y="2532888"/>
            <a:ext cx="1417320" cy="1417320"/>
          </a:xfrm>
          <a:prstGeom prst="ellipse">
            <a:avLst/>
          </a:prstGeom>
          <a:ln w="12700">
            <a:solidFill>
              <a:srgbClr val="4245AF"/>
            </a:solidFill>
          </a:ln>
        </p:spPr>
      </p:pic>
      <p:sp>
        <p:nvSpPr>
          <p:cNvPr id="19" name="EIC text Prof. Filip Biljecki"/>
          <p:cNvSpPr txBox="1"/>
          <p:nvPr/>
        </p:nvSpPr>
        <p:spPr>
          <a:xfrm>
            <a:off x="8198968"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Filip Biljecki</a:t>
            </a:r>
          </a:p>
          <a:p>
            <a:pPr algn="l">
              <a:lnSpc>
                <a:spcPct val="128000"/>
              </a:lnSpc>
              <a:spcAft>
                <a:spcPts val="0"/>
              </a:spcAft>
              <a:buNone/>
            </a:pPr>
            <a:r>
              <a:rPr lang="en-US" altLang="zh-CN" sz="1300" b="0" i="0" dirty="0">
                <a:solidFill>
                  <a:srgbClr val="4245AF"/>
                </a:solidFill>
                <a:latin typeface="Arial"/>
                <a:ea typeface="Microsoft YaHei"/>
                <a:cs typeface="Arial"/>
              </a:rPr>
              <a:t>National University of Singapore</a:t>
            </a:r>
          </a:p>
        </p:txBody>
      </p:sp>
      <p:sp>
        <p:nvSpPr>
          <p:cNvPr id="20" name="Group Managing Editors"/>
          <p:cNvSpPr txBox="1"/>
          <p:nvPr/>
        </p:nvSpPr>
        <p:spPr>
          <a:xfrm>
            <a:off x="548640" y="4315968"/>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MANAGING EDITORS</a:t>
            </a:r>
            <a:r>
              <a:rPr lang="en-US" altLang="zh-CN" sz="1100" b="1" i="0" dirty="0">
                <a:solidFill>
                  <a:srgbClr val="E5532D"/>
                </a:solidFill>
                <a:latin typeface="Arial"/>
                <a:ea typeface="Microsoft YaHei"/>
                <a:cs typeface="Arial"/>
              </a:rPr>
              <a:t xml:space="preserve">  执行编辑</a:t>
            </a:r>
          </a:p>
        </p:txBody>
      </p:sp>
      <p:sp>
        <p:nvSpPr>
          <p:cNvPr id="21" name="ME card Prof. Xiang Yan"/>
          <p:cNvSpPr/>
          <p:nvPr/>
        </p:nvSpPr>
        <p:spPr>
          <a:xfrm>
            <a:off x="548640"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2" name="Prof. Xiang Yan" descr="Prof. Xiang Ya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808" y="4837176"/>
            <a:ext cx="1097280" cy="1097280"/>
          </a:xfrm>
          <a:prstGeom prst="ellipse">
            <a:avLst/>
          </a:prstGeom>
          <a:ln w="12700">
            <a:solidFill>
              <a:srgbClr val="4245AF"/>
            </a:solidFill>
          </a:ln>
        </p:spPr>
      </p:pic>
      <p:sp>
        <p:nvSpPr>
          <p:cNvPr id="23" name="ME text Prof. Xiang Yan"/>
          <p:cNvSpPr txBox="1"/>
          <p:nvPr/>
        </p:nvSpPr>
        <p:spPr>
          <a:xfrm>
            <a:off x="2029968" y="4745736"/>
            <a:ext cx="1945538" cy="1280160"/>
          </a:xfrm>
          <a:prstGeom prst="rect">
            <a:avLst/>
          </a:prstGeom>
          <a:noFill/>
          <a:ln>
            <a:noFill/>
          </a:ln>
        </p:spPr>
        <p:txBody>
          <a:bodyPr wrap="square" lIns="0" tIns="0" rIns="0" bIns="0" anchor="ctr" rtlCol="0">
            <a:normAutofit/>
          </a:bodyPr>
          <a:lstStyle/>
          <a:p>
            <a:pPr algn="l">
              <a:spcAft>
                <a:spcPts val="0"/>
              </a:spcAft>
              <a:buNone/>
            </a:pPr>
            <a:r>
              <a:rPr lang="en-US" altLang="zh-CN" sz="1300" b="1" i="0" spc="10" dirty="0">
                <a:solidFill>
                  <a:srgbClr val="1E1E2E"/>
                </a:solidFill>
                <a:latin typeface="Arial"/>
                <a:ea typeface="Microsoft YaHei"/>
                <a:cs typeface="Arial"/>
              </a:rPr>
              <a:t>Prof. Xiang Yan</a:t>
            </a:r>
          </a:p>
          <a:p>
            <a:pPr algn="l">
              <a:spcAft>
                <a:spcPts val="400"/>
              </a:spcAft>
              <a:buNone/>
            </a:pPr>
            <a:r>
              <a:rPr lang="en-US" altLang="zh-CN" sz="1200" b="0" i="0" dirty="0">
                <a:solidFill>
                  <a:srgbClr val="1E1E2E"/>
                </a:solidFill>
                <a:latin typeface="Arial"/>
                <a:ea typeface="Microsoft YaHei"/>
                <a:cs typeface="Arial"/>
              </a:rPr>
              <a:t>严祥</a:t>
            </a:r>
          </a:p>
          <a:p>
            <a:pPr algn="l">
              <a:lnSpc>
                <a:spcPct val="128000"/>
              </a:lnSpc>
              <a:spcAft>
                <a:spcPts val="0"/>
              </a:spcAft>
              <a:buNone/>
            </a:pPr>
            <a:r>
              <a:rPr lang="en-US" altLang="zh-CN" sz="1000" b="0" i="0" dirty="0">
                <a:solidFill>
                  <a:srgbClr val="4245AF"/>
                </a:solidFill>
                <a:latin typeface="Arial"/>
                <a:ea typeface="Microsoft YaHei"/>
                <a:cs typeface="Arial"/>
              </a:rPr>
              <a:t>Sichuan University</a:t>
            </a:r>
          </a:p>
        </p:txBody>
      </p:sp>
      <p:sp>
        <p:nvSpPr>
          <p:cNvPr id="24" name="ME card Prof. Tianzuo Wen"/>
          <p:cNvSpPr/>
          <p:nvPr/>
        </p:nvSpPr>
        <p:spPr>
          <a:xfrm>
            <a:off x="4322978"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5" name="Prof. Tianzuo Wen" descr="Prof. Tianzuo W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146" y="4837176"/>
            <a:ext cx="1097280" cy="1097280"/>
          </a:xfrm>
          <a:prstGeom prst="ellipse">
            <a:avLst/>
          </a:prstGeom>
          <a:ln w="12700">
            <a:solidFill>
              <a:srgbClr val="4245AF"/>
            </a:solidFill>
          </a:ln>
        </p:spPr>
      </p:pic>
      <p:sp>
        <p:nvSpPr>
          <p:cNvPr id="26" name="ME text Prof. Tianzuo Wen"/>
          <p:cNvSpPr txBox="1"/>
          <p:nvPr/>
        </p:nvSpPr>
        <p:spPr>
          <a:xfrm>
            <a:off x="5804306" y="4745736"/>
            <a:ext cx="1945538" cy="1280160"/>
          </a:xfrm>
          <a:prstGeom prst="rect">
            <a:avLst/>
          </a:prstGeom>
          <a:noFill/>
          <a:ln>
            <a:noFill/>
          </a:ln>
        </p:spPr>
        <p:txBody>
          <a:bodyPr wrap="square" lIns="0" tIns="0" rIns="0" bIns="0" anchor="ctr" rtlCol="0">
            <a:normAutofit/>
          </a:bodyPr>
          <a:lstStyle/>
          <a:p>
            <a:pPr algn="l">
              <a:spcAft>
                <a:spcPts val="0"/>
              </a:spcAft>
              <a:buNone/>
            </a:pPr>
            <a:r>
              <a:rPr lang="en-US" altLang="zh-CN" sz="1300" b="1" i="0" spc="10" dirty="0">
                <a:solidFill>
                  <a:srgbClr val="1E1E2E"/>
                </a:solidFill>
                <a:latin typeface="Arial"/>
                <a:ea typeface="Microsoft YaHei"/>
                <a:cs typeface="Arial"/>
              </a:rPr>
              <a:t>Prof. Tianzuo Wen</a:t>
            </a:r>
          </a:p>
          <a:p>
            <a:pPr algn="l">
              <a:spcAft>
                <a:spcPts val="400"/>
              </a:spcAft>
              <a:buNone/>
            </a:pPr>
            <a:r>
              <a:rPr lang="en-US" altLang="zh-CN" sz="1200" b="0" i="0" dirty="0">
                <a:solidFill>
                  <a:srgbClr val="1E1E2E"/>
                </a:solidFill>
                <a:latin typeface="Arial"/>
                <a:ea typeface="Microsoft YaHei"/>
                <a:cs typeface="Arial"/>
              </a:rPr>
              <a:t>文天祚</a:t>
            </a:r>
          </a:p>
          <a:p>
            <a:pPr algn="l">
              <a:lnSpc>
                <a:spcPct val="128000"/>
              </a:lnSpc>
              <a:spcAft>
                <a:spcPts val="0"/>
              </a:spcAft>
              <a:buNone/>
            </a:pPr>
            <a:r>
              <a:rPr lang="en-US" altLang="zh-CN" sz="1000" b="0" i="0" dirty="0">
                <a:solidFill>
                  <a:srgbClr val="4245AF"/>
                </a:solidFill>
                <a:latin typeface="Arial"/>
                <a:ea typeface="Microsoft YaHei"/>
                <a:cs typeface="Arial"/>
              </a:rPr>
              <a:t>The Chinese University of Hong Kong, Shenzhen</a:t>
            </a:r>
          </a:p>
        </p:txBody>
      </p:sp>
      <p:sp>
        <p:nvSpPr>
          <p:cNvPr id="27" name="ME card Dr. Yutian Lu"/>
          <p:cNvSpPr/>
          <p:nvPr/>
        </p:nvSpPr>
        <p:spPr>
          <a:xfrm>
            <a:off x="8097317"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Dr. Yutian Lu" descr="Dr. Yutian Lu"/>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98485" y="4837176"/>
            <a:ext cx="1097280" cy="1097280"/>
          </a:xfrm>
          <a:prstGeom prst="ellipse">
            <a:avLst/>
          </a:prstGeom>
          <a:ln w="12700">
            <a:solidFill>
              <a:srgbClr val="4245AF"/>
            </a:solidFill>
          </a:ln>
        </p:spPr>
      </p:pic>
      <p:sp>
        <p:nvSpPr>
          <p:cNvPr id="29" name="ME text Dr. Yutian Lu"/>
          <p:cNvSpPr txBox="1"/>
          <p:nvPr/>
        </p:nvSpPr>
        <p:spPr>
          <a:xfrm>
            <a:off x="9578645" y="4745736"/>
            <a:ext cx="1945538" cy="1280160"/>
          </a:xfrm>
          <a:prstGeom prst="rect">
            <a:avLst/>
          </a:prstGeom>
          <a:noFill/>
          <a:ln>
            <a:noFill/>
          </a:ln>
        </p:spPr>
        <p:txBody>
          <a:bodyPr wrap="square" lIns="0" tIns="0" rIns="0" bIns="0" anchor="ctr" rtlCol="0">
            <a:normAutofit/>
          </a:bodyPr>
          <a:lstStyle/>
          <a:p>
            <a:pPr algn="l">
              <a:spcAft>
                <a:spcPts val="0"/>
              </a:spcAft>
              <a:buNone/>
            </a:pPr>
            <a:r>
              <a:rPr lang="en-US" altLang="zh-CN" sz="1300" b="1" i="0" spc="10" dirty="0">
                <a:solidFill>
                  <a:srgbClr val="1E1E2E"/>
                </a:solidFill>
                <a:latin typeface="Arial"/>
                <a:ea typeface="Microsoft YaHei"/>
                <a:cs typeface="Arial"/>
              </a:rPr>
              <a:t>Dr. Yutian Lu</a:t>
            </a:r>
          </a:p>
          <a:p>
            <a:pPr algn="l">
              <a:spcAft>
                <a:spcPts val="400"/>
              </a:spcAft>
              <a:buNone/>
            </a:pPr>
            <a:r>
              <a:rPr lang="en-US" altLang="zh-CN" sz="1200" b="0" i="0" dirty="0">
                <a:solidFill>
                  <a:srgbClr val="1E1E2E"/>
                </a:solidFill>
                <a:latin typeface="Arial"/>
                <a:ea typeface="Microsoft YaHei"/>
                <a:cs typeface="Arial"/>
              </a:rPr>
              <a:t>陆渝天</a:t>
            </a:r>
          </a:p>
          <a:p>
            <a:pPr algn="l">
              <a:lnSpc>
                <a:spcPct val="128000"/>
              </a:lnSpc>
              <a:spcAft>
                <a:spcPts val="0"/>
              </a:spcAft>
              <a:buNone/>
            </a:pPr>
            <a:r>
              <a:rPr lang="en-US" altLang="zh-CN" sz="1000" b="0" i="0" dirty="0">
                <a:solidFill>
                  <a:srgbClr val="4245AF"/>
                </a:solidFill>
                <a:latin typeface="Arial"/>
                <a:ea typeface="Microsoft YaHei"/>
                <a:cs typeface="Arial"/>
              </a:rPr>
              <a:t>The University of Hong Kong</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06</a:t>
            </a:r>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BOARD MEMBERS</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Editorial Board</a:t>
            </a:r>
          </a:p>
        </p:txBody>
      </p:sp>
      <p:sp>
        <p:nvSpPr>
          <p:cNvPr id="13" name="To be invited"/>
          <p:cNvSpPr txBox="1"/>
          <p:nvPr/>
        </p:nvSpPr>
        <p:spPr>
          <a:xfrm>
            <a:off x="6156655" y="1554480"/>
            <a:ext cx="5486400" cy="365760"/>
          </a:xfrm>
          <a:prstGeom prst="rect">
            <a:avLst/>
          </a:prstGeom>
          <a:noFill/>
          <a:ln>
            <a:noFill/>
          </a:ln>
        </p:spPr>
        <p:txBody>
          <a:bodyPr wrap="square" lIns="0" tIns="0" rIns="0" bIns="0" anchor="b" rtlCol="0">
            <a:normAutofit/>
          </a:bodyPr>
          <a:lstStyle/>
          <a:p>
            <a:pPr algn="r">
              <a:spcAft>
                <a:spcPts val="0"/>
              </a:spcAft>
              <a:buNone/>
            </a:pPr>
            <a:r>
              <a:rPr lang="en-US" altLang="zh-CN" sz="1200" b="0" i="1" dirty="0">
                <a:solidFill>
                  <a:srgbClr val="5B5D72"/>
                </a:solidFill>
                <a:latin typeface="Arial"/>
                <a:ea typeface="Microsoft YaHei"/>
                <a:cs typeface="Arial"/>
              </a:rPr>
              <a:t>More prospective Editorial Board members to be invited …</a:t>
            </a:r>
          </a:p>
        </p:txBody>
      </p:sp>
      <p:sp>
        <p:nvSpPr>
          <p:cNvPr id="14" name="Group Academicians"/>
          <p:cNvSpPr txBox="1"/>
          <p:nvPr/>
        </p:nvSpPr>
        <p:spPr>
          <a:xfrm>
            <a:off x="548640" y="2020824"/>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ACADEMICIANS</a:t>
            </a:r>
            <a:r>
              <a:rPr lang="en-US" altLang="zh-CN" sz="1100" b="1" i="0" dirty="0">
                <a:solidFill>
                  <a:srgbClr val="E5532D"/>
                </a:solidFill>
                <a:latin typeface="Arial"/>
                <a:ea typeface="Microsoft YaHei"/>
                <a:cs typeface="Arial"/>
              </a:rPr>
              <a:t xml:space="preserve">  院士</a:t>
            </a:r>
          </a:p>
        </p:txBody>
      </p:sp>
      <p:sp>
        <p:nvSpPr>
          <p:cNvPr id="15" name="Academician card 叶嘉安"/>
          <p:cNvSpPr/>
          <p:nvPr/>
        </p:nvSpPr>
        <p:spPr>
          <a:xfrm>
            <a:off x="54864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6" name="Portrait 叶嘉安" descr="叶嘉安"/>
          <p:cNvPicPr>
            <a:picLocks noChangeAspect="1"/>
          </p:cNvPicPr>
          <p:nvPr/>
        </p:nvPicPr>
        <p:blipFill>
          <a:blip r:embed="rId2"/>
          <a:stretch>
            <a:fillRect/>
          </a:stretch>
        </p:blipFill>
        <p:spPr>
          <a:xfrm>
            <a:off x="667512" y="2404872"/>
            <a:ext cx="676656" cy="676656"/>
          </a:xfrm>
          <a:prstGeom prst="ellipse">
            <a:avLst/>
          </a:prstGeom>
          <a:ln w="12700">
            <a:solidFill>
              <a:srgbClr val="4245AF"/>
            </a:solidFill>
          </a:ln>
        </p:spPr>
      </p:pic>
      <p:sp>
        <p:nvSpPr>
          <p:cNvPr id="17" name="Academician badge 叶嘉安"/>
          <p:cNvSpPr/>
          <p:nvPr/>
        </p:nvSpPr>
        <p:spPr>
          <a:xfrm>
            <a:off x="81381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18" name="Academician text 叶嘉安"/>
          <p:cNvSpPr txBox="1"/>
          <p:nvPr/>
        </p:nvSpPr>
        <p:spPr>
          <a:xfrm>
            <a:off x="145389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叶嘉安</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智慧城市 · 城市规划</a:t>
            </a:r>
          </a:p>
          <a:p>
            <a:pPr algn="l">
              <a:lnSpc>
                <a:spcPct val="128000"/>
              </a:lnSpc>
              <a:spcAft>
                <a:spcPts val="0"/>
              </a:spcAft>
              <a:buNone/>
            </a:pPr>
            <a:r>
              <a:rPr lang="en-US" altLang="zh-CN" sz="800" b="0" i="0" dirty="0">
                <a:solidFill>
                  <a:srgbClr val="5B5D72"/>
                </a:solidFill>
                <a:latin typeface="Arial"/>
                <a:ea typeface="Microsoft YaHei"/>
                <a:cs typeface="Arial"/>
              </a:rPr>
              <a:t>地理信息系统</a:t>
            </a:r>
          </a:p>
        </p:txBody>
      </p:sp>
      <p:sp>
        <p:nvSpPr>
          <p:cNvPr id="19" name="Academician card William Clark"/>
          <p:cNvSpPr/>
          <p:nvPr/>
        </p:nvSpPr>
        <p:spPr>
          <a:xfrm>
            <a:off x="279495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0" name="Portrait William Clark" descr="William Clark"/>
          <p:cNvPicPr>
            <a:picLocks noChangeAspect="1"/>
          </p:cNvPicPr>
          <p:nvPr/>
        </p:nvPicPr>
        <p:blipFill>
          <a:blip r:embed="rId3"/>
          <a:stretch>
            <a:fillRect/>
          </a:stretch>
        </p:blipFill>
        <p:spPr>
          <a:xfrm>
            <a:off x="2913827" y="2404872"/>
            <a:ext cx="676656" cy="676656"/>
          </a:xfrm>
          <a:prstGeom prst="ellipse">
            <a:avLst/>
          </a:prstGeom>
          <a:ln w="12700">
            <a:solidFill>
              <a:srgbClr val="4245AF"/>
            </a:solidFill>
          </a:ln>
        </p:spPr>
      </p:pic>
      <p:sp>
        <p:nvSpPr>
          <p:cNvPr id="21" name="Academician badge William Clark"/>
          <p:cNvSpPr/>
          <p:nvPr/>
        </p:nvSpPr>
        <p:spPr>
          <a:xfrm>
            <a:off x="306013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2" name="Academician text William Clark"/>
          <p:cNvSpPr txBox="1"/>
          <p:nvPr/>
        </p:nvSpPr>
        <p:spPr>
          <a:xfrm>
            <a:off x="370021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William Clark</a:t>
            </a:r>
          </a:p>
          <a:p>
            <a:pPr algn="l">
              <a:lnSpc>
                <a:spcPct val="128000"/>
              </a:lnSpc>
              <a:spcAft>
                <a:spcPts val="200"/>
              </a:spcAft>
              <a:buNone/>
            </a:pPr>
            <a:r>
              <a:rPr lang="en-US" altLang="zh-CN" sz="800" b="0" i="0" dirty="0">
                <a:solidFill>
                  <a:srgbClr val="4245AF"/>
                </a:solidFill>
                <a:latin typeface="Arial"/>
                <a:ea typeface="Microsoft YaHei"/>
                <a:cs typeface="Arial"/>
              </a:rPr>
              <a:t>UCLA</a:t>
            </a:r>
          </a:p>
          <a:p>
            <a:pPr algn="l">
              <a:lnSpc>
                <a:spcPct val="128000"/>
              </a:lnSpc>
              <a:spcAft>
                <a:spcPts val="0"/>
              </a:spcAft>
              <a:buNone/>
            </a:pPr>
            <a:r>
              <a:rPr lang="en-US" altLang="zh-CN" sz="800" b="0" i="0" dirty="0">
                <a:solidFill>
                  <a:srgbClr val="5B5D72"/>
                </a:solidFill>
                <a:latin typeface="Arial"/>
                <a:ea typeface="Microsoft YaHei"/>
                <a:cs typeface="Arial"/>
              </a:rPr>
              <a:t>城市地理 · 城市空间</a:t>
            </a:r>
          </a:p>
          <a:p>
            <a:pPr algn="l">
              <a:lnSpc>
                <a:spcPct val="128000"/>
              </a:lnSpc>
              <a:spcAft>
                <a:spcPts val="0"/>
              </a:spcAft>
              <a:buNone/>
            </a:pPr>
            <a:r>
              <a:rPr lang="en-US" altLang="zh-CN" sz="800" b="0" i="0" dirty="0">
                <a:solidFill>
                  <a:srgbClr val="5B5D72"/>
                </a:solidFill>
                <a:latin typeface="Arial"/>
                <a:ea typeface="Microsoft YaHei"/>
                <a:cs typeface="Arial"/>
              </a:rPr>
              <a:t>人口迁移</a:t>
            </a:r>
          </a:p>
        </p:txBody>
      </p:sp>
      <p:sp>
        <p:nvSpPr>
          <p:cNvPr id="23" name="Academician card 吴缚龙"/>
          <p:cNvSpPr/>
          <p:nvPr/>
        </p:nvSpPr>
        <p:spPr>
          <a:xfrm>
            <a:off x="504127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4" name="Portrait 吴缚龙" descr="吴缚龙"/>
          <p:cNvPicPr>
            <a:picLocks noChangeAspect="1"/>
          </p:cNvPicPr>
          <p:nvPr/>
        </p:nvPicPr>
        <p:blipFill>
          <a:blip r:embed="rId4"/>
          <a:stretch>
            <a:fillRect/>
          </a:stretch>
        </p:blipFill>
        <p:spPr>
          <a:xfrm>
            <a:off x="5160142" y="2404872"/>
            <a:ext cx="676656" cy="676656"/>
          </a:xfrm>
          <a:prstGeom prst="ellipse">
            <a:avLst/>
          </a:prstGeom>
          <a:ln w="12700">
            <a:solidFill>
              <a:srgbClr val="4245AF"/>
            </a:solidFill>
          </a:ln>
        </p:spPr>
      </p:pic>
      <p:sp>
        <p:nvSpPr>
          <p:cNvPr id="25" name="Academician badge 吴缚龙"/>
          <p:cNvSpPr/>
          <p:nvPr/>
        </p:nvSpPr>
        <p:spPr>
          <a:xfrm>
            <a:off x="530644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6" name="Academician text 吴缚龙"/>
          <p:cNvSpPr txBox="1"/>
          <p:nvPr/>
        </p:nvSpPr>
        <p:spPr>
          <a:xfrm>
            <a:off x="594652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吴缚龙</a:t>
            </a:r>
          </a:p>
          <a:p>
            <a:pPr algn="l">
              <a:lnSpc>
                <a:spcPct val="128000"/>
              </a:lnSpc>
              <a:spcAft>
                <a:spcPts val="200"/>
              </a:spcAft>
              <a:buNone/>
            </a:pPr>
            <a:r>
              <a:rPr lang="en-US" altLang="zh-CN" sz="800" b="0" i="0" dirty="0">
                <a:solidFill>
                  <a:srgbClr val="4245AF"/>
                </a:solidFill>
                <a:latin typeface="Arial"/>
                <a:ea typeface="Microsoft YaHei"/>
                <a:cs typeface="Arial"/>
              </a:rPr>
              <a:t>UCL</a:t>
            </a:r>
          </a:p>
          <a:p>
            <a:pPr algn="l">
              <a:lnSpc>
                <a:spcPct val="128000"/>
              </a:lnSpc>
              <a:spcAft>
                <a:spcPts val="0"/>
              </a:spcAft>
              <a:buNone/>
            </a:pPr>
            <a:r>
              <a:rPr lang="en-US" altLang="zh-CN" sz="800" b="0" i="0" dirty="0">
                <a:solidFill>
                  <a:srgbClr val="5B5D72"/>
                </a:solidFill>
                <a:latin typeface="Arial"/>
                <a:ea typeface="Microsoft YaHei"/>
                <a:cs typeface="Arial"/>
              </a:rPr>
              <a:t>城市规划 · 城市治理</a:t>
            </a:r>
          </a:p>
        </p:txBody>
      </p:sp>
      <p:sp>
        <p:nvSpPr>
          <p:cNvPr id="27" name="Academician card 傅伯杰"/>
          <p:cNvSpPr/>
          <p:nvPr/>
        </p:nvSpPr>
        <p:spPr>
          <a:xfrm>
            <a:off x="728758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Portrait 傅伯杰" descr="傅伯杰"/>
          <p:cNvPicPr>
            <a:picLocks noChangeAspect="1"/>
          </p:cNvPicPr>
          <p:nvPr/>
        </p:nvPicPr>
        <p:blipFill>
          <a:blip r:embed="rId5"/>
          <a:stretch>
            <a:fillRect/>
          </a:stretch>
        </p:blipFill>
        <p:spPr>
          <a:xfrm>
            <a:off x="7406457" y="2404872"/>
            <a:ext cx="676656" cy="676656"/>
          </a:xfrm>
          <a:prstGeom prst="ellipse">
            <a:avLst/>
          </a:prstGeom>
          <a:ln w="12700">
            <a:solidFill>
              <a:srgbClr val="4245AF"/>
            </a:solidFill>
          </a:ln>
        </p:spPr>
      </p:pic>
      <p:sp>
        <p:nvSpPr>
          <p:cNvPr id="29" name="Academician badge 傅伯杰"/>
          <p:cNvSpPr/>
          <p:nvPr/>
        </p:nvSpPr>
        <p:spPr>
          <a:xfrm>
            <a:off x="755276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0" name="Academician text 傅伯杰"/>
          <p:cNvSpPr txBox="1"/>
          <p:nvPr/>
        </p:nvSpPr>
        <p:spPr>
          <a:xfrm>
            <a:off x="819284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傅伯杰</a:t>
            </a:r>
          </a:p>
          <a:p>
            <a:pPr algn="l">
              <a:lnSpc>
                <a:spcPct val="128000"/>
              </a:lnSpc>
              <a:spcAft>
                <a:spcPts val="0"/>
              </a:spcAft>
              <a:buNone/>
            </a:pPr>
            <a:r>
              <a:rPr lang="en-US" altLang="zh-CN" sz="800" b="0" i="0" dirty="0">
                <a:solidFill>
                  <a:srgbClr val="4245AF"/>
                </a:solidFill>
                <a:latin typeface="Arial"/>
                <a:ea typeface="Microsoft YaHei"/>
                <a:cs typeface="Arial"/>
              </a:rPr>
              <a:t>中国科学院</a:t>
            </a:r>
          </a:p>
          <a:p>
            <a:pPr algn="l">
              <a:lnSpc>
                <a:spcPct val="128000"/>
              </a:lnSpc>
              <a:spcAft>
                <a:spcPts val="200"/>
              </a:spcAft>
              <a:buNone/>
            </a:pPr>
            <a:r>
              <a:rPr lang="en-US" altLang="zh-CN" sz="800" b="0" i="0" dirty="0">
                <a:solidFill>
                  <a:srgbClr val="4245AF"/>
                </a:solidFill>
                <a:latin typeface="Arial"/>
                <a:ea typeface="Microsoft YaHei"/>
                <a:cs typeface="Arial"/>
              </a:rPr>
              <a:t>生态环境研究中心</a:t>
            </a:r>
          </a:p>
          <a:p>
            <a:pPr algn="l">
              <a:lnSpc>
                <a:spcPct val="128000"/>
              </a:lnSpc>
              <a:spcAft>
                <a:spcPts val="0"/>
              </a:spcAft>
              <a:buNone/>
            </a:pPr>
            <a:r>
              <a:rPr lang="en-US" altLang="zh-CN" sz="800" b="0" i="0" dirty="0">
                <a:solidFill>
                  <a:srgbClr val="5B5D72"/>
                </a:solidFill>
                <a:latin typeface="Arial"/>
                <a:ea typeface="Microsoft YaHei"/>
                <a:cs typeface="Arial"/>
              </a:rPr>
              <a:t>景观生态</a:t>
            </a:r>
          </a:p>
          <a:p>
            <a:pPr algn="l">
              <a:lnSpc>
                <a:spcPct val="128000"/>
              </a:lnSpc>
              <a:spcAft>
                <a:spcPts val="0"/>
              </a:spcAft>
              <a:buNone/>
            </a:pPr>
            <a:r>
              <a:rPr lang="en-US" altLang="zh-CN" sz="800" b="0" i="0" dirty="0">
                <a:solidFill>
                  <a:srgbClr val="5B5D72"/>
                </a:solidFill>
                <a:latin typeface="Arial"/>
                <a:ea typeface="Microsoft YaHei"/>
                <a:cs typeface="Arial"/>
              </a:rPr>
              <a:t>生态系统服务</a:t>
            </a:r>
          </a:p>
        </p:txBody>
      </p:sp>
      <p:sp>
        <p:nvSpPr>
          <p:cNvPr id="31" name="Academician card 樊杰"/>
          <p:cNvSpPr/>
          <p:nvPr/>
        </p:nvSpPr>
        <p:spPr>
          <a:xfrm>
            <a:off x="953390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2" name="Portrait 樊杰" descr="樊杰"/>
          <p:cNvPicPr>
            <a:picLocks noChangeAspect="1"/>
          </p:cNvPicPr>
          <p:nvPr/>
        </p:nvPicPr>
        <p:blipFill>
          <a:blip r:embed="rId6"/>
          <a:stretch>
            <a:fillRect/>
          </a:stretch>
        </p:blipFill>
        <p:spPr>
          <a:xfrm>
            <a:off x="9652772" y="2404872"/>
            <a:ext cx="676656" cy="676656"/>
          </a:xfrm>
          <a:prstGeom prst="ellipse">
            <a:avLst/>
          </a:prstGeom>
          <a:ln w="12700">
            <a:solidFill>
              <a:srgbClr val="4245AF"/>
            </a:solidFill>
          </a:ln>
        </p:spPr>
      </p:pic>
      <p:sp>
        <p:nvSpPr>
          <p:cNvPr id="33" name="Academician badge 樊杰"/>
          <p:cNvSpPr/>
          <p:nvPr/>
        </p:nvSpPr>
        <p:spPr>
          <a:xfrm>
            <a:off x="979907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4" name="Academician text 樊杰"/>
          <p:cNvSpPr txBox="1"/>
          <p:nvPr/>
        </p:nvSpPr>
        <p:spPr>
          <a:xfrm>
            <a:off x="1043915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樊杰</a:t>
            </a:r>
          </a:p>
          <a:p>
            <a:pPr algn="l">
              <a:lnSpc>
                <a:spcPct val="128000"/>
              </a:lnSpc>
              <a:spcAft>
                <a:spcPts val="200"/>
              </a:spcAft>
              <a:buNone/>
            </a:pPr>
            <a:r>
              <a:rPr lang="en-US" altLang="zh-CN" sz="800" b="0" i="0" dirty="0">
                <a:solidFill>
                  <a:srgbClr val="4245AF"/>
                </a:solidFill>
                <a:latin typeface="Arial"/>
                <a:ea typeface="Microsoft YaHei"/>
                <a:cs typeface="Arial"/>
              </a:rPr>
              <a:t>中科院地理所</a:t>
            </a:r>
          </a:p>
          <a:p>
            <a:pPr algn="l">
              <a:lnSpc>
                <a:spcPct val="128000"/>
              </a:lnSpc>
              <a:spcAft>
                <a:spcPts val="0"/>
              </a:spcAft>
              <a:buNone/>
            </a:pPr>
            <a:r>
              <a:rPr lang="en-US" altLang="zh-CN" sz="800" b="0" i="0" dirty="0">
                <a:solidFill>
                  <a:srgbClr val="5B5D72"/>
                </a:solidFill>
                <a:latin typeface="Arial"/>
                <a:ea typeface="Microsoft YaHei"/>
                <a:cs typeface="Arial"/>
              </a:rPr>
              <a:t>国土空间规划</a:t>
            </a:r>
          </a:p>
          <a:p>
            <a:pPr algn="l">
              <a:lnSpc>
                <a:spcPct val="128000"/>
              </a:lnSpc>
              <a:spcAft>
                <a:spcPts val="0"/>
              </a:spcAft>
              <a:buNone/>
            </a:pPr>
            <a:r>
              <a:rPr lang="en-US" altLang="zh-CN" sz="800" b="0" i="0" dirty="0">
                <a:solidFill>
                  <a:srgbClr val="5B5D72"/>
                </a:solidFill>
                <a:latin typeface="Arial"/>
                <a:ea typeface="Microsoft YaHei"/>
                <a:cs typeface="Arial"/>
              </a:rPr>
              <a:t>区域发展</a:t>
            </a:r>
          </a:p>
        </p:txBody>
      </p:sp>
      <p:sp>
        <p:nvSpPr>
          <p:cNvPr id="35" name="Academician card 宫鹏"/>
          <p:cNvSpPr/>
          <p:nvPr/>
        </p:nvSpPr>
        <p:spPr>
          <a:xfrm>
            <a:off x="54864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6" name="Portrait 宫鹏" descr="宫鹏"/>
          <p:cNvPicPr>
            <a:picLocks noChangeAspect="1"/>
          </p:cNvPicPr>
          <p:nvPr/>
        </p:nvPicPr>
        <p:blipFill>
          <a:blip r:embed="rId7"/>
          <a:stretch>
            <a:fillRect/>
          </a:stretch>
        </p:blipFill>
        <p:spPr>
          <a:xfrm>
            <a:off x="667512" y="3557016"/>
            <a:ext cx="676656" cy="676656"/>
          </a:xfrm>
          <a:prstGeom prst="ellipse">
            <a:avLst/>
          </a:prstGeom>
          <a:ln w="12700">
            <a:solidFill>
              <a:srgbClr val="4245AF"/>
            </a:solidFill>
          </a:ln>
        </p:spPr>
      </p:pic>
      <p:sp>
        <p:nvSpPr>
          <p:cNvPr id="37" name="Academician badge 宫鹏"/>
          <p:cNvSpPr/>
          <p:nvPr/>
        </p:nvSpPr>
        <p:spPr>
          <a:xfrm>
            <a:off x="81381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8" name="Academician text 宫鹏"/>
          <p:cNvSpPr txBox="1"/>
          <p:nvPr/>
        </p:nvSpPr>
        <p:spPr>
          <a:xfrm>
            <a:off x="145389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宫鹏</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遥感 · 全球环境变化</a:t>
            </a:r>
          </a:p>
          <a:p>
            <a:pPr algn="l">
              <a:lnSpc>
                <a:spcPct val="128000"/>
              </a:lnSpc>
              <a:spcAft>
                <a:spcPts val="0"/>
              </a:spcAft>
              <a:buNone/>
            </a:pPr>
            <a:r>
              <a:rPr lang="en-US" altLang="zh-CN" sz="800" b="0" i="0" dirty="0">
                <a:solidFill>
                  <a:srgbClr val="5B5D72"/>
                </a:solidFill>
                <a:latin typeface="Arial"/>
                <a:ea typeface="Microsoft YaHei"/>
                <a:cs typeface="Arial"/>
              </a:rPr>
              <a:t>城市化与健康</a:t>
            </a:r>
          </a:p>
        </p:txBody>
      </p:sp>
      <p:sp>
        <p:nvSpPr>
          <p:cNvPr id="39" name="Academician card 陈德亮"/>
          <p:cNvSpPr/>
          <p:nvPr/>
        </p:nvSpPr>
        <p:spPr>
          <a:xfrm>
            <a:off x="279495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0" name="Portrait 陈德亮" descr="陈德亮"/>
          <p:cNvPicPr>
            <a:picLocks noChangeAspect="1"/>
          </p:cNvPicPr>
          <p:nvPr/>
        </p:nvPicPr>
        <p:blipFill>
          <a:blip r:embed="rId8"/>
          <a:stretch>
            <a:fillRect/>
          </a:stretch>
        </p:blipFill>
        <p:spPr>
          <a:xfrm>
            <a:off x="2913827" y="3557016"/>
            <a:ext cx="676656" cy="676656"/>
          </a:xfrm>
          <a:prstGeom prst="ellipse">
            <a:avLst/>
          </a:prstGeom>
          <a:ln w="12700">
            <a:solidFill>
              <a:srgbClr val="4245AF"/>
            </a:solidFill>
          </a:ln>
        </p:spPr>
      </p:pic>
      <p:sp>
        <p:nvSpPr>
          <p:cNvPr id="41" name="Academician badge 陈德亮"/>
          <p:cNvSpPr/>
          <p:nvPr/>
        </p:nvSpPr>
        <p:spPr>
          <a:xfrm>
            <a:off x="306013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2" name="Academician text 陈德亮"/>
          <p:cNvSpPr txBox="1"/>
          <p:nvPr/>
        </p:nvSpPr>
        <p:spPr>
          <a:xfrm>
            <a:off x="370021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陈德亮</a:t>
            </a:r>
          </a:p>
          <a:p>
            <a:pPr algn="l">
              <a:lnSpc>
                <a:spcPct val="128000"/>
              </a:lnSpc>
              <a:spcAft>
                <a:spcPts val="200"/>
              </a:spcAft>
              <a:buNone/>
            </a:pPr>
            <a:r>
              <a:rPr lang="en-US" altLang="zh-CN" sz="800" b="0" i="0" dirty="0">
                <a:solidFill>
                  <a:srgbClr val="4245AF"/>
                </a:solidFill>
                <a:latin typeface="Arial"/>
                <a:ea typeface="Microsoft YaHei"/>
                <a:cs typeface="Arial"/>
              </a:rPr>
              <a:t>瑞典哥德堡大学</a:t>
            </a:r>
          </a:p>
          <a:p>
            <a:pPr algn="l">
              <a:lnSpc>
                <a:spcPct val="128000"/>
              </a:lnSpc>
              <a:spcAft>
                <a:spcPts val="0"/>
              </a:spcAft>
              <a:buNone/>
            </a:pPr>
            <a:r>
              <a:rPr lang="en-US" altLang="zh-CN" sz="800" b="0" i="0" dirty="0">
                <a:solidFill>
                  <a:srgbClr val="5B5D72"/>
                </a:solidFill>
                <a:latin typeface="Arial"/>
                <a:ea typeface="Microsoft YaHei"/>
                <a:cs typeface="Arial"/>
              </a:rPr>
              <a:t>地球系统科学</a:t>
            </a:r>
          </a:p>
          <a:p>
            <a:pPr algn="l">
              <a:lnSpc>
                <a:spcPct val="128000"/>
              </a:lnSpc>
              <a:spcAft>
                <a:spcPts val="0"/>
              </a:spcAft>
              <a:buNone/>
            </a:pPr>
            <a:r>
              <a:rPr lang="en-US" altLang="zh-CN" sz="800" b="0" i="0" dirty="0">
                <a:solidFill>
                  <a:srgbClr val="5B5D72"/>
                </a:solidFill>
                <a:latin typeface="Arial"/>
                <a:ea typeface="Microsoft YaHei"/>
                <a:cs typeface="Arial"/>
              </a:rPr>
              <a:t>全球环境变化</a:t>
            </a:r>
          </a:p>
          <a:p>
            <a:pPr algn="l">
              <a:lnSpc>
                <a:spcPct val="128000"/>
              </a:lnSpc>
              <a:spcAft>
                <a:spcPts val="0"/>
              </a:spcAft>
              <a:buNone/>
            </a:pPr>
            <a:r>
              <a:rPr lang="en-US" altLang="zh-CN" sz="800" b="0" i="0" dirty="0">
                <a:solidFill>
                  <a:srgbClr val="5B5D72"/>
                </a:solidFill>
                <a:latin typeface="Arial"/>
                <a:ea typeface="Microsoft YaHei"/>
                <a:cs typeface="Arial"/>
              </a:rPr>
              <a:t>气候动力学与数值模拟</a:t>
            </a:r>
          </a:p>
        </p:txBody>
      </p:sp>
      <p:sp>
        <p:nvSpPr>
          <p:cNvPr id="43" name="Academician card 申作军"/>
          <p:cNvSpPr/>
          <p:nvPr/>
        </p:nvSpPr>
        <p:spPr>
          <a:xfrm>
            <a:off x="504127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4" name="Portrait 申作军" descr="申作军"/>
          <p:cNvPicPr>
            <a:picLocks noChangeAspect="1"/>
          </p:cNvPicPr>
          <p:nvPr/>
        </p:nvPicPr>
        <p:blipFill>
          <a:blip r:embed="rId9"/>
          <a:srcRect/>
          <a:stretch>
            <a:fillRect/>
          </a:stretch>
        </p:blipFill>
        <p:spPr>
          <a:xfrm>
            <a:off x="5160142" y="3557016"/>
            <a:ext cx="676656" cy="676656"/>
          </a:xfrm>
          <a:prstGeom prst="ellipse">
            <a:avLst/>
          </a:prstGeom>
          <a:ln w="12700">
            <a:solidFill>
              <a:srgbClr val="4245AF"/>
            </a:solidFill>
          </a:ln>
        </p:spPr>
      </p:pic>
      <p:sp>
        <p:nvSpPr>
          <p:cNvPr id="45" name="Academician badge 申作军"/>
          <p:cNvSpPr/>
          <p:nvPr/>
        </p:nvSpPr>
        <p:spPr>
          <a:xfrm>
            <a:off x="530644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6" name="Academician text 申作军"/>
          <p:cNvSpPr txBox="1"/>
          <p:nvPr/>
        </p:nvSpPr>
        <p:spPr>
          <a:xfrm>
            <a:off x="594652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申作军</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供应链设计与管理</a:t>
            </a:r>
          </a:p>
          <a:p>
            <a:pPr algn="l">
              <a:lnSpc>
                <a:spcPct val="128000"/>
              </a:lnSpc>
              <a:spcAft>
                <a:spcPts val="0"/>
              </a:spcAft>
              <a:buNone/>
            </a:pPr>
            <a:r>
              <a:rPr lang="en-US" altLang="zh-CN" sz="800" b="0" i="0" dirty="0">
                <a:solidFill>
                  <a:srgbClr val="5B5D72"/>
                </a:solidFill>
                <a:latin typeface="Arial"/>
                <a:ea typeface="Microsoft YaHei"/>
                <a:cs typeface="Arial"/>
              </a:rPr>
              <a:t>数据驱动物流优化</a:t>
            </a:r>
          </a:p>
        </p:txBody>
      </p:sp>
      <p:sp>
        <p:nvSpPr>
          <p:cNvPr id="47" name="Academician card 刘丛强"/>
          <p:cNvSpPr/>
          <p:nvPr/>
        </p:nvSpPr>
        <p:spPr>
          <a:xfrm>
            <a:off x="728758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8" name="Portrait 刘丛强" descr="刘丛强"/>
          <p:cNvPicPr>
            <a:picLocks noChangeAspect="1"/>
          </p:cNvPicPr>
          <p:nvPr/>
        </p:nvPicPr>
        <p:blipFill>
          <a:blip r:embed="rId10"/>
          <a:stretch>
            <a:fillRect/>
          </a:stretch>
        </p:blipFill>
        <p:spPr>
          <a:xfrm>
            <a:off x="7406457" y="3557016"/>
            <a:ext cx="676656" cy="676656"/>
          </a:xfrm>
          <a:prstGeom prst="ellipse">
            <a:avLst/>
          </a:prstGeom>
          <a:ln w="12700">
            <a:solidFill>
              <a:srgbClr val="4245AF"/>
            </a:solidFill>
          </a:ln>
        </p:spPr>
      </p:pic>
      <p:sp>
        <p:nvSpPr>
          <p:cNvPr id="49" name="Academician badge 刘丛强"/>
          <p:cNvSpPr/>
          <p:nvPr/>
        </p:nvSpPr>
        <p:spPr>
          <a:xfrm>
            <a:off x="755276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0" name="Academician text 刘丛强"/>
          <p:cNvSpPr txBox="1"/>
          <p:nvPr/>
        </p:nvSpPr>
        <p:spPr>
          <a:xfrm>
            <a:off x="819284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刘丛强</a:t>
            </a:r>
          </a:p>
          <a:p>
            <a:pPr algn="l">
              <a:lnSpc>
                <a:spcPct val="128000"/>
              </a:lnSpc>
              <a:spcAft>
                <a:spcPts val="200"/>
              </a:spcAft>
              <a:buNone/>
            </a:pPr>
            <a:r>
              <a:rPr lang="en-US" altLang="zh-CN" sz="800" b="0" i="0" dirty="0">
                <a:solidFill>
                  <a:srgbClr val="4245AF"/>
                </a:solidFill>
                <a:latin typeface="Arial"/>
                <a:ea typeface="Microsoft YaHei"/>
                <a:cs typeface="Arial"/>
              </a:rPr>
              <a:t>天津大学</a:t>
            </a:r>
          </a:p>
          <a:p>
            <a:pPr algn="l">
              <a:lnSpc>
                <a:spcPct val="128000"/>
              </a:lnSpc>
              <a:spcAft>
                <a:spcPts val="0"/>
              </a:spcAft>
              <a:buNone/>
            </a:pPr>
            <a:r>
              <a:rPr lang="en-US" altLang="zh-CN" sz="800" b="0" i="0" dirty="0">
                <a:solidFill>
                  <a:srgbClr val="5B5D72"/>
                </a:solidFill>
                <a:latin typeface="Arial"/>
                <a:ea typeface="Microsoft YaHei"/>
                <a:cs typeface="Arial"/>
              </a:rPr>
              <a:t>地球关键带过程</a:t>
            </a:r>
          </a:p>
          <a:p>
            <a:pPr algn="l">
              <a:lnSpc>
                <a:spcPct val="128000"/>
              </a:lnSpc>
              <a:spcAft>
                <a:spcPts val="0"/>
              </a:spcAft>
              <a:buNone/>
            </a:pPr>
            <a:r>
              <a:rPr lang="en-US" altLang="zh-CN" sz="800" b="0" i="0" dirty="0">
                <a:solidFill>
                  <a:srgbClr val="5B5D72"/>
                </a:solidFill>
                <a:latin typeface="Arial"/>
                <a:ea typeface="Microsoft YaHei"/>
                <a:cs typeface="Arial"/>
              </a:rPr>
              <a:t>与生态功能</a:t>
            </a:r>
          </a:p>
        </p:txBody>
      </p:sp>
      <p:sp>
        <p:nvSpPr>
          <p:cNvPr id="51" name="Academician card 蔡文炬"/>
          <p:cNvSpPr/>
          <p:nvPr/>
        </p:nvSpPr>
        <p:spPr>
          <a:xfrm>
            <a:off x="953390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2" name="Portrait 蔡文炬" descr="蔡文炬"/>
          <p:cNvPicPr>
            <a:picLocks noChangeAspect="1"/>
          </p:cNvPicPr>
          <p:nvPr/>
        </p:nvPicPr>
        <p:blipFill>
          <a:blip r:embed="rId11"/>
          <a:stretch>
            <a:fillRect/>
          </a:stretch>
        </p:blipFill>
        <p:spPr>
          <a:xfrm>
            <a:off x="9652772" y="3557016"/>
            <a:ext cx="676656" cy="676656"/>
          </a:xfrm>
          <a:prstGeom prst="ellipse">
            <a:avLst/>
          </a:prstGeom>
          <a:ln w="12700">
            <a:solidFill>
              <a:srgbClr val="4245AF"/>
            </a:solidFill>
          </a:ln>
        </p:spPr>
      </p:pic>
      <p:sp>
        <p:nvSpPr>
          <p:cNvPr id="53" name="Academician badge 蔡文炬"/>
          <p:cNvSpPr/>
          <p:nvPr/>
        </p:nvSpPr>
        <p:spPr>
          <a:xfrm>
            <a:off x="979907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4" name="Academician text 蔡文炬"/>
          <p:cNvSpPr txBox="1"/>
          <p:nvPr/>
        </p:nvSpPr>
        <p:spPr>
          <a:xfrm>
            <a:off x="1043915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蔡文炬</a:t>
            </a:r>
          </a:p>
          <a:p>
            <a:pPr algn="l">
              <a:lnSpc>
                <a:spcPct val="128000"/>
              </a:lnSpc>
              <a:spcAft>
                <a:spcPts val="0"/>
              </a:spcAft>
              <a:buNone/>
            </a:pPr>
            <a:r>
              <a:rPr lang="en-US" altLang="zh-CN" sz="800" b="0" i="0" dirty="0">
                <a:solidFill>
                  <a:srgbClr val="4245AF"/>
                </a:solidFill>
                <a:latin typeface="Arial"/>
                <a:ea typeface="Microsoft YaHei"/>
                <a:cs typeface="Arial"/>
              </a:rPr>
              <a:t>澳大利亚联邦科学</a:t>
            </a:r>
          </a:p>
          <a:p>
            <a:pPr algn="l">
              <a:lnSpc>
                <a:spcPct val="128000"/>
              </a:lnSpc>
              <a:spcAft>
                <a:spcPts val="200"/>
              </a:spcAft>
              <a:buNone/>
            </a:pPr>
            <a:r>
              <a:rPr lang="en-US" altLang="zh-CN" sz="800" b="0" i="0" dirty="0">
                <a:solidFill>
                  <a:srgbClr val="4245AF"/>
                </a:solidFill>
                <a:latin typeface="Arial"/>
                <a:ea typeface="Microsoft YaHei"/>
                <a:cs typeface="Arial"/>
              </a:rPr>
              <a:t>与工业研究组织 CSIRO</a:t>
            </a:r>
          </a:p>
          <a:p>
            <a:pPr algn="l">
              <a:lnSpc>
                <a:spcPct val="128000"/>
              </a:lnSpc>
              <a:spcAft>
                <a:spcPts val="0"/>
              </a:spcAft>
              <a:buNone/>
            </a:pPr>
            <a:r>
              <a:rPr lang="en-US" altLang="zh-CN" sz="800" b="0" i="0" dirty="0">
                <a:solidFill>
                  <a:srgbClr val="5B5D72"/>
                </a:solidFill>
                <a:latin typeface="Arial"/>
                <a:ea typeface="Microsoft YaHei"/>
                <a:cs typeface="Arial"/>
              </a:rPr>
              <a:t>气候科学 · 全球变化</a:t>
            </a:r>
          </a:p>
        </p:txBody>
      </p:sp>
      <p:sp>
        <p:nvSpPr>
          <p:cNvPr id="55" name="Group Distinguished Scholars"/>
          <p:cNvSpPr txBox="1"/>
          <p:nvPr/>
        </p:nvSpPr>
        <p:spPr>
          <a:xfrm>
            <a:off x="548640" y="461772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DISTINGUISHED SCHOLARS</a:t>
            </a:r>
            <a:r>
              <a:rPr lang="en-US" altLang="zh-CN" sz="1100" b="1" i="0" dirty="0">
                <a:solidFill>
                  <a:srgbClr val="E5532D"/>
                </a:solidFill>
                <a:latin typeface="Arial"/>
                <a:ea typeface="Microsoft YaHei"/>
                <a:cs typeface="Arial"/>
              </a:rPr>
              <a:t xml:space="preserve">  国际知名学者</a:t>
            </a:r>
          </a:p>
        </p:txBody>
      </p:sp>
      <p:sp>
        <p:nvSpPr>
          <p:cNvPr id="56" name="Scholar card Patrick Roberts"/>
          <p:cNvSpPr/>
          <p:nvPr/>
        </p:nvSpPr>
        <p:spPr>
          <a:xfrm>
            <a:off x="548640"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7" name="Portrait Patrick Roberts" descr="Patrick Roberts"/>
          <p:cNvPicPr>
            <a:picLocks noChangeAspect="1"/>
          </p:cNvPicPr>
          <p:nvPr/>
        </p:nvPicPr>
        <p:blipFill>
          <a:blip r:embed="rId12"/>
          <a:stretch>
            <a:fillRect/>
          </a:stretch>
        </p:blipFill>
        <p:spPr>
          <a:xfrm>
            <a:off x="1019752" y="4983480"/>
            <a:ext cx="548640" cy="548640"/>
          </a:xfrm>
          <a:prstGeom prst="ellipse">
            <a:avLst/>
          </a:prstGeom>
          <a:ln w="12700">
            <a:solidFill>
              <a:srgbClr val="4245AF"/>
            </a:solidFill>
          </a:ln>
        </p:spPr>
      </p:pic>
      <p:sp>
        <p:nvSpPr>
          <p:cNvPr id="58" name="Scholar name Patrick Roberts"/>
          <p:cNvSpPr txBox="1"/>
          <p:nvPr/>
        </p:nvSpPr>
        <p:spPr>
          <a:xfrm>
            <a:off x="603504"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Patrick Roberts</a:t>
            </a:r>
          </a:p>
        </p:txBody>
      </p:sp>
      <p:sp>
        <p:nvSpPr>
          <p:cNvPr id="59" name="Scholar text Patrick Roberts"/>
          <p:cNvSpPr txBox="1"/>
          <p:nvPr/>
        </p:nvSpPr>
        <p:spPr>
          <a:xfrm>
            <a:off x="603504" y="5797296"/>
            <a:ext cx="1381136" cy="594360"/>
          </a:xfrm>
          <a:prstGeom prst="rect">
            <a:avLst/>
          </a:prstGeom>
          <a:noFill/>
          <a:ln>
            <a:noFill/>
          </a:ln>
        </p:spPr>
        <p:txBody>
          <a:bodyPr wrap="square" lIns="0" tIns="0" rIns="0" bIns="0" anchor="t" rtlCol="0">
            <a:normAutofit/>
          </a:bodyPr>
          <a:lstStyle/>
          <a:p>
            <a:pPr algn="ctr">
              <a:lnSpc>
                <a:spcPct val="128000"/>
              </a:lnSpc>
              <a:spcAft>
                <a:spcPts val="0"/>
              </a:spcAft>
              <a:buNone/>
            </a:pPr>
            <a:r>
              <a:rPr lang="en-US" altLang="zh-CN" sz="750" b="0" i="0" dirty="0">
                <a:solidFill>
                  <a:srgbClr val="4245AF"/>
                </a:solidFill>
                <a:latin typeface="Arial"/>
                <a:ea typeface="Microsoft YaHei"/>
                <a:cs typeface="Arial"/>
              </a:rPr>
              <a:t>马克斯·普朗克</a:t>
            </a:r>
          </a:p>
          <a:p>
            <a:pPr algn="ctr">
              <a:lnSpc>
                <a:spcPct val="128000"/>
              </a:lnSpc>
              <a:spcAft>
                <a:spcPts val="200"/>
              </a:spcAft>
              <a:buNone/>
            </a:pPr>
            <a:r>
              <a:rPr lang="en-US" altLang="zh-CN" sz="750" b="0" i="0" dirty="0">
                <a:solidFill>
                  <a:srgbClr val="4245AF"/>
                </a:solidFill>
                <a:latin typeface="Arial"/>
                <a:ea typeface="Microsoft YaHei"/>
                <a:cs typeface="Arial"/>
              </a:rPr>
              <a:t>地球人类学研究所</a:t>
            </a:r>
          </a:p>
          <a:p>
            <a:pPr algn="ctr">
              <a:lnSpc>
                <a:spcPct val="128000"/>
              </a:lnSpc>
              <a:spcAft>
                <a:spcPts val="0"/>
              </a:spcAft>
              <a:buNone/>
            </a:pPr>
            <a:r>
              <a:rPr lang="en-US" altLang="zh-CN" sz="750" b="0" i="0" dirty="0">
                <a:solidFill>
                  <a:srgbClr val="5B5D72"/>
                </a:solidFill>
                <a:latin typeface="Arial"/>
                <a:ea typeface="Microsoft YaHei"/>
                <a:cs typeface="Arial"/>
              </a:rPr>
              <a:t>考古科学 · 古生态</a:t>
            </a:r>
          </a:p>
          <a:p>
            <a:pPr algn="ctr">
              <a:lnSpc>
                <a:spcPct val="128000"/>
              </a:lnSpc>
              <a:spcAft>
                <a:spcPts val="0"/>
              </a:spcAft>
              <a:buNone/>
            </a:pPr>
            <a:r>
              <a:rPr lang="en-US" altLang="zh-CN" sz="750" b="0" i="0" dirty="0">
                <a:solidFill>
                  <a:srgbClr val="5B5D72"/>
                </a:solidFill>
                <a:latin typeface="Arial"/>
                <a:ea typeface="Microsoft YaHei"/>
                <a:cs typeface="Arial"/>
              </a:rPr>
              <a:t>土地利用与城市化协同演化</a:t>
            </a:r>
          </a:p>
        </p:txBody>
      </p:sp>
      <p:sp>
        <p:nvSpPr>
          <p:cNvPr id="60" name="Scholar card Luis Bettencourt"/>
          <p:cNvSpPr/>
          <p:nvPr/>
        </p:nvSpPr>
        <p:spPr>
          <a:xfrm>
            <a:off x="2149232"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1" name="Portrait Luis Bettencourt" descr="Luis Bettencourt"/>
          <p:cNvPicPr>
            <a:picLocks noChangeAspect="1"/>
          </p:cNvPicPr>
          <p:nvPr/>
        </p:nvPicPr>
        <p:blipFill>
          <a:blip r:embed="rId13"/>
          <a:srcRect/>
          <a:stretch>
            <a:fillRect/>
          </a:stretch>
        </p:blipFill>
        <p:spPr>
          <a:xfrm>
            <a:off x="2620344" y="4983480"/>
            <a:ext cx="548640" cy="548640"/>
          </a:xfrm>
          <a:prstGeom prst="ellipse">
            <a:avLst/>
          </a:prstGeom>
          <a:ln w="12700">
            <a:solidFill>
              <a:srgbClr val="4245AF"/>
            </a:solidFill>
          </a:ln>
        </p:spPr>
      </p:pic>
      <p:sp>
        <p:nvSpPr>
          <p:cNvPr id="62" name="Scholar name Luis Bettencourt"/>
          <p:cNvSpPr txBox="1"/>
          <p:nvPr/>
        </p:nvSpPr>
        <p:spPr>
          <a:xfrm>
            <a:off x="2204096"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Luis Bettencourt</a:t>
            </a:r>
          </a:p>
        </p:txBody>
      </p:sp>
      <p:sp>
        <p:nvSpPr>
          <p:cNvPr id="63" name="Scholar text Luis Bettencourt"/>
          <p:cNvSpPr txBox="1"/>
          <p:nvPr/>
        </p:nvSpPr>
        <p:spPr>
          <a:xfrm>
            <a:off x="2204096"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芝加哥大学</a:t>
            </a:r>
          </a:p>
          <a:p>
            <a:pPr algn="ctr">
              <a:lnSpc>
                <a:spcPct val="128000"/>
              </a:lnSpc>
              <a:spcAft>
                <a:spcPts val="0"/>
              </a:spcAft>
              <a:buNone/>
            </a:pPr>
            <a:r>
              <a:rPr lang="en-US" altLang="zh-CN" sz="750" b="0" i="0" dirty="0">
                <a:solidFill>
                  <a:srgbClr val="5B5D72"/>
                </a:solidFill>
                <a:latin typeface="Arial"/>
                <a:ea typeface="Microsoft YaHei"/>
                <a:cs typeface="Arial"/>
              </a:rPr>
              <a:t>城市复杂系统 · 网络</a:t>
            </a:r>
          </a:p>
          <a:p>
            <a:pPr algn="ctr">
              <a:lnSpc>
                <a:spcPct val="128000"/>
              </a:lnSpc>
              <a:spcAft>
                <a:spcPts val="0"/>
              </a:spcAft>
              <a:buNone/>
            </a:pPr>
            <a:r>
              <a:rPr lang="en-US" altLang="zh-CN" sz="750" b="0" i="0" dirty="0">
                <a:solidFill>
                  <a:srgbClr val="5B5D72"/>
                </a:solidFill>
                <a:latin typeface="Arial"/>
                <a:ea typeface="Microsoft YaHei"/>
                <a:cs typeface="Arial"/>
              </a:rPr>
              <a:t>城市尺度理论</a:t>
            </a:r>
          </a:p>
        </p:txBody>
      </p:sp>
      <p:sp>
        <p:nvSpPr>
          <p:cNvPr id="64" name="Scholar card Rebecca Bentley"/>
          <p:cNvSpPr/>
          <p:nvPr/>
        </p:nvSpPr>
        <p:spPr>
          <a:xfrm>
            <a:off x="3749824"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5" name="Portrait Rebecca Bentley" descr="Rebecca Bentley"/>
          <p:cNvPicPr>
            <a:picLocks noChangeAspect="1"/>
          </p:cNvPicPr>
          <p:nvPr/>
        </p:nvPicPr>
        <p:blipFill>
          <a:blip r:embed="rId14"/>
          <a:stretch>
            <a:fillRect/>
          </a:stretch>
        </p:blipFill>
        <p:spPr>
          <a:xfrm>
            <a:off x="4220936" y="4983480"/>
            <a:ext cx="548640" cy="548640"/>
          </a:xfrm>
          <a:prstGeom prst="ellipse">
            <a:avLst/>
          </a:prstGeom>
          <a:ln w="12700">
            <a:solidFill>
              <a:srgbClr val="4245AF"/>
            </a:solidFill>
          </a:ln>
        </p:spPr>
      </p:pic>
      <p:sp>
        <p:nvSpPr>
          <p:cNvPr id="66" name="Scholar name Rebecca Bentley"/>
          <p:cNvSpPr txBox="1"/>
          <p:nvPr/>
        </p:nvSpPr>
        <p:spPr>
          <a:xfrm>
            <a:off x="3804688"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Rebecca Bentley</a:t>
            </a:r>
          </a:p>
        </p:txBody>
      </p:sp>
      <p:sp>
        <p:nvSpPr>
          <p:cNvPr id="67" name="Scholar text Rebecca Bentley"/>
          <p:cNvSpPr txBox="1"/>
          <p:nvPr/>
        </p:nvSpPr>
        <p:spPr>
          <a:xfrm>
            <a:off x="3804688"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墨尔本大学</a:t>
            </a:r>
          </a:p>
          <a:p>
            <a:pPr algn="ctr">
              <a:lnSpc>
                <a:spcPct val="128000"/>
              </a:lnSpc>
              <a:spcAft>
                <a:spcPts val="0"/>
              </a:spcAft>
              <a:buNone/>
            </a:pPr>
            <a:r>
              <a:rPr lang="en-US" altLang="zh-CN" sz="750" b="0" i="0" dirty="0">
                <a:solidFill>
                  <a:srgbClr val="5B5D72"/>
                </a:solidFill>
                <a:latin typeface="Arial"/>
                <a:ea typeface="Microsoft YaHei"/>
                <a:cs typeface="Arial"/>
              </a:rPr>
              <a:t>住房与建成环境 · 流行病学</a:t>
            </a:r>
          </a:p>
          <a:p>
            <a:pPr algn="ctr">
              <a:lnSpc>
                <a:spcPct val="128000"/>
              </a:lnSpc>
              <a:spcAft>
                <a:spcPts val="0"/>
              </a:spcAft>
              <a:buNone/>
            </a:pPr>
            <a:r>
              <a:rPr lang="en-US" altLang="zh-CN" sz="750" b="0" i="0" dirty="0">
                <a:solidFill>
                  <a:srgbClr val="5B5D72"/>
                </a:solidFill>
                <a:latin typeface="Arial"/>
                <a:ea typeface="Microsoft YaHei"/>
                <a:cs typeface="Arial"/>
              </a:rPr>
              <a:t>城市健康</a:t>
            </a:r>
          </a:p>
        </p:txBody>
      </p:sp>
      <p:sp>
        <p:nvSpPr>
          <p:cNvPr id="68" name="Scholar card Emma Baker"/>
          <p:cNvSpPr/>
          <p:nvPr/>
        </p:nvSpPr>
        <p:spPr>
          <a:xfrm>
            <a:off x="5350416"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9" name="Portrait Emma Baker" descr="Emma Baker"/>
          <p:cNvPicPr>
            <a:picLocks noChangeAspect="1"/>
          </p:cNvPicPr>
          <p:nvPr/>
        </p:nvPicPr>
        <p:blipFill>
          <a:blip r:embed="rId15"/>
          <a:stretch>
            <a:fillRect/>
          </a:stretch>
        </p:blipFill>
        <p:spPr>
          <a:xfrm>
            <a:off x="5821528" y="4983480"/>
            <a:ext cx="548640" cy="548640"/>
          </a:xfrm>
          <a:prstGeom prst="ellipse">
            <a:avLst/>
          </a:prstGeom>
          <a:ln w="12700">
            <a:solidFill>
              <a:srgbClr val="4245AF"/>
            </a:solidFill>
          </a:ln>
        </p:spPr>
      </p:pic>
      <p:sp>
        <p:nvSpPr>
          <p:cNvPr id="70" name="Scholar name Emma Baker"/>
          <p:cNvSpPr txBox="1"/>
          <p:nvPr/>
        </p:nvSpPr>
        <p:spPr>
          <a:xfrm>
            <a:off x="5405280"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Emma Baker</a:t>
            </a:r>
          </a:p>
        </p:txBody>
      </p:sp>
      <p:sp>
        <p:nvSpPr>
          <p:cNvPr id="71" name="Scholar text Emma Baker"/>
          <p:cNvSpPr txBox="1"/>
          <p:nvPr/>
        </p:nvSpPr>
        <p:spPr>
          <a:xfrm>
            <a:off x="5405280"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阿德莱德大学</a:t>
            </a:r>
          </a:p>
          <a:p>
            <a:pPr algn="ctr">
              <a:lnSpc>
                <a:spcPct val="128000"/>
              </a:lnSpc>
              <a:spcAft>
                <a:spcPts val="0"/>
              </a:spcAft>
              <a:buNone/>
            </a:pPr>
            <a:r>
              <a:rPr lang="en-US" altLang="zh-CN" sz="750" b="0" i="0" dirty="0">
                <a:solidFill>
                  <a:srgbClr val="5B5D72"/>
                </a:solidFill>
                <a:latin typeface="Arial"/>
                <a:ea typeface="Microsoft YaHei"/>
                <a:cs typeface="Arial"/>
              </a:rPr>
              <a:t>城市健康与居住环境</a:t>
            </a:r>
          </a:p>
        </p:txBody>
      </p:sp>
      <p:sp>
        <p:nvSpPr>
          <p:cNvPr id="72" name="Scholar card Orlando Woods"/>
          <p:cNvSpPr/>
          <p:nvPr/>
        </p:nvSpPr>
        <p:spPr>
          <a:xfrm>
            <a:off x="6951008"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3" name="Portrait Orlando Woods" descr="Orlando Woods"/>
          <p:cNvPicPr>
            <a:picLocks noChangeAspect="1"/>
          </p:cNvPicPr>
          <p:nvPr/>
        </p:nvPicPr>
        <p:blipFill>
          <a:blip r:embed="rId16"/>
          <a:stretch>
            <a:fillRect/>
          </a:stretch>
        </p:blipFill>
        <p:spPr>
          <a:xfrm>
            <a:off x="7422119" y="4983480"/>
            <a:ext cx="548640" cy="548640"/>
          </a:xfrm>
          <a:prstGeom prst="ellipse">
            <a:avLst/>
          </a:prstGeom>
          <a:ln w="12700">
            <a:solidFill>
              <a:srgbClr val="4245AF"/>
            </a:solidFill>
          </a:ln>
        </p:spPr>
      </p:pic>
      <p:sp>
        <p:nvSpPr>
          <p:cNvPr id="74" name="Scholar name Orlando Woods"/>
          <p:cNvSpPr txBox="1"/>
          <p:nvPr/>
        </p:nvSpPr>
        <p:spPr>
          <a:xfrm>
            <a:off x="7005872"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Orlando Woods</a:t>
            </a:r>
          </a:p>
        </p:txBody>
      </p:sp>
      <p:sp>
        <p:nvSpPr>
          <p:cNvPr id="75" name="Scholar text Orlando Woods"/>
          <p:cNvSpPr txBox="1"/>
          <p:nvPr/>
        </p:nvSpPr>
        <p:spPr>
          <a:xfrm>
            <a:off x="7005872"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新加坡管理大学</a:t>
            </a:r>
          </a:p>
          <a:p>
            <a:pPr algn="ctr">
              <a:lnSpc>
                <a:spcPct val="128000"/>
              </a:lnSpc>
              <a:spcAft>
                <a:spcPts val="0"/>
              </a:spcAft>
              <a:buNone/>
            </a:pPr>
            <a:r>
              <a:rPr lang="en-US" altLang="zh-CN" sz="750" b="0" i="0" dirty="0">
                <a:solidFill>
                  <a:srgbClr val="5B5D72"/>
                </a:solidFill>
                <a:latin typeface="Arial"/>
                <a:ea typeface="Microsoft YaHei"/>
                <a:cs typeface="Arial"/>
              </a:rPr>
              <a:t>智慧城市 · 数字平台治理</a:t>
            </a:r>
          </a:p>
        </p:txBody>
      </p:sp>
      <p:sp>
        <p:nvSpPr>
          <p:cNvPr id="76" name="Scholar card 刘春华"/>
          <p:cNvSpPr/>
          <p:nvPr/>
        </p:nvSpPr>
        <p:spPr>
          <a:xfrm>
            <a:off x="8551599"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7" name="Portrait 刘春华" descr="刘春华"/>
          <p:cNvPicPr>
            <a:picLocks noChangeAspect="1"/>
          </p:cNvPicPr>
          <p:nvPr/>
        </p:nvPicPr>
        <p:blipFill>
          <a:blip r:embed="rId17"/>
          <a:stretch>
            <a:fillRect/>
          </a:stretch>
        </p:blipFill>
        <p:spPr>
          <a:xfrm>
            <a:off x="9022711" y="4983480"/>
            <a:ext cx="548640" cy="548640"/>
          </a:xfrm>
          <a:prstGeom prst="ellipse">
            <a:avLst/>
          </a:prstGeom>
          <a:ln w="12700">
            <a:solidFill>
              <a:srgbClr val="4245AF"/>
            </a:solidFill>
          </a:ln>
        </p:spPr>
      </p:pic>
      <p:sp>
        <p:nvSpPr>
          <p:cNvPr id="78" name="Scholar name 刘春华"/>
          <p:cNvSpPr txBox="1"/>
          <p:nvPr/>
        </p:nvSpPr>
        <p:spPr>
          <a:xfrm>
            <a:off x="8606463"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刘春华</a:t>
            </a:r>
          </a:p>
        </p:txBody>
      </p:sp>
      <p:sp>
        <p:nvSpPr>
          <p:cNvPr id="79" name="Scholar text 刘春华"/>
          <p:cNvSpPr txBox="1"/>
          <p:nvPr/>
        </p:nvSpPr>
        <p:spPr>
          <a:xfrm>
            <a:off x="8606463"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香港城市大学</a:t>
            </a:r>
          </a:p>
          <a:p>
            <a:pPr algn="ctr">
              <a:lnSpc>
                <a:spcPct val="128000"/>
              </a:lnSpc>
              <a:spcAft>
                <a:spcPts val="0"/>
              </a:spcAft>
              <a:buNone/>
            </a:pPr>
            <a:r>
              <a:rPr lang="en-US" altLang="zh-CN" sz="750" b="0" i="0" dirty="0">
                <a:solidFill>
                  <a:srgbClr val="5B5D72"/>
                </a:solidFill>
                <a:latin typeface="Arial"/>
                <a:ea typeface="Microsoft YaHei"/>
                <a:cs typeface="Arial"/>
              </a:rPr>
              <a:t>智慧能源 · 电动交通</a:t>
            </a:r>
          </a:p>
        </p:txBody>
      </p:sp>
      <p:sp>
        <p:nvSpPr>
          <p:cNvPr id="80" name="Scholar card 黄波"/>
          <p:cNvSpPr/>
          <p:nvPr/>
        </p:nvSpPr>
        <p:spPr>
          <a:xfrm>
            <a:off x="10152191"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81" name="Portrait 黄波" descr="黄波"/>
          <p:cNvPicPr>
            <a:picLocks noChangeAspect="1"/>
          </p:cNvPicPr>
          <p:nvPr/>
        </p:nvPicPr>
        <p:blipFill>
          <a:blip r:embed="rId18"/>
          <a:stretch>
            <a:fillRect/>
          </a:stretch>
        </p:blipFill>
        <p:spPr>
          <a:xfrm>
            <a:off x="10623303" y="4983480"/>
            <a:ext cx="548640" cy="548640"/>
          </a:xfrm>
          <a:prstGeom prst="ellipse">
            <a:avLst/>
          </a:prstGeom>
          <a:ln w="12700">
            <a:solidFill>
              <a:srgbClr val="4245AF"/>
            </a:solidFill>
          </a:ln>
        </p:spPr>
      </p:pic>
      <p:sp>
        <p:nvSpPr>
          <p:cNvPr id="82" name="Scholar name 黄波"/>
          <p:cNvSpPr txBox="1"/>
          <p:nvPr/>
        </p:nvSpPr>
        <p:spPr>
          <a:xfrm>
            <a:off x="10207055"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黄波</a:t>
            </a:r>
          </a:p>
        </p:txBody>
      </p:sp>
      <p:sp>
        <p:nvSpPr>
          <p:cNvPr id="83" name="Scholar text 黄波"/>
          <p:cNvSpPr txBox="1"/>
          <p:nvPr/>
        </p:nvSpPr>
        <p:spPr>
          <a:xfrm>
            <a:off x="10207055"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HKU</a:t>
            </a:r>
          </a:p>
          <a:p>
            <a:pPr algn="ctr">
              <a:lnSpc>
                <a:spcPct val="128000"/>
              </a:lnSpc>
              <a:spcAft>
                <a:spcPts val="0"/>
              </a:spcAft>
              <a:buNone/>
            </a:pPr>
            <a:r>
              <a:rPr lang="en-US" altLang="zh-CN" sz="750" b="0" i="0" dirty="0">
                <a:solidFill>
                  <a:srgbClr val="5B5D72"/>
                </a:solidFill>
                <a:latin typeface="Arial"/>
                <a:ea typeface="Microsoft YaHei"/>
                <a:cs typeface="Arial"/>
              </a:rPr>
              <a:t>地理信息科学</a:t>
            </a:r>
          </a:p>
          <a:p>
            <a:pPr algn="ctr">
              <a:lnSpc>
                <a:spcPct val="128000"/>
              </a:lnSpc>
              <a:spcAft>
                <a:spcPts val="0"/>
              </a:spcAft>
              <a:buNone/>
            </a:pPr>
            <a:r>
              <a:rPr lang="en-US" altLang="zh-CN" sz="750" b="0" i="0" dirty="0">
                <a:solidFill>
                  <a:srgbClr val="5B5D72"/>
                </a:solidFill>
                <a:latin typeface="Arial"/>
                <a:ea typeface="Microsoft YaHei"/>
                <a:cs typeface="Arial"/>
              </a:rPr>
              <a:t>遥感和空间数据分析</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07</a:t>
            </a: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GLOBAL REACH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International Academic Leadership &amp; Networks</a:t>
            </a:r>
          </a:p>
        </p:txBody>
      </p:sp>
      <p:sp>
        <p:nvSpPr>
          <p:cNvPr id="13" name="Network card Urban Affairs Association"/>
          <p:cNvSpPr/>
          <p:nvPr/>
        </p:nvSpPr>
        <p:spPr>
          <a:xfrm>
            <a:off x="548640"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4" name="Logo plate Urban Affairs Association"/>
          <p:cNvSpPr/>
          <p:nvPr/>
        </p:nvSpPr>
        <p:spPr>
          <a:xfrm>
            <a:off x="658368"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5" name="Urban Affairs Association" descr="Urban Affairs Association"/>
          <p:cNvPicPr>
            <a:picLocks noChangeAspect="1"/>
          </p:cNvPicPr>
          <p:nvPr/>
        </p:nvPicPr>
        <p:blipFill>
          <a:blip r:embed="rId2"/>
          <a:stretch>
            <a:fillRect/>
          </a:stretch>
        </p:blipFill>
        <p:spPr>
          <a:xfrm>
            <a:off x="1173449" y="2359152"/>
            <a:ext cx="822960" cy="822960"/>
          </a:xfrm>
          <a:prstGeom prst="rect">
            <a:avLst/>
          </a:prstGeom>
        </p:spPr>
      </p:pic>
      <p:sp>
        <p:nvSpPr>
          <p:cNvPr id="16" name="Network text Urban Affairs Association"/>
          <p:cNvSpPr txBox="1"/>
          <p:nvPr/>
        </p:nvSpPr>
        <p:spPr>
          <a:xfrm>
            <a:off x="658368"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Affairs Association</a:t>
            </a:r>
          </a:p>
          <a:p>
            <a:pPr algn="ctr">
              <a:lnSpc>
                <a:spcPct val="110000"/>
              </a:lnSpc>
              <a:spcAft>
                <a:spcPts val="0"/>
              </a:spcAft>
              <a:buNone/>
            </a:pPr>
            <a:r>
              <a:rPr lang="en-US" altLang="zh-CN" sz="900" b="0" i="0" dirty="0">
                <a:solidFill>
                  <a:srgbClr val="5B5D72"/>
                </a:solidFill>
                <a:latin typeface="Arial"/>
                <a:ea typeface="Microsoft YaHei"/>
                <a:cs typeface="Arial"/>
              </a:rPr>
              <a:t>城市事务协会</a:t>
            </a:r>
          </a:p>
        </p:txBody>
      </p:sp>
      <p:sp>
        <p:nvSpPr>
          <p:cNvPr id="17" name="Network card Royal Geographical Society"/>
          <p:cNvSpPr/>
          <p:nvPr/>
        </p:nvSpPr>
        <p:spPr>
          <a:xfrm>
            <a:off x="2804099"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Logo plate Royal Geographical Society"/>
          <p:cNvSpPr/>
          <p:nvPr/>
        </p:nvSpPr>
        <p:spPr>
          <a:xfrm>
            <a:off x="2913827"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9" name="Royal Geographical Society" descr="Royal Geographical Society"/>
          <p:cNvPicPr>
            <a:picLocks noChangeAspect="1"/>
          </p:cNvPicPr>
          <p:nvPr/>
        </p:nvPicPr>
        <p:blipFill>
          <a:blip r:embed="rId3"/>
          <a:stretch>
            <a:fillRect/>
          </a:stretch>
        </p:blipFill>
        <p:spPr>
          <a:xfrm>
            <a:off x="3428909" y="2359152"/>
            <a:ext cx="822960" cy="822960"/>
          </a:xfrm>
          <a:prstGeom prst="rect">
            <a:avLst/>
          </a:prstGeom>
        </p:spPr>
      </p:pic>
      <p:sp>
        <p:nvSpPr>
          <p:cNvPr id="20" name="Network text Royal Geographical Society"/>
          <p:cNvSpPr txBox="1"/>
          <p:nvPr/>
        </p:nvSpPr>
        <p:spPr>
          <a:xfrm>
            <a:off x="2913827"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Royal Geographical Society</a:t>
            </a:r>
          </a:p>
          <a:p>
            <a:pPr algn="ctr">
              <a:lnSpc>
                <a:spcPct val="110000"/>
              </a:lnSpc>
              <a:spcAft>
                <a:spcPts val="0"/>
              </a:spcAft>
              <a:buNone/>
            </a:pPr>
            <a:r>
              <a:rPr lang="en-US" altLang="zh-CN" sz="900" b="0" i="0" dirty="0">
                <a:solidFill>
                  <a:srgbClr val="5B5D72"/>
                </a:solidFill>
                <a:latin typeface="Arial"/>
                <a:ea typeface="Microsoft YaHei"/>
                <a:cs typeface="Arial"/>
              </a:rPr>
              <a:t>英国皇家地理学会</a:t>
            </a:r>
          </a:p>
        </p:txBody>
      </p:sp>
      <p:sp>
        <p:nvSpPr>
          <p:cNvPr id="21" name="Network card Regional Studies Association"/>
          <p:cNvSpPr/>
          <p:nvPr/>
        </p:nvSpPr>
        <p:spPr>
          <a:xfrm>
            <a:off x="5059558"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2" name="Logo plate Regional Studies Association"/>
          <p:cNvSpPr/>
          <p:nvPr/>
        </p:nvSpPr>
        <p:spPr>
          <a:xfrm>
            <a:off x="5169286"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3" name="Regional Studies Association" descr="Regional Studies Association"/>
          <p:cNvPicPr>
            <a:picLocks noChangeAspect="1"/>
          </p:cNvPicPr>
          <p:nvPr/>
        </p:nvPicPr>
        <p:blipFill>
          <a:blip r:embed="rId4"/>
          <a:stretch>
            <a:fillRect/>
          </a:stretch>
        </p:blipFill>
        <p:spPr>
          <a:xfrm>
            <a:off x="5684368" y="2359152"/>
            <a:ext cx="822960" cy="822960"/>
          </a:xfrm>
          <a:prstGeom prst="rect">
            <a:avLst/>
          </a:prstGeom>
        </p:spPr>
      </p:pic>
      <p:sp>
        <p:nvSpPr>
          <p:cNvPr id="24" name="Network text Regional Studies Association"/>
          <p:cNvSpPr txBox="1"/>
          <p:nvPr/>
        </p:nvSpPr>
        <p:spPr>
          <a:xfrm>
            <a:off x="5169286"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Regional Studies Association</a:t>
            </a:r>
          </a:p>
          <a:p>
            <a:pPr algn="ctr">
              <a:lnSpc>
                <a:spcPct val="110000"/>
              </a:lnSpc>
              <a:spcAft>
                <a:spcPts val="0"/>
              </a:spcAft>
              <a:buNone/>
            </a:pPr>
            <a:r>
              <a:rPr lang="en-US" altLang="zh-CN" sz="900" b="0" i="0" dirty="0">
                <a:solidFill>
                  <a:srgbClr val="5B5D72"/>
                </a:solidFill>
                <a:latin typeface="Arial"/>
                <a:ea typeface="Microsoft YaHei"/>
                <a:cs typeface="Arial"/>
              </a:rPr>
              <a:t>区域研究协会</a:t>
            </a:r>
          </a:p>
        </p:txBody>
      </p:sp>
      <p:sp>
        <p:nvSpPr>
          <p:cNvPr id="25" name="Network card Hong Kong Base of State Key Laboratory of Subtropical Building and Urban Science"/>
          <p:cNvSpPr/>
          <p:nvPr/>
        </p:nvSpPr>
        <p:spPr>
          <a:xfrm>
            <a:off x="7315017"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6" name="Logo plate Hong Kong Base of State Key Laboratory of Subtropical Building and Urban Science"/>
          <p:cNvSpPr/>
          <p:nvPr/>
        </p:nvSpPr>
        <p:spPr>
          <a:xfrm>
            <a:off x="7424745"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7" name="Hong Kong Base of State Key Laboratory of Subtropical Building and Urban Science" descr="Hong Kong Base of State Key Laboratory of Subtropical Building and Urban Sci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9827" y="2359152"/>
            <a:ext cx="822960" cy="822960"/>
          </a:xfrm>
          <a:prstGeom prst="rect">
            <a:avLst/>
          </a:prstGeom>
        </p:spPr>
      </p:pic>
      <p:sp>
        <p:nvSpPr>
          <p:cNvPr id="28" name="Network text Hong Kong Base of State Key Laboratory of Subtropical Building and Urban Science"/>
          <p:cNvSpPr txBox="1"/>
          <p:nvPr/>
        </p:nvSpPr>
        <p:spPr>
          <a:xfrm>
            <a:off x="7424745"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Hong Kong Base of State Key Laboratory of Subtropical Building and Urban Science</a:t>
            </a:r>
          </a:p>
          <a:p>
            <a:pPr algn="ctr">
              <a:lnSpc>
                <a:spcPct val="110000"/>
              </a:lnSpc>
              <a:spcAft>
                <a:spcPts val="0"/>
              </a:spcAft>
              <a:buNone/>
            </a:pPr>
            <a:r>
              <a:rPr lang="en-US" altLang="zh-CN" sz="900" b="0" i="0" dirty="0">
                <a:solidFill>
                  <a:srgbClr val="5B5D72"/>
                </a:solidFill>
                <a:latin typeface="Arial"/>
                <a:ea typeface="Microsoft YaHei"/>
                <a:cs typeface="Arial"/>
              </a:rPr>
              <a:t>亚热带建筑与城市科学</a:t>
            </a:r>
          </a:p>
          <a:p>
            <a:pPr algn="ctr">
              <a:lnSpc>
                <a:spcPct val="110000"/>
              </a:lnSpc>
              <a:spcAft>
                <a:spcPts val="0"/>
              </a:spcAft>
              <a:buNone/>
            </a:pPr>
            <a:r>
              <a:rPr lang="en-US" altLang="zh-CN" sz="900" b="0" i="0" dirty="0">
                <a:solidFill>
                  <a:srgbClr val="5B5D72"/>
                </a:solidFill>
                <a:latin typeface="Arial"/>
                <a:ea typeface="Microsoft YaHei"/>
                <a:cs typeface="Arial"/>
              </a:rPr>
              <a:t>全国重点实验室香港基地</a:t>
            </a:r>
          </a:p>
        </p:txBody>
      </p:sp>
      <p:sp>
        <p:nvSpPr>
          <p:cNvPr id="29" name="Network card American Association of Geographers"/>
          <p:cNvSpPr/>
          <p:nvPr/>
        </p:nvSpPr>
        <p:spPr>
          <a:xfrm>
            <a:off x="9570476"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Logo plate American Association of Geographers"/>
          <p:cNvSpPr/>
          <p:nvPr/>
        </p:nvSpPr>
        <p:spPr>
          <a:xfrm>
            <a:off x="9680204"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1" name="American Association of Geographers" descr="American Association of Geographers"/>
          <p:cNvPicPr>
            <a:picLocks noChangeAspect="1"/>
          </p:cNvPicPr>
          <p:nvPr/>
        </p:nvPicPr>
        <p:blipFill>
          <a:blip r:embed="rId6"/>
          <a:stretch>
            <a:fillRect/>
          </a:stretch>
        </p:blipFill>
        <p:spPr>
          <a:xfrm>
            <a:off x="9804222" y="2359152"/>
            <a:ext cx="1605086" cy="822960"/>
          </a:xfrm>
          <a:prstGeom prst="rect">
            <a:avLst/>
          </a:prstGeom>
        </p:spPr>
      </p:pic>
      <p:sp>
        <p:nvSpPr>
          <p:cNvPr id="32" name="Network text American Association of Geographers"/>
          <p:cNvSpPr txBox="1"/>
          <p:nvPr/>
        </p:nvSpPr>
        <p:spPr>
          <a:xfrm>
            <a:off x="9680204"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American Association of Geographers</a:t>
            </a:r>
          </a:p>
          <a:p>
            <a:pPr algn="ctr">
              <a:lnSpc>
                <a:spcPct val="110000"/>
              </a:lnSpc>
              <a:spcAft>
                <a:spcPts val="0"/>
              </a:spcAft>
              <a:buNone/>
            </a:pPr>
            <a:r>
              <a:rPr lang="en-US" altLang="zh-CN" sz="900" b="0" i="0" dirty="0">
                <a:solidFill>
                  <a:srgbClr val="5B5D72"/>
                </a:solidFill>
                <a:latin typeface="Arial"/>
                <a:ea typeface="Microsoft YaHei"/>
                <a:cs typeface="Arial"/>
              </a:rPr>
              <a:t>美国地理学家协会</a:t>
            </a:r>
          </a:p>
        </p:txBody>
      </p:sp>
      <p:sp>
        <p:nvSpPr>
          <p:cNvPr id="33" name="Network card Asia-Pacific Network of Housing Research"/>
          <p:cNvSpPr/>
          <p:nvPr/>
        </p:nvSpPr>
        <p:spPr>
          <a:xfrm>
            <a:off x="1676370"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4" name="Logo plate Asia-Pacific Network of Housing Research"/>
          <p:cNvSpPr/>
          <p:nvPr/>
        </p:nvSpPr>
        <p:spPr>
          <a:xfrm>
            <a:off x="1786098"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5" name="Asia-Pacific Network of Housing Research" descr="Asia-Pacific Network of Housing Research"/>
          <p:cNvPicPr>
            <a:picLocks noChangeAspect="1"/>
          </p:cNvPicPr>
          <p:nvPr/>
        </p:nvPicPr>
        <p:blipFill>
          <a:blip r:embed="rId7"/>
          <a:stretch>
            <a:fillRect/>
          </a:stretch>
        </p:blipFill>
        <p:spPr>
          <a:xfrm>
            <a:off x="2094315" y="4553712"/>
            <a:ext cx="1236688" cy="822960"/>
          </a:xfrm>
          <a:prstGeom prst="rect">
            <a:avLst/>
          </a:prstGeom>
        </p:spPr>
      </p:pic>
      <p:sp>
        <p:nvSpPr>
          <p:cNvPr id="36" name="Network text Asia-Pacific Network of Housing Research"/>
          <p:cNvSpPr txBox="1"/>
          <p:nvPr/>
        </p:nvSpPr>
        <p:spPr>
          <a:xfrm>
            <a:off x="1786098"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Asia-Pacific Network of Housing Research</a:t>
            </a:r>
          </a:p>
          <a:p>
            <a:pPr algn="ctr">
              <a:lnSpc>
                <a:spcPct val="110000"/>
              </a:lnSpc>
              <a:spcAft>
                <a:spcPts val="0"/>
              </a:spcAft>
              <a:buNone/>
            </a:pPr>
            <a:r>
              <a:rPr lang="en-US" altLang="zh-CN" sz="900" b="0" i="0" dirty="0">
                <a:solidFill>
                  <a:srgbClr val="5B5D72"/>
                </a:solidFill>
                <a:latin typeface="Arial"/>
                <a:ea typeface="Microsoft YaHei"/>
                <a:cs typeface="Arial"/>
              </a:rPr>
              <a:t>亚太住房研究网络</a:t>
            </a:r>
          </a:p>
        </p:txBody>
      </p:sp>
      <p:sp>
        <p:nvSpPr>
          <p:cNvPr id="37" name="Network card International Geographical Union"/>
          <p:cNvSpPr/>
          <p:nvPr/>
        </p:nvSpPr>
        <p:spPr>
          <a:xfrm>
            <a:off x="3931829"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8" name="Logo plate International Geographical Union"/>
          <p:cNvSpPr/>
          <p:nvPr/>
        </p:nvSpPr>
        <p:spPr>
          <a:xfrm>
            <a:off x="4041557"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9" name="International Geographical Union" descr="International Geographical Union"/>
          <p:cNvPicPr>
            <a:picLocks noChangeAspect="1"/>
          </p:cNvPicPr>
          <p:nvPr/>
        </p:nvPicPr>
        <p:blipFill>
          <a:blip r:embed="rId8"/>
          <a:stretch>
            <a:fillRect/>
          </a:stretch>
        </p:blipFill>
        <p:spPr>
          <a:xfrm>
            <a:off x="4096421" y="4826135"/>
            <a:ext cx="1743395" cy="278113"/>
          </a:xfrm>
          <a:prstGeom prst="rect">
            <a:avLst/>
          </a:prstGeom>
        </p:spPr>
      </p:pic>
      <p:sp>
        <p:nvSpPr>
          <p:cNvPr id="40" name="Network text International Geographical Union"/>
          <p:cNvSpPr txBox="1"/>
          <p:nvPr/>
        </p:nvSpPr>
        <p:spPr>
          <a:xfrm>
            <a:off x="4041557"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International Geographical Union</a:t>
            </a:r>
          </a:p>
          <a:p>
            <a:pPr algn="ctr">
              <a:lnSpc>
                <a:spcPct val="110000"/>
              </a:lnSpc>
              <a:spcAft>
                <a:spcPts val="0"/>
              </a:spcAft>
              <a:buNone/>
            </a:pPr>
            <a:r>
              <a:rPr lang="en-US" altLang="zh-CN" sz="900" b="0" i="0" dirty="0">
                <a:solidFill>
                  <a:srgbClr val="5B5D72"/>
                </a:solidFill>
                <a:latin typeface="Arial"/>
                <a:ea typeface="Microsoft YaHei"/>
                <a:cs typeface="Arial"/>
              </a:rPr>
              <a:t>国际地理学联合会</a:t>
            </a:r>
          </a:p>
        </p:txBody>
      </p:sp>
      <p:sp>
        <p:nvSpPr>
          <p:cNvPr id="41" name="Network card Urban China Research Network"/>
          <p:cNvSpPr/>
          <p:nvPr/>
        </p:nvSpPr>
        <p:spPr>
          <a:xfrm>
            <a:off x="6187288"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2" name="Logo plate Urban China Research Network"/>
          <p:cNvSpPr/>
          <p:nvPr/>
        </p:nvSpPr>
        <p:spPr>
          <a:xfrm>
            <a:off x="6297016"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3" name="Urban China Research Network" descr="Urban China Research Network"/>
          <p:cNvPicPr>
            <a:picLocks noChangeAspect="1"/>
          </p:cNvPicPr>
          <p:nvPr/>
        </p:nvPicPr>
        <p:blipFill>
          <a:blip r:embed="rId9"/>
          <a:stretch>
            <a:fillRect/>
          </a:stretch>
        </p:blipFill>
        <p:spPr>
          <a:xfrm>
            <a:off x="6351880" y="4802493"/>
            <a:ext cx="1743395" cy="325399"/>
          </a:xfrm>
          <a:prstGeom prst="rect">
            <a:avLst/>
          </a:prstGeom>
        </p:spPr>
      </p:pic>
      <p:sp>
        <p:nvSpPr>
          <p:cNvPr id="44" name="Network text Urban China Research Network"/>
          <p:cNvSpPr txBox="1"/>
          <p:nvPr/>
        </p:nvSpPr>
        <p:spPr>
          <a:xfrm>
            <a:off x="6297016"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China Research Network</a:t>
            </a:r>
          </a:p>
          <a:p>
            <a:pPr algn="ctr">
              <a:lnSpc>
                <a:spcPct val="110000"/>
              </a:lnSpc>
              <a:spcAft>
                <a:spcPts val="0"/>
              </a:spcAft>
              <a:buNone/>
            </a:pPr>
            <a:r>
              <a:rPr lang="en-US" altLang="zh-CN" sz="900" b="0" i="0" dirty="0">
                <a:solidFill>
                  <a:srgbClr val="5B5D72"/>
                </a:solidFill>
                <a:latin typeface="Arial"/>
                <a:ea typeface="Microsoft YaHei"/>
                <a:cs typeface="Arial"/>
              </a:rPr>
              <a:t>中国城市研究网络</a:t>
            </a:r>
          </a:p>
        </p:txBody>
      </p:sp>
      <p:sp>
        <p:nvSpPr>
          <p:cNvPr id="45" name="Network card The University of Hong Kong Urban Systems Institute"/>
          <p:cNvSpPr/>
          <p:nvPr/>
        </p:nvSpPr>
        <p:spPr>
          <a:xfrm>
            <a:off x="8442747"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6" name="Logo plate The University of Hong Kong Urban Systems Institute"/>
          <p:cNvSpPr/>
          <p:nvPr/>
        </p:nvSpPr>
        <p:spPr>
          <a:xfrm>
            <a:off x="8552475"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7" name="The University of Hong Kong Urban Systems Institute" descr="The University of Hong Kong Urban Systems Institute"/>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07339" y="4762933"/>
            <a:ext cx="1743395" cy="404518"/>
          </a:xfrm>
          <a:prstGeom prst="rect">
            <a:avLst/>
          </a:prstGeom>
        </p:spPr>
      </p:pic>
      <p:sp>
        <p:nvSpPr>
          <p:cNvPr id="48" name="Network text The University of Hong Kong Urban Systems Institute"/>
          <p:cNvSpPr txBox="1"/>
          <p:nvPr/>
        </p:nvSpPr>
        <p:spPr>
          <a:xfrm>
            <a:off x="8552475"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The University of Hong Kong Urban Systems Institute</a:t>
            </a:r>
          </a:p>
          <a:p>
            <a:pPr algn="ctr">
              <a:lnSpc>
                <a:spcPct val="110000"/>
              </a:lnSpc>
              <a:spcAft>
                <a:spcPts val="0"/>
              </a:spcAft>
              <a:buNone/>
            </a:pPr>
            <a:r>
              <a:rPr lang="en-US" altLang="zh-CN" sz="900" b="0" i="0" dirty="0">
                <a:solidFill>
                  <a:srgbClr val="5B5D72"/>
                </a:solidFill>
                <a:latin typeface="Arial"/>
                <a:ea typeface="Microsoft YaHei"/>
                <a:cs typeface="Arial"/>
              </a:rPr>
              <a:t>香港大学城市系统研究院</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08</a:t>
            </a:r>
          </a:p>
        </p:txBody>
      </p:sp>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ROADMAP TO LAUNCH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Timeline</a:t>
            </a:r>
          </a:p>
        </p:txBody>
      </p:sp>
      <p:sp>
        <p:nvSpPr>
          <p:cNvPr id="13" name="Timeline line"/>
          <p:cNvSpPr/>
          <p:nvPr/>
        </p:nvSpPr>
        <p:spPr>
          <a:xfrm>
            <a:off x="548640" y="2866644"/>
            <a:ext cx="11094415" cy="27432"/>
          </a:xfrm>
          <a:prstGeom prst="rect">
            <a:avLst/>
          </a:prstGeom>
          <a:solidFill>
            <a:srgbClr val="C9CAEA"/>
          </a:solidFill>
          <a:ln>
            <a:noFill/>
          </a:ln>
        </p:spPr>
        <p:txBody>
          <a:bodyPr wrap="square" lIns="0" tIns="0" rIns="0" bIns="0" anchor="t" rtlCol="0">
            <a:normAutofit/>
          </a:bodyPr>
          <a:lstStyle/>
          <a:p>
            <a:endParaRPr lang="en-US"/>
          </a:p>
        </p:txBody>
      </p:sp>
      <p:sp>
        <p:nvSpPr>
          <p:cNvPr id="14" name="Phase 1"/>
          <p:cNvSpPr txBox="1"/>
          <p:nvPr/>
        </p:nvSpPr>
        <p:spPr>
          <a:xfrm>
            <a:off x="548640"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01</a:t>
            </a:r>
          </a:p>
        </p:txBody>
      </p:sp>
      <p:sp>
        <p:nvSpPr>
          <p:cNvPr id="15" name="Date 1"/>
          <p:cNvSpPr txBox="1"/>
          <p:nvPr/>
        </p:nvSpPr>
        <p:spPr>
          <a:xfrm>
            <a:off x="548640"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November–December 2026</a:t>
            </a:r>
          </a:p>
        </p:txBody>
      </p:sp>
      <p:sp>
        <p:nvSpPr>
          <p:cNvPr id="16" name="Node 1"/>
          <p:cNvSpPr/>
          <p:nvPr/>
        </p:nvSpPr>
        <p:spPr>
          <a:xfrm>
            <a:off x="548640"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17" name="Phase card 1"/>
          <p:cNvSpPr/>
          <p:nvPr/>
        </p:nvSpPr>
        <p:spPr>
          <a:xfrm>
            <a:off x="548640"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18" name="Phase text 1"/>
          <p:cNvSpPr txBox="1"/>
          <p:nvPr/>
        </p:nvSpPr>
        <p:spPr>
          <a:xfrm>
            <a:off x="777240"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Editorial Board Formation &amp; Strategic Planning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Convene the inaugural Editorial Board meeting.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Finalize the journal’s vision, scope, editorial structure, and launch strategy.</a:t>
            </a:r>
          </a:p>
        </p:txBody>
      </p:sp>
      <p:sp>
        <p:nvSpPr>
          <p:cNvPr id="19" name="Phase 2"/>
          <p:cNvSpPr txBox="1"/>
          <p:nvPr/>
        </p:nvSpPr>
        <p:spPr>
          <a:xfrm>
            <a:off x="3379394"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02</a:t>
            </a:r>
          </a:p>
        </p:txBody>
      </p:sp>
      <p:sp>
        <p:nvSpPr>
          <p:cNvPr id="20" name="Date 2"/>
          <p:cNvSpPr txBox="1"/>
          <p:nvPr/>
        </p:nvSpPr>
        <p:spPr>
          <a:xfrm>
            <a:off x="3379394"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February 2027</a:t>
            </a:r>
          </a:p>
        </p:txBody>
      </p:sp>
      <p:sp>
        <p:nvSpPr>
          <p:cNvPr id="21" name="Node 2"/>
          <p:cNvSpPr/>
          <p:nvPr/>
        </p:nvSpPr>
        <p:spPr>
          <a:xfrm>
            <a:off x="3379394"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2" name="Phase card 2"/>
          <p:cNvSpPr/>
          <p:nvPr/>
        </p:nvSpPr>
        <p:spPr>
          <a:xfrm>
            <a:off x="3379394"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3" name="Phase text 2"/>
          <p:cNvSpPr txBox="1"/>
          <p:nvPr/>
        </p:nvSpPr>
        <p:spPr>
          <a:xfrm>
            <a:off x="3607994"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APNHR–AHRC Conference, Melbourne</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Introduce the journal to international research networks.</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Engage potential editors, contributors, and institutional partners.</a:t>
            </a:r>
          </a:p>
        </p:txBody>
      </p:sp>
      <p:sp>
        <p:nvSpPr>
          <p:cNvPr id="24" name="Phase 3"/>
          <p:cNvSpPr txBox="1"/>
          <p:nvPr/>
        </p:nvSpPr>
        <p:spPr>
          <a:xfrm>
            <a:off x="6210148"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03</a:t>
            </a:r>
          </a:p>
        </p:txBody>
      </p:sp>
      <p:sp>
        <p:nvSpPr>
          <p:cNvPr id="25" name="Date 3"/>
          <p:cNvSpPr txBox="1"/>
          <p:nvPr/>
        </p:nvSpPr>
        <p:spPr>
          <a:xfrm>
            <a:off x="6210148"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April 2027</a:t>
            </a:r>
          </a:p>
        </p:txBody>
      </p:sp>
      <p:sp>
        <p:nvSpPr>
          <p:cNvPr id="26" name="Node 3"/>
          <p:cNvSpPr/>
          <p:nvPr/>
        </p:nvSpPr>
        <p:spPr>
          <a:xfrm>
            <a:off x="6210148"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7" name="Phase card 3"/>
          <p:cNvSpPr/>
          <p:nvPr/>
        </p:nvSpPr>
        <p:spPr>
          <a:xfrm>
            <a:off x="6210148"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8" name="Phase text 3"/>
          <p:cNvSpPr txBox="1"/>
          <p:nvPr/>
        </p:nvSpPr>
        <p:spPr>
          <a:xfrm>
            <a:off x="6438748"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UAA Conference, New York</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Expand international networking and raise awareness of the journal.</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Invite prospective submissions and explore special issue opportunities.</a:t>
            </a:r>
          </a:p>
        </p:txBody>
      </p:sp>
      <p:sp>
        <p:nvSpPr>
          <p:cNvPr id="29" name="Phase 4"/>
          <p:cNvSpPr txBox="1"/>
          <p:nvPr/>
        </p:nvSpPr>
        <p:spPr>
          <a:xfrm>
            <a:off x="9040901"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04</a:t>
            </a:r>
          </a:p>
        </p:txBody>
      </p:sp>
      <p:sp>
        <p:nvSpPr>
          <p:cNvPr id="30" name="Date 4"/>
          <p:cNvSpPr txBox="1"/>
          <p:nvPr/>
        </p:nvSpPr>
        <p:spPr>
          <a:xfrm>
            <a:off x="9040901"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C8C2B"/>
                </a:solidFill>
                <a:latin typeface="Arial"/>
                <a:ea typeface="Microsoft YaHei"/>
                <a:cs typeface="Arial"/>
              </a:rPr>
              <a:t>August 2027</a:t>
            </a:r>
          </a:p>
        </p:txBody>
      </p:sp>
      <p:sp>
        <p:nvSpPr>
          <p:cNvPr id="31" name="Node 4"/>
          <p:cNvSpPr/>
          <p:nvPr/>
        </p:nvSpPr>
        <p:spPr>
          <a:xfrm>
            <a:off x="9040901" y="2761488"/>
            <a:ext cx="237744" cy="237744"/>
          </a:xfrm>
          <a:prstGeom prst="ellipse">
            <a:avLst/>
          </a:prstGeom>
          <a:solidFill>
            <a:srgbClr val="4C8C2B"/>
          </a:solidFill>
          <a:ln w="25400">
            <a:solidFill>
              <a:srgbClr val="FFFFFF"/>
            </a:solidFill>
          </a:ln>
        </p:spPr>
        <p:txBody>
          <a:bodyPr wrap="square" lIns="0" tIns="0" rIns="0" bIns="0" anchor="t" rtlCol="0">
            <a:normAutofit/>
          </a:bodyPr>
          <a:lstStyle/>
          <a:p>
            <a:endParaRPr lang="en-US"/>
          </a:p>
        </p:txBody>
      </p:sp>
      <p:sp>
        <p:nvSpPr>
          <p:cNvPr id="32" name="Phase card 4"/>
          <p:cNvSpPr/>
          <p:nvPr/>
        </p:nvSpPr>
        <p:spPr>
          <a:xfrm>
            <a:off x="9040901" y="3227832"/>
            <a:ext cx="2602154" cy="2834640"/>
          </a:xfrm>
          <a:prstGeom prst="roundRect">
            <a:avLst>
              <a:gd name="adj" fmla="val 5000"/>
            </a:avLst>
          </a:prstGeom>
          <a:solidFill>
            <a:srgbClr val="4245AF"/>
          </a:solidFill>
          <a:ln>
            <a:noFill/>
          </a:ln>
        </p:spPr>
        <p:txBody>
          <a:bodyPr wrap="square" lIns="0" tIns="0" rIns="0" bIns="0" anchor="t" rtlCol="0">
            <a:normAutofit/>
          </a:bodyPr>
          <a:lstStyle/>
          <a:p>
            <a:endParaRPr lang="en-US"/>
          </a:p>
        </p:txBody>
      </p:sp>
      <p:sp>
        <p:nvSpPr>
          <p:cNvPr id="33" name="Phase text 4"/>
          <p:cNvSpPr txBox="1"/>
          <p:nvPr/>
        </p:nvSpPr>
        <p:spPr>
          <a:xfrm>
            <a:off x="9269501"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FFFFFF"/>
                </a:solidFill>
                <a:latin typeface="Arial"/>
                <a:ea typeface="Microsoft YaHei"/>
                <a:cs typeface="Arial"/>
              </a:rPr>
              <a:t>IGU Urban Commission Meeting</a:t>
            </a:r>
          </a:p>
          <a:p>
            <a:pPr marL="155448" indent="-155448">
              <a:lnSpc>
                <a:spcPct val="128000"/>
              </a:lnSpc>
              <a:spcAft>
                <a:spcPts val="800"/>
              </a:spcAft>
              <a:buClr>
                <a:srgbClr val="F6B26B"/>
              </a:buClr>
              <a:buSzPct val="100000"/>
              <a:buFont typeface="Arial"/>
              <a:buChar char="•"/>
            </a:pPr>
            <a:r>
              <a:rPr lang="en-US" altLang="zh-CN" sz="1250" b="1" i="0" dirty="0">
                <a:solidFill>
                  <a:srgbClr val="F6B26B"/>
                </a:solidFill>
                <a:latin typeface="Arial"/>
                <a:ea typeface="Microsoft YaHei"/>
                <a:cs typeface="Arial"/>
              </a:rPr>
              <a:t>Official Launch of The Innovation Urban.</a:t>
            </a:r>
          </a:p>
          <a:p>
            <a:pPr marL="155448" indent="-155448">
              <a:lnSpc>
                <a:spcPct val="128000"/>
              </a:lnSpc>
              <a:spcAft>
                <a:spcPts val="800"/>
              </a:spcAft>
              <a:buClr>
                <a:srgbClr val="F6B26B"/>
              </a:buClr>
              <a:buSzPct val="100000"/>
              <a:buFont typeface="Arial"/>
              <a:buChar char="•"/>
            </a:pPr>
            <a:r>
              <a:rPr lang="en-US" altLang="zh-CN" sz="1250" b="0" i="0" dirty="0">
                <a:solidFill>
                  <a:srgbClr val="D9DAF5"/>
                </a:solidFill>
                <a:latin typeface="Arial"/>
                <a:ea typeface="Microsoft YaHei"/>
                <a:cs typeface="Arial"/>
              </a:rPr>
              <a:t>Announce the editorial team, journal scope, and call for papers.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09</a:t>
            </a:r>
          </a:p>
        </p:txBody>
      </p:sp>
    </p:spTree>
    <p:extLst>
      <p:ext uri="{BB962C8B-B14F-4D97-AF65-F5344CB8AC3E}">
        <p14:creationId xmlns:p14="http://schemas.microsoft.com/office/powerpoint/2010/main" val="31106215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